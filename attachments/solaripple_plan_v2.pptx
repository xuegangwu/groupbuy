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10.fntdata" ContentType="application/x-fontdata"/>
  <Override PartName="/ppt/fonts/font11.fntdata" ContentType="application/x-fontdata"/>
  <Override PartName="/ppt/fonts/font12.fntdata" ContentType="application/x-fontdata"/>
  <Override PartName="/ppt/fonts/font13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12192000" cy="6858000"/>
  <p:notesSz cx="6858000" cy="12192000"/>
  <p:embeddedFontLst>
    <p:embeddedFont>
      <p:font typeface="Liter" panose="02000503030000020004" pitchFamily="34" charset="0"/>
      <p:regular r:id="rId19"/>
    </p:embeddedFont>
    <p:embeddedFont>
      <p:font typeface="Liter" panose="02000503030000020004" pitchFamily="34" charset="-122"/>
      <p:regular r:id="rId20"/>
    </p:embeddedFont>
    <p:embeddedFont>
      <p:font typeface="Liter" panose="02000503030000020004" pitchFamily="34" charset="-120"/>
      <p:regular r:id="rId21"/>
    </p:embeddedFont>
    <p:embeddedFont>
      <p:font typeface="Alimama ShuHeiTi" pitchFamily="34" charset="-122"/>
      <p:bold r:id="rId22"/>
    </p:embeddedFont>
    <p:embeddedFont>
      <p:font typeface="Alimama ShuHeiTi" pitchFamily="34" charset="-120"/>
      <p:bold r:id="rId23"/>
    </p:embeddedFont>
    <p:embeddedFont>
      <p:font typeface="MiSans" pitchFamily="34" charset="-122"/>
      <p:regular r:id="rId24"/>
    </p:embeddedFont>
    <p:embeddedFont>
      <p:font typeface="MiSans" pitchFamily="34" charset="-120"/>
      <p:regular r:id="rId25"/>
    </p:embeddedFont>
    <p:embeddedFont>
      <p:font typeface="微软雅黑" panose="020B0503020204020204" pitchFamily="34" charset="-122"/>
      <p:regular r:id="rId26"/>
    </p:embeddedFont>
    <p:embeddedFont>
      <p:font typeface="微软雅黑" panose="020B0503020204020204" pitchFamily="34" charset="-120"/>
      <p:regular r:id="rId27"/>
    </p:embeddedFont>
    <p:embeddedFont>
      <p:font typeface="Calibri" panose="020F0502020204030204" charset="0"/>
      <p:regular r:id="rId28"/>
      <p:bold r:id="rId29"/>
      <p:italic r:id="rId30"/>
      <p:boldItalic r:id="rId31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1" Type="http://schemas.openxmlformats.org/officeDocument/2006/relationships/font" Target="fonts/font13.fntdata"/><Relationship Id="rId30" Type="http://schemas.openxmlformats.org/officeDocument/2006/relationships/font" Target="fonts/font12.fntdata"/><Relationship Id="rId3" Type="http://schemas.openxmlformats.org/officeDocument/2006/relationships/slide" Target="slides/slide1.xml"/><Relationship Id="rId29" Type="http://schemas.openxmlformats.org/officeDocument/2006/relationships/font" Target="fonts/font11.fntdata"/><Relationship Id="rId28" Type="http://schemas.openxmlformats.org/officeDocument/2006/relationships/font" Target="fonts/font10.fntdata"/><Relationship Id="rId27" Type="http://schemas.openxmlformats.org/officeDocument/2006/relationships/font" Target="fonts/font9.fntdata"/><Relationship Id="rId26" Type="http://schemas.openxmlformats.org/officeDocument/2006/relationships/font" Target="fonts/font8.fntdata"/><Relationship Id="rId25" Type="http://schemas.openxmlformats.org/officeDocument/2006/relationships/font" Target="fonts/font7.fntdata"/><Relationship Id="rId24" Type="http://schemas.openxmlformats.org/officeDocument/2006/relationships/font" Target="fonts/font6.fntdata"/><Relationship Id="rId23" Type="http://schemas.openxmlformats.org/officeDocument/2006/relationships/font" Target="fonts/font5.fntdata"/><Relationship Id="rId22" Type="http://schemas.openxmlformats.org/officeDocument/2006/relationships/font" Target="fonts/font4.fntdata"/><Relationship Id="rId21" Type="http://schemas.openxmlformats.org/officeDocument/2006/relationships/font" Target="fonts/font3.fntdata"/><Relationship Id="rId20" Type="http://schemas.openxmlformats.org/officeDocument/2006/relationships/font" Target="fonts/font2.fntdata"/><Relationship Id="rId2" Type="http://schemas.openxmlformats.org/officeDocument/2006/relationships/theme" Target="theme/theme1.xml"/><Relationship Id="rId19" Type="http://schemas.openxmlformats.org/officeDocument/2006/relationships/font" Target="fonts/font1.fntdata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cdn.prod.website-files.com/40f56edf72717b30fb11979e7c934c569280ab5d.jpg"/>
          <p:cNvPicPr>
            <a:picLocks noChangeAspect="1"/>
          </p:cNvPicPr>
          <p:nvPr/>
        </p:nvPicPr>
        <p:blipFill>
          <a:blip r:embed="rId1">
            <a:alphaModFix amt="30000"/>
          </a:blip>
          <a:srcRect t="7813" b="7813"/>
          <a:stretch>
            <a:fillRect/>
          </a:stretch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A1D21">
                  <a:alpha val="95000"/>
                </a:srgbClr>
              </a:gs>
              <a:gs pos="50000">
                <a:srgbClr val="1A1D21">
                  <a:alpha val="85000"/>
                </a:srgbClr>
              </a:gs>
              <a:gs pos="100000">
                <a:srgbClr val="4A6C8C">
                  <a:alpha val="40000"/>
                </a:srgbClr>
              </a:gs>
            </a:gsLst>
            <a:lin ang="2700000" scaled="1"/>
          </a:gradFill>
        </p:spPr>
      </p:sp>
      <p:sp>
        <p:nvSpPr>
          <p:cNvPr id="4" name="Shape 1"/>
          <p:cNvSpPr/>
          <p:nvPr/>
        </p:nvSpPr>
        <p:spPr>
          <a:xfrm>
            <a:off x="385763" y="385763"/>
            <a:ext cx="2667000" cy="400050"/>
          </a:xfrm>
          <a:custGeom>
            <a:avLst/>
            <a:gdLst/>
            <a:ahLst/>
            <a:cxnLst/>
            <a:rect l="l" t="t" r="r" b="b"/>
            <a:pathLst>
              <a:path w="2667000" h="400050">
                <a:moveTo>
                  <a:pt x="38101" y="0"/>
                </a:moveTo>
                <a:lnTo>
                  <a:pt x="2628899" y="0"/>
                </a:lnTo>
                <a:cubicBezTo>
                  <a:pt x="2649942" y="0"/>
                  <a:pt x="2667000" y="17058"/>
                  <a:pt x="2667000" y="38101"/>
                </a:cubicBezTo>
                <a:lnTo>
                  <a:pt x="2667000" y="361949"/>
                </a:lnTo>
                <a:cubicBezTo>
                  <a:pt x="2667000" y="382992"/>
                  <a:pt x="2649942" y="400050"/>
                  <a:pt x="2628899" y="400050"/>
                </a:cubicBezTo>
                <a:lnTo>
                  <a:pt x="38101" y="400050"/>
                </a:lnTo>
                <a:cubicBezTo>
                  <a:pt x="17058" y="400050"/>
                  <a:pt x="0" y="382992"/>
                  <a:pt x="0" y="36194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4A6C8C">
              <a:alpha val="20000"/>
            </a:srgbClr>
          </a:solidFill>
          <a:ln w="12700">
            <a:solidFill>
              <a:srgbClr val="4A6C8C">
                <a:alpha val="4000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42925" y="485775"/>
            <a:ext cx="2425601" cy="2095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60" dirty="0">
                <a:solidFill>
                  <a:srgbClr val="D4A373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INVESTMENT PROPOSAL 2026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9965085" y="471488"/>
            <a:ext cx="11525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CONFIDENTIAL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1273433" y="471488"/>
            <a:ext cx="609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VER 2.0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381000" y="1729085"/>
            <a:ext cx="7772400" cy="20097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7200" b="1" dirty="0">
                <a:solidFill>
                  <a:srgbClr val="F0F0F0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工商业光储一体化</a:t>
            </a:r>
            <a:endParaRPr lang="en-US" sz="1600" dirty="0"/>
          </a:p>
          <a:p>
            <a:pPr>
              <a:lnSpc>
                <a:spcPct val="90000"/>
              </a:lnSpc>
            </a:pPr>
            <a:r>
              <a:rPr lang="en-US" sz="7200" b="1" dirty="0">
                <a:solidFill>
                  <a:srgbClr val="D4A373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投资开发方案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381000" y="4045446"/>
            <a:ext cx="1524000" cy="38100"/>
          </a:xfrm>
          <a:custGeom>
            <a:avLst/>
            <a:gdLst/>
            <a:ahLst/>
            <a:cxnLst/>
            <a:rect l="l" t="t" r="r" b="b"/>
            <a:pathLst>
              <a:path w="1524000" h="38100">
                <a:moveTo>
                  <a:pt x="0" y="0"/>
                </a:moveTo>
                <a:lnTo>
                  <a:pt x="1524000" y="0"/>
                </a:lnTo>
                <a:lnTo>
                  <a:pt x="15240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D4A373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</p:spPr>
      </p:sp>
      <p:sp>
        <p:nvSpPr>
          <p:cNvPr id="10" name="Text 7"/>
          <p:cNvSpPr/>
          <p:nvPr/>
        </p:nvSpPr>
        <p:spPr>
          <a:xfrm>
            <a:off x="381000" y="4388346"/>
            <a:ext cx="7458075" cy="4667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25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136号文后市场：运营变现时代的差异化策略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381000" y="5005090"/>
            <a:ext cx="74295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dirty="0">
                <a:solidFill>
                  <a:srgbClr val="4A6C8C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中国双轮驱动 + 海外第二步（日本·马来西亚）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381000" y="6248400"/>
            <a:ext cx="90487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March 2026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8448675" y="628650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00846" y="-2947"/>
                </a:moveTo>
                <a:cubicBezTo>
                  <a:pt x="104388" y="-387"/>
                  <a:pt x="105698" y="4256"/>
                  <a:pt x="104090" y="8305"/>
                </a:cubicBezTo>
                <a:lnTo>
                  <a:pt x="80754" y="66675"/>
                </a:lnTo>
                <a:lnTo>
                  <a:pt x="123825" y="66675"/>
                </a:lnTo>
                <a:cubicBezTo>
                  <a:pt x="127843" y="66675"/>
                  <a:pt x="131415" y="69175"/>
                  <a:pt x="132784" y="72956"/>
                </a:cubicBezTo>
                <a:cubicBezTo>
                  <a:pt x="134154" y="76736"/>
                  <a:pt x="132993" y="80962"/>
                  <a:pt x="129927" y="83522"/>
                </a:cubicBezTo>
                <a:lnTo>
                  <a:pt x="44202" y="154960"/>
                </a:lnTo>
                <a:cubicBezTo>
                  <a:pt x="40838" y="157758"/>
                  <a:pt x="36046" y="157907"/>
                  <a:pt x="32504" y="155347"/>
                </a:cubicBezTo>
                <a:cubicBezTo>
                  <a:pt x="28962" y="152787"/>
                  <a:pt x="27652" y="148144"/>
                  <a:pt x="29260" y="144095"/>
                </a:cubicBezTo>
                <a:lnTo>
                  <a:pt x="52596" y="85725"/>
                </a:lnTo>
                <a:lnTo>
                  <a:pt x="9525" y="85725"/>
                </a:lnTo>
                <a:cubicBezTo>
                  <a:pt x="5507" y="85725"/>
                  <a:pt x="1935" y="83225"/>
                  <a:pt x="566" y="79444"/>
                </a:cubicBezTo>
                <a:cubicBezTo>
                  <a:pt x="-804" y="75664"/>
                  <a:pt x="357" y="71438"/>
                  <a:pt x="3423" y="68878"/>
                </a:cubicBezTo>
                <a:lnTo>
                  <a:pt x="89148" y="-2560"/>
                </a:lnTo>
                <a:cubicBezTo>
                  <a:pt x="92512" y="-5358"/>
                  <a:pt x="97304" y="-5507"/>
                  <a:pt x="100846" y="-2947"/>
                </a:cubicBezTo>
                <a:close/>
              </a:path>
            </a:pathLst>
          </a:custGeom>
          <a:solidFill>
            <a:srgbClr val="D4A373"/>
          </a:solidFill>
        </p:spPr>
      </p:sp>
      <p:sp>
        <p:nvSpPr>
          <p:cNvPr id="14" name="Text 11"/>
          <p:cNvSpPr/>
          <p:nvPr/>
        </p:nvSpPr>
        <p:spPr>
          <a:xfrm>
            <a:off x="8686800" y="6248400"/>
            <a:ext cx="838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光储一体化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9772650" y="62865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4883" y="84773"/>
                </a:moveTo>
                <a:cubicBezTo>
                  <a:pt x="16133" y="85398"/>
                  <a:pt x="17562" y="85725"/>
                  <a:pt x="19050" y="85725"/>
                </a:cubicBezTo>
                <a:lnTo>
                  <a:pt x="34141" y="85725"/>
                </a:lnTo>
                <a:cubicBezTo>
                  <a:pt x="36671" y="85725"/>
                  <a:pt x="39082" y="86737"/>
                  <a:pt x="40868" y="88523"/>
                </a:cubicBezTo>
                <a:lnTo>
                  <a:pt x="44827" y="92482"/>
                </a:lnTo>
                <a:cubicBezTo>
                  <a:pt x="46613" y="94268"/>
                  <a:pt x="49024" y="95280"/>
                  <a:pt x="51554" y="95280"/>
                </a:cubicBezTo>
                <a:lnTo>
                  <a:pt x="57120" y="95280"/>
                </a:lnTo>
                <a:cubicBezTo>
                  <a:pt x="62389" y="95280"/>
                  <a:pt x="66645" y="91023"/>
                  <a:pt x="66645" y="85755"/>
                </a:cubicBezTo>
                <a:lnTo>
                  <a:pt x="66645" y="73849"/>
                </a:lnTo>
                <a:cubicBezTo>
                  <a:pt x="66645" y="69890"/>
                  <a:pt x="69830" y="66705"/>
                  <a:pt x="73789" y="66705"/>
                </a:cubicBezTo>
                <a:cubicBezTo>
                  <a:pt x="77748" y="66705"/>
                  <a:pt x="80933" y="63520"/>
                  <a:pt x="80933" y="59561"/>
                </a:cubicBezTo>
                <a:lnTo>
                  <a:pt x="80933" y="46851"/>
                </a:lnTo>
                <a:cubicBezTo>
                  <a:pt x="80933" y="44321"/>
                  <a:pt x="81945" y="41910"/>
                  <a:pt x="83731" y="40124"/>
                </a:cubicBezTo>
                <a:lnTo>
                  <a:pt x="87690" y="36165"/>
                </a:lnTo>
                <a:cubicBezTo>
                  <a:pt x="89475" y="34379"/>
                  <a:pt x="90487" y="31968"/>
                  <a:pt x="90487" y="29438"/>
                </a:cubicBezTo>
                <a:lnTo>
                  <a:pt x="90488" y="16966"/>
                </a:lnTo>
                <a:cubicBezTo>
                  <a:pt x="90488" y="16609"/>
                  <a:pt x="90458" y="16282"/>
                  <a:pt x="90428" y="15925"/>
                </a:cubicBezTo>
                <a:cubicBezTo>
                  <a:pt x="85844" y="14853"/>
                  <a:pt x="81082" y="14288"/>
                  <a:pt x="76200" y="14288"/>
                </a:cubicBezTo>
                <a:cubicBezTo>
                  <a:pt x="41999" y="14288"/>
                  <a:pt x="14288" y="41999"/>
                  <a:pt x="14288" y="76200"/>
                </a:cubicBezTo>
                <a:cubicBezTo>
                  <a:pt x="14288" y="79117"/>
                  <a:pt x="14496" y="81975"/>
                  <a:pt x="14883" y="84773"/>
                </a:cubicBezTo>
                <a:close/>
                <a:moveTo>
                  <a:pt x="134928" y="95875"/>
                </a:moveTo>
                <a:cubicBezTo>
                  <a:pt x="133975" y="95458"/>
                  <a:pt x="132933" y="95250"/>
                  <a:pt x="131802" y="95250"/>
                </a:cubicBezTo>
                <a:lnTo>
                  <a:pt x="128588" y="95250"/>
                </a:lnTo>
                <a:cubicBezTo>
                  <a:pt x="125968" y="95250"/>
                  <a:pt x="123825" y="93107"/>
                  <a:pt x="123825" y="90488"/>
                </a:cubicBezTo>
                <a:cubicBezTo>
                  <a:pt x="123825" y="87868"/>
                  <a:pt x="121682" y="85725"/>
                  <a:pt x="119062" y="85725"/>
                </a:cubicBezTo>
                <a:lnTo>
                  <a:pt x="108734" y="85725"/>
                </a:lnTo>
                <a:cubicBezTo>
                  <a:pt x="106204" y="85725"/>
                  <a:pt x="103793" y="86737"/>
                  <a:pt x="102007" y="88523"/>
                </a:cubicBezTo>
                <a:lnTo>
                  <a:pt x="88523" y="102007"/>
                </a:lnTo>
                <a:cubicBezTo>
                  <a:pt x="86737" y="103793"/>
                  <a:pt x="85725" y="106204"/>
                  <a:pt x="85725" y="108734"/>
                </a:cubicBezTo>
                <a:lnTo>
                  <a:pt x="85725" y="114300"/>
                </a:lnTo>
                <a:cubicBezTo>
                  <a:pt x="85725" y="119569"/>
                  <a:pt x="89981" y="123825"/>
                  <a:pt x="95250" y="123825"/>
                </a:cubicBezTo>
                <a:lnTo>
                  <a:pt x="100816" y="123825"/>
                </a:lnTo>
                <a:cubicBezTo>
                  <a:pt x="103346" y="123825"/>
                  <a:pt x="105757" y="124837"/>
                  <a:pt x="107543" y="126623"/>
                </a:cubicBezTo>
                <a:cubicBezTo>
                  <a:pt x="108198" y="127278"/>
                  <a:pt x="108942" y="127843"/>
                  <a:pt x="109716" y="128260"/>
                </a:cubicBezTo>
                <a:cubicBezTo>
                  <a:pt x="121414" y="120700"/>
                  <a:pt x="130403" y="109329"/>
                  <a:pt x="134898" y="95875"/>
                </a:cubicBezTo>
                <a:close/>
                <a:moveTo>
                  <a:pt x="0" y="76200"/>
                </a:moveTo>
                <a:cubicBezTo>
                  <a:pt x="0" y="34144"/>
                  <a:pt x="34144" y="0"/>
                  <a:pt x="76200" y="0"/>
                </a:cubicBezTo>
                <a:cubicBezTo>
                  <a:pt x="118256" y="0"/>
                  <a:pt x="152400" y="34144"/>
                  <a:pt x="152400" y="76200"/>
                </a:cubicBezTo>
                <a:cubicBezTo>
                  <a:pt x="152400" y="118256"/>
                  <a:pt x="118256" y="152400"/>
                  <a:pt x="76200" y="152400"/>
                </a:cubicBezTo>
                <a:cubicBezTo>
                  <a:pt x="34144" y="152400"/>
                  <a:pt x="0" y="118256"/>
                  <a:pt x="0" y="76200"/>
                </a:cubicBezTo>
                <a:close/>
                <a:moveTo>
                  <a:pt x="38100" y="109537"/>
                </a:moveTo>
                <a:cubicBezTo>
                  <a:pt x="38100" y="112157"/>
                  <a:pt x="40243" y="114300"/>
                  <a:pt x="42863" y="114300"/>
                </a:cubicBezTo>
                <a:lnTo>
                  <a:pt x="52388" y="114300"/>
                </a:lnTo>
                <a:cubicBezTo>
                  <a:pt x="55007" y="114300"/>
                  <a:pt x="57150" y="112157"/>
                  <a:pt x="57150" y="109537"/>
                </a:cubicBezTo>
                <a:cubicBezTo>
                  <a:pt x="57150" y="106918"/>
                  <a:pt x="55007" y="104775"/>
                  <a:pt x="52388" y="104775"/>
                </a:cubicBezTo>
                <a:lnTo>
                  <a:pt x="42863" y="104775"/>
                </a:lnTo>
                <a:cubicBezTo>
                  <a:pt x="40243" y="104775"/>
                  <a:pt x="38100" y="106918"/>
                  <a:pt x="38100" y="109537"/>
                </a:cubicBezTo>
                <a:close/>
                <a:moveTo>
                  <a:pt x="80962" y="76200"/>
                </a:moveTo>
                <a:cubicBezTo>
                  <a:pt x="78343" y="76200"/>
                  <a:pt x="76200" y="78343"/>
                  <a:pt x="76200" y="80962"/>
                </a:cubicBezTo>
                <a:lnTo>
                  <a:pt x="76200" y="90488"/>
                </a:lnTo>
                <a:cubicBezTo>
                  <a:pt x="76200" y="93107"/>
                  <a:pt x="78343" y="95250"/>
                  <a:pt x="80962" y="95250"/>
                </a:cubicBezTo>
                <a:cubicBezTo>
                  <a:pt x="83582" y="95250"/>
                  <a:pt x="85725" y="93107"/>
                  <a:pt x="85725" y="90488"/>
                </a:cubicBezTo>
                <a:lnTo>
                  <a:pt x="85725" y="80962"/>
                </a:lnTo>
                <a:cubicBezTo>
                  <a:pt x="85725" y="78343"/>
                  <a:pt x="83582" y="76200"/>
                  <a:pt x="80962" y="76200"/>
                </a:cubicBezTo>
                <a:close/>
                <a:moveTo>
                  <a:pt x="95250" y="42863"/>
                </a:moveTo>
                <a:lnTo>
                  <a:pt x="95250" y="52388"/>
                </a:lnTo>
                <a:cubicBezTo>
                  <a:pt x="95250" y="55007"/>
                  <a:pt x="97393" y="57150"/>
                  <a:pt x="100013" y="57150"/>
                </a:cubicBezTo>
                <a:cubicBezTo>
                  <a:pt x="102632" y="57150"/>
                  <a:pt x="104775" y="55007"/>
                  <a:pt x="104775" y="52388"/>
                </a:cubicBezTo>
                <a:lnTo>
                  <a:pt x="104775" y="42863"/>
                </a:lnTo>
                <a:cubicBezTo>
                  <a:pt x="104775" y="40243"/>
                  <a:pt x="102632" y="38100"/>
                  <a:pt x="100013" y="38100"/>
                </a:cubicBezTo>
                <a:cubicBezTo>
                  <a:pt x="97393" y="38100"/>
                  <a:pt x="95250" y="40243"/>
                  <a:pt x="95250" y="42863"/>
                </a:cubicBezTo>
                <a:close/>
              </a:path>
            </a:pathLst>
          </a:custGeom>
          <a:solidFill>
            <a:srgbClr val="D4A373"/>
          </a:solidFill>
        </p:spPr>
      </p:sp>
      <p:sp>
        <p:nvSpPr>
          <p:cNvPr id="16" name="Text 13"/>
          <p:cNvSpPr/>
          <p:nvPr/>
        </p:nvSpPr>
        <p:spPr>
          <a:xfrm>
            <a:off x="10020300" y="6248400"/>
            <a:ext cx="685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跨境布局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10953750" y="62865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9050" y="19050"/>
                </a:moveTo>
                <a:cubicBezTo>
                  <a:pt x="19050" y="13781"/>
                  <a:pt x="14794" y="9525"/>
                  <a:pt x="9525" y="9525"/>
                </a:cubicBezTo>
                <a:cubicBezTo>
                  <a:pt x="4256" y="9525"/>
                  <a:pt x="0" y="13781"/>
                  <a:pt x="0" y="19050"/>
                </a:cubicBezTo>
                <a:lnTo>
                  <a:pt x="0" y="119062"/>
                </a:lnTo>
                <a:cubicBezTo>
                  <a:pt x="0" y="132219"/>
                  <a:pt x="10656" y="142875"/>
                  <a:pt x="23813" y="142875"/>
                </a:cubicBezTo>
                <a:lnTo>
                  <a:pt x="142875" y="142875"/>
                </a:lnTo>
                <a:cubicBezTo>
                  <a:pt x="148144" y="142875"/>
                  <a:pt x="152400" y="138619"/>
                  <a:pt x="152400" y="133350"/>
                </a:cubicBezTo>
                <a:cubicBezTo>
                  <a:pt x="152400" y="128081"/>
                  <a:pt x="148144" y="123825"/>
                  <a:pt x="142875" y="123825"/>
                </a:cubicBezTo>
                <a:lnTo>
                  <a:pt x="23813" y="123825"/>
                </a:lnTo>
                <a:cubicBezTo>
                  <a:pt x="21193" y="123825"/>
                  <a:pt x="19050" y="121682"/>
                  <a:pt x="19050" y="119062"/>
                </a:cubicBezTo>
                <a:lnTo>
                  <a:pt x="19050" y="19050"/>
                </a:lnTo>
                <a:close/>
                <a:moveTo>
                  <a:pt x="140077" y="44827"/>
                </a:moveTo>
                <a:cubicBezTo>
                  <a:pt x="143798" y="41106"/>
                  <a:pt x="143798" y="35064"/>
                  <a:pt x="140077" y="31343"/>
                </a:cubicBezTo>
                <a:cubicBezTo>
                  <a:pt x="136356" y="27622"/>
                  <a:pt x="130314" y="27622"/>
                  <a:pt x="126593" y="31343"/>
                </a:cubicBezTo>
                <a:lnTo>
                  <a:pt x="95250" y="62716"/>
                </a:lnTo>
                <a:lnTo>
                  <a:pt x="78165" y="45660"/>
                </a:lnTo>
                <a:cubicBezTo>
                  <a:pt x="74444" y="41940"/>
                  <a:pt x="68401" y="41940"/>
                  <a:pt x="64681" y="45660"/>
                </a:cubicBezTo>
                <a:lnTo>
                  <a:pt x="36106" y="74235"/>
                </a:lnTo>
                <a:cubicBezTo>
                  <a:pt x="32385" y="77956"/>
                  <a:pt x="32385" y="83999"/>
                  <a:pt x="36106" y="87719"/>
                </a:cubicBezTo>
                <a:cubicBezTo>
                  <a:pt x="39826" y="91440"/>
                  <a:pt x="45869" y="91440"/>
                  <a:pt x="49590" y="87719"/>
                </a:cubicBezTo>
                <a:lnTo>
                  <a:pt x="71438" y="65871"/>
                </a:lnTo>
                <a:lnTo>
                  <a:pt x="88523" y="82957"/>
                </a:lnTo>
                <a:cubicBezTo>
                  <a:pt x="92244" y="86678"/>
                  <a:pt x="98286" y="86678"/>
                  <a:pt x="102007" y="82957"/>
                </a:cubicBezTo>
                <a:lnTo>
                  <a:pt x="140107" y="44857"/>
                </a:lnTo>
                <a:close/>
              </a:path>
            </a:pathLst>
          </a:custGeom>
          <a:solidFill>
            <a:srgbClr val="D4A373"/>
          </a:solidFill>
        </p:spPr>
      </p:sp>
      <p:sp>
        <p:nvSpPr>
          <p:cNvPr id="18" name="Text 15"/>
          <p:cNvSpPr/>
          <p:nvPr/>
        </p:nvSpPr>
        <p:spPr>
          <a:xfrm>
            <a:off x="11201400" y="6248400"/>
            <a:ext cx="685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运营变现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419100"/>
            <a:ext cx="38100" cy="381000"/>
          </a:xfrm>
          <a:custGeom>
            <a:avLst/>
            <a:gdLst/>
            <a:ahLst/>
            <a:cxnLst/>
            <a:rect l="l" t="t" r="r" b="b"/>
            <a:pathLst>
              <a:path w="38100" h="381000">
                <a:moveTo>
                  <a:pt x="0" y="0"/>
                </a:moveTo>
                <a:lnTo>
                  <a:pt x="38100" y="0"/>
                </a:lnTo>
                <a:lnTo>
                  <a:pt x="38100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D4A373"/>
          </a:solidFill>
        </p:spPr>
      </p:sp>
      <p:sp>
        <p:nvSpPr>
          <p:cNvPr id="3" name="Text 1"/>
          <p:cNvSpPr/>
          <p:nvPr/>
        </p:nvSpPr>
        <p:spPr>
          <a:xfrm>
            <a:off x="533400" y="381000"/>
            <a:ext cx="1143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F0F0F0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目录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33400" y="952500"/>
            <a:ext cx="113728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8D99AE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CONTENTS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00050" y="1447800"/>
            <a:ext cx="5619750" cy="1143000"/>
          </a:xfrm>
          <a:custGeom>
            <a:avLst/>
            <a:gdLst/>
            <a:ahLst/>
            <a:cxnLst/>
            <a:rect l="l" t="t" r="r" b="b"/>
            <a:pathLst>
              <a:path w="5619750" h="1143000">
                <a:moveTo>
                  <a:pt x="0" y="0"/>
                </a:moveTo>
                <a:lnTo>
                  <a:pt x="5543546" y="0"/>
                </a:lnTo>
                <a:cubicBezTo>
                  <a:pt x="5585632" y="0"/>
                  <a:pt x="5619750" y="34118"/>
                  <a:pt x="5619750" y="76204"/>
                </a:cubicBezTo>
                <a:lnTo>
                  <a:pt x="5619750" y="1066796"/>
                </a:lnTo>
                <a:cubicBezTo>
                  <a:pt x="5619750" y="1108882"/>
                  <a:pt x="5585632" y="1143000"/>
                  <a:pt x="5543546" y="1143000"/>
                </a:cubicBezTo>
                <a:lnTo>
                  <a:pt x="0" y="1143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4A6C8C">
                  <a:alpha val="15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</p:spPr>
      </p:sp>
      <p:sp>
        <p:nvSpPr>
          <p:cNvPr id="6" name="Shape 4"/>
          <p:cNvSpPr/>
          <p:nvPr/>
        </p:nvSpPr>
        <p:spPr>
          <a:xfrm>
            <a:off x="400050" y="1447800"/>
            <a:ext cx="38100" cy="1143000"/>
          </a:xfrm>
          <a:custGeom>
            <a:avLst/>
            <a:gdLst/>
            <a:ahLst/>
            <a:cxnLst/>
            <a:rect l="l" t="t" r="r" b="b"/>
            <a:pathLst>
              <a:path w="38100" h="1143000">
                <a:moveTo>
                  <a:pt x="0" y="0"/>
                </a:moveTo>
                <a:lnTo>
                  <a:pt x="38100" y="0"/>
                </a:lnTo>
                <a:lnTo>
                  <a:pt x="38100" y="1143000"/>
                </a:lnTo>
                <a:lnTo>
                  <a:pt x="0" y="1143000"/>
                </a:lnTo>
                <a:lnTo>
                  <a:pt x="0" y="0"/>
                </a:lnTo>
                <a:close/>
              </a:path>
            </a:pathLst>
          </a:custGeom>
          <a:solidFill>
            <a:srgbClr val="4A6C8C"/>
          </a:solidFill>
        </p:spPr>
      </p:sp>
      <p:sp>
        <p:nvSpPr>
          <p:cNvPr id="7" name="Shape 5"/>
          <p:cNvSpPr/>
          <p:nvPr/>
        </p:nvSpPr>
        <p:spPr>
          <a:xfrm>
            <a:off x="609600" y="1724025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76202" y="0"/>
                </a:moveTo>
                <a:lnTo>
                  <a:pt x="457198" y="0"/>
                </a:lnTo>
                <a:cubicBezTo>
                  <a:pt x="499283" y="0"/>
                  <a:pt x="533400" y="34117"/>
                  <a:pt x="533400" y="76202"/>
                </a:cubicBezTo>
                <a:lnTo>
                  <a:pt x="533400" y="457198"/>
                </a:lnTo>
                <a:cubicBezTo>
                  <a:pt x="533400" y="499283"/>
                  <a:pt x="499283" y="533400"/>
                  <a:pt x="457198" y="533400"/>
                </a:cubicBezTo>
                <a:lnTo>
                  <a:pt x="76202" y="533400"/>
                </a:lnTo>
                <a:cubicBezTo>
                  <a:pt x="34117" y="533400"/>
                  <a:pt x="0" y="499283"/>
                  <a:pt x="0" y="4571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4A6C8C"/>
          </a:solidFill>
        </p:spPr>
      </p:sp>
      <p:sp>
        <p:nvSpPr>
          <p:cNvPr id="8" name="Text 6"/>
          <p:cNvSpPr/>
          <p:nvPr/>
        </p:nvSpPr>
        <p:spPr>
          <a:xfrm>
            <a:off x="552450" y="1724025"/>
            <a:ext cx="647700" cy="533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01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95400" y="1724025"/>
            <a:ext cx="46291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0F0F0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执行摘要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95400" y="2066925"/>
            <a:ext cx="4610100" cy="2476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战略定位、商业模式、双轮驱动策略、海外第二步、核心壁垒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00050" y="2743200"/>
            <a:ext cx="5619750" cy="1143000"/>
          </a:xfrm>
          <a:custGeom>
            <a:avLst/>
            <a:gdLst/>
            <a:ahLst/>
            <a:cxnLst/>
            <a:rect l="l" t="t" r="r" b="b"/>
            <a:pathLst>
              <a:path w="5619750" h="1143000">
                <a:moveTo>
                  <a:pt x="0" y="0"/>
                </a:moveTo>
                <a:lnTo>
                  <a:pt x="5543546" y="0"/>
                </a:lnTo>
                <a:cubicBezTo>
                  <a:pt x="5585632" y="0"/>
                  <a:pt x="5619750" y="34118"/>
                  <a:pt x="5619750" y="76204"/>
                </a:cubicBezTo>
                <a:lnTo>
                  <a:pt x="5619750" y="1066796"/>
                </a:lnTo>
                <a:cubicBezTo>
                  <a:pt x="5619750" y="1108882"/>
                  <a:pt x="5585632" y="1143000"/>
                  <a:pt x="5543546" y="1143000"/>
                </a:cubicBezTo>
                <a:lnTo>
                  <a:pt x="0" y="1143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4A6C8C">
                  <a:alpha val="15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</p:spPr>
      </p:sp>
      <p:sp>
        <p:nvSpPr>
          <p:cNvPr id="12" name="Shape 10"/>
          <p:cNvSpPr/>
          <p:nvPr/>
        </p:nvSpPr>
        <p:spPr>
          <a:xfrm>
            <a:off x="400050" y="2743200"/>
            <a:ext cx="38100" cy="1143000"/>
          </a:xfrm>
          <a:custGeom>
            <a:avLst/>
            <a:gdLst/>
            <a:ahLst/>
            <a:cxnLst/>
            <a:rect l="l" t="t" r="r" b="b"/>
            <a:pathLst>
              <a:path w="38100" h="1143000">
                <a:moveTo>
                  <a:pt x="0" y="0"/>
                </a:moveTo>
                <a:lnTo>
                  <a:pt x="38100" y="0"/>
                </a:lnTo>
                <a:lnTo>
                  <a:pt x="38100" y="1143000"/>
                </a:lnTo>
                <a:lnTo>
                  <a:pt x="0" y="1143000"/>
                </a:lnTo>
                <a:lnTo>
                  <a:pt x="0" y="0"/>
                </a:lnTo>
                <a:close/>
              </a:path>
            </a:pathLst>
          </a:custGeom>
          <a:solidFill>
            <a:srgbClr val="4A6C8C"/>
          </a:solidFill>
        </p:spPr>
      </p:sp>
      <p:sp>
        <p:nvSpPr>
          <p:cNvPr id="13" name="Shape 11"/>
          <p:cNvSpPr/>
          <p:nvPr/>
        </p:nvSpPr>
        <p:spPr>
          <a:xfrm>
            <a:off x="609600" y="3019425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76202" y="0"/>
                </a:moveTo>
                <a:lnTo>
                  <a:pt x="457198" y="0"/>
                </a:lnTo>
                <a:cubicBezTo>
                  <a:pt x="499283" y="0"/>
                  <a:pt x="533400" y="34117"/>
                  <a:pt x="533400" y="76202"/>
                </a:cubicBezTo>
                <a:lnTo>
                  <a:pt x="533400" y="457198"/>
                </a:lnTo>
                <a:cubicBezTo>
                  <a:pt x="533400" y="499283"/>
                  <a:pt x="499283" y="533400"/>
                  <a:pt x="457198" y="533400"/>
                </a:cubicBezTo>
                <a:lnTo>
                  <a:pt x="76202" y="533400"/>
                </a:lnTo>
                <a:cubicBezTo>
                  <a:pt x="34117" y="533400"/>
                  <a:pt x="0" y="499283"/>
                  <a:pt x="0" y="4571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4A6C8C"/>
          </a:solidFill>
        </p:spPr>
      </p:sp>
      <p:sp>
        <p:nvSpPr>
          <p:cNvPr id="14" name="Text 12"/>
          <p:cNvSpPr/>
          <p:nvPr/>
        </p:nvSpPr>
        <p:spPr>
          <a:xfrm>
            <a:off x="552450" y="3019425"/>
            <a:ext cx="647700" cy="533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02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95400" y="3019425"/>
            <a:ext cx="46291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0F0F0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政策窗口与市场重构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295400" y="3362325"/>
            <a:ext cx="4610100" cy="2476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136号文影响、收益模式转变、市场现实数据、核心洞察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00050" y="4038600"/>
            <a:ext cx="5619750" cy="1143000"/>
          </a:xfrm>
          <a:custGeom>
            <a:avLst/>
            <a:gdLst/>
            <a:ahLst/>
            <a:cxnLst/>
            <a:rect l="l" t="t" r="r" b="b"/>
            <a:pathLst>
              <a:path w="5619750" h="1143000">
                <a:moveTo>
                  <a:pt x="0" y="0"/>
                </a:moveTo>
                <a:lnTo>
                  <a:pt x="5543546" y="0"/>
                </a:lnTo>
                <a:cubicBezTo>
                  <a:pt x="5585632" y="0"/>
                  <a:pt x="5619750" y="34118"/>
                  <a:pt x="5619750" y="76204"/>
                </a:cubicBezTo>
                <a:lnTo>
                  <a:pt x="5619750" y="1066796"/>
                </a:lnTo>
                <a:cubicBezTo>
                  <a:pt x="5619750" y="1108882"/>
                  <a:pt x="5585632" y="1143000"/>
                  <a:pt x="5543546" y="1143000"/>
                </a:cubicBezTo>
                <a:lnTo>
                  <a:pt x="0" y="1143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4A6C8C">
                  <a:alpha val="15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</p:spPr>
      </p:sp>
      <p:sp>
        <p:nvSpPr>
          <p:cNvPr id="18" name="Shape 16"/>
          <p:cNvSpPr/>
          <p:nvPr/>
        </p:nvSpPr>
        <p:spPr>
          <a:xfrm>
            <a:off x="400050" y="4038600"/>
            <a:ext cx="38100" cy="1143000"/>
          </a:xfrm>
          <a:custGeom>
            <a:avLst/>
            <a:gdLst/>
            <a:ahLst/>
            <a:cxnLst/>
            <a:rect l="l" t="t" r="r" b="b"/>
            <a:pathLst>
              <a:path w="38100" h="1143000">
                <a:moveTo>
                  <a:pt x="0" y="0"/>
                </a:moveTo>
                <a:lnTo>
                  <a:pt x="38100" y="0"/>
                </a:lnTo>
                <a:lnTo>
                  <a:pt x="38100" y="1143000"/>
                </a:lnTo>
                <a:lnTo>
                  <a:pt x="0" y="1143000"/>
                </a:lnTo>
                <a:lnTo>
                  <a:pt x="0" y="0"/>
                </a:lnTo>
                <a:close/>
              </a:path>
            </a:pathLst>
          </a:custGeom>
          <a:solidFill>
            <a:srgbClr val="4A6C8C"/>
          </a:solidFill>
        </p:spPr>
      </p:sp>
      <p:sp>
        <p:nvSpPr>
          <p:cNvPr id="19" name="Shape 17"/>
          <p:cNvSpPr/>
          <p:nvPr/>
        </p:nvSpPr>
        <p:spPr>
          <a:xfrm>
            <a:off x="609600" y="4314825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76202" y="0"/>
                </a:moveTo>
                <a:lnTo>
                  <a:pt x="457198" y="0"/>
                </a:lnTo>
                <a:cubicBezTo>
                  <a:pt x="499283" y="0"/>
                  <a:pt x="533400" y="34117"/>
                  <a:pt x="533400" y="76202"/>
                </a:cubicBezTo>
                <a:lnTo>
                  <a:pt x="533400" y="457198"/>
                </a:lnTo>
                <a:cubicBezTo>
                  <a:pt x="533400" y="499283"/>
                  <a:pt x="499283" y="533400"/>
                  <a:pt x="457198" y="533400"/>
                </a:cubicBezTo>
                <a:lnTo>
                  <a:pt x="76202" y="533400"/>
                </a:lnTo>
                <a:cubicBezTo>
                  <a:pt x="34117" y="533400"/>
                  <a:pt x="0" y="499283"/>
                  <a:pt x="0" y="4571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4A6C8C"/>
          </a:solidFill>
        </p:spPr>
      </p:sp>
      <p:sp>
        <p:nvSpPr>
          <p:cNvPr id="20" name="Text 18"/>
          <p:cNvSpPr/>
          <p:nvPr/>
        </p:nvSpPr>
        <p:spPr>
          <a:xfrm>
            <a:off x="552450" y="4314825"/>
            <a:ext cx="647700" cy="533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03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295400" y="4314825"/>
            <a:ext cx="46291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0F0F0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Scatec YieldCo商业模式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295400" y="4657725"/>
            <a:ext cx="4610100" cy="2476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三层股权架构、多元化退出路径、降低初始出资、保留运营主导权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00050" y="5334000"/>
            <a:ext cx="5619750" cy="1143000"/>
          </a:xfrm>
          <a:custGeom>
            <a:avLst/>
            <a:gdLst/>
            <a:ahLst/>
            <a:cxnLst/>
            <a:rect l="l" t="t" r="r" b="b"/>
            <a:pathLst>
              <a:path w="5619750" h="1143000">
                <a:moveTo>
                  <a:pt x="0" y="0"/>
                </a:moveTo>
                <a:lnTo>
                  <a:pt x="5543546" y="0"/>
                </a:lnTo>
                <a:cubicBezTo>
                  <a:pt x="5585632" y="0"/>
                  <a:pt x="5619750" y="34118"/>
                  <a:pt x="5619750" y="76204"/>
                </a:cubicBezTo>
                <a:lnTo>
                  <a:pt x="5619750" y="1066796"/>
                </a:lnTo>
                <a:cubicBezTo>
                  <a:pt x="5619750" y="1108882"/>
                  <a:pt x="5585632" y="1143000"/>
                  <a:pt x="5543546" y="1143000"/>
                </a:cubicBezTo>
                <a:lnTo>
                  <a:pt x="0" y="1143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D4A373">
                  <a:alpha val="15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</p:spPr>
      </p:sp>
      <p:sp>
        <p:nvSpPr>
          <p:cNvPr id="24" name="Shape 22"/>
          <p:cNvSpPr/>
          <p:nvPr/>
        </p:nvSpPr>
        <p:spPr>
          <a:xfrm>
            <a:off x="400050" y="5334000"/>
            <a:ext cx="38100" cy="1143000"/>
          </a:xfrm>
          <a:custGeom>
            <a:avLst/>
            <a:gdLst/>
            <a:ahLst/>
            <a:cxnLst/>
            <a:rect l="l" t="t" r="r" b="b"/>
            <a:pathLst>
              <a:path w="38100" h="1143000">
                <a:moveTo>
                  <a:pt x="0" y="0"/>
                </a:moveTo>
                <a:lnTo>
                  <a:pt x="38100" y="0"/>
                </a:lnTo>
                <a:lnTo>
                  <a:pt x="38100" y="1143000"/>
                </a:lnTo>
                <a:lnTo>
                  <a:pt x="0" y="1143000"/>
                </a:lnTo>
                <a:lnTo>
                  <a:pt x="0" y="0"/>
                </a:lnTo>
                <a:close/>
              </a:path>
            </a:pathLst>
          </a:custGeom>
          <a:solidFill>
            <a:srgbClr val="D4A373"/>
          </a:solidFill>
        </p:spPr>
      </p:sp>
      <p:sp>
        <p:nvSpPr>
          <p:cNvPr id="25" name="Shape 23"/>
          <p:cNvSpPr/>
          <p:nvPr/>
        </p:nvSpPr>
        <p:spPr>
          <a:xfrm>
            <a:off x="609600" y="5610225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76202" y="0"/>
                </a:moveTo>
                <a:lnTo>
                  <a:pt x="457198" y="0"/>
                </a:lnTo>
                <a:cubicBezTo>
                  <a:pt x="499283" y="0"/>
                  <a:pt x="533400" y="34117"/>
                  <a:pt x="533400" y="76202"/>
                </a:cubicBezTo>
                <a:lnTo>
                  <a:pt x="533400" y="457198"/>
                </a:lnTo>
                <a:cubicBezTo>
                  <a:pt x="533400" y="499283"/>
                  <a:pt x="499283" y="533400"/>
                  <a:pt x="457198" y="533400"/>
                </a:cubicBezTo>
                <a:lnTo>
                  <a:pt x="76202" y="533400"/>
                </a:lnTo>
                <a:cubicBezTo>
                  <a:pt x="34117" y="533400"/>
                  <a:pt x="0" y="499283"/>
                  <a:pt x="0" y="4571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D4A373"/>
          </a:solidFill>
        </p:spPr>
      </p:sp>
      <p:sp>
        <p:nvSpPr>
          <p:cNvPr id="26" name="Text 24"/>
          <p:cNvSpPr/>
          <p:nvPr/>
        </p:nvSpPr>
        <p:spPr>
          <a:xfrm>
            <a:off x="552450" y="5610225"/>
            <a:ext cx="647700" cy="533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04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295400" y="5610225"/>
            <a:ext cx="46291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0F0F0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中国市场双轮驱动策略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295400" y="5953125"/>
            <a:ext cx="4610100" cy="2476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长三角重资产深耕 vs 珠三角轻资产快周转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191250" y="1447800"/>
            <a:ext cx="5619750" cy="1143000"/>
          </a:xfrm>
          <a:custGeom>
            <a:avLst/>
            <a:gdLst/>
            <a:ahLst/>
            <a:cxnLst/>
            <a:rect l="l" t="t" r="r" b="b"/>
            <a:pathLst>
              <a:path w="5619750" h="1143000">
                <a:moveTo>
                  <a:pt x="0" y="0"/>
                </a:moveTo>
                <a:lnTo>
                  <a:pt x="5543546" y="0"/>
                </a:lnTo>
                <a:cubicBezTo>
                  <a:pt x="5585632" y="0"/>
                  <a:pt x="5619750" y="34118"/>
                  <a:pt x="5619750" y="76204"/>
                </a:cubicBezTo>
                <a:lnTo>
                  <a:pt x="5619750" y="1066796"/>
                </a:lnTo>
                <a:cubicBezTo>
                  <a:pt x="5619750" y="1108882"/>
                  <a:pt x="5585632" y="1143000"/>
                  <a:pt x="5543546" y="1143000"/>
                </a:cubicBezTo>
                <a:lnTo>
                  <a:pt x="0" y="1143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D4A373">
                  <a:alpha val="15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</p:spPr>
      </p:sp>
      <p:sp>
        <p:nvSpPr>
          <p:cNvPr id="30" name="Shape 28"/>
          <p:cNvSpPr/>
          <p:nvPr/>
        </p:nvSpPr>
        <p:spPr>
          <a:xfrm>
            <a:off x="6191250" y="1447800"/>
            <a:ext cx="38100" cy="1143000"/>
          </a:xfrm>
          <a:custGeom>
            <a:avLst/>
            <a:gdLst/>
            <a:ahLst/>
            <a:cxnLst/>
            <a:rect l="l" t="t" r="r" b="b"/>
            <a:pathLst>
              <a:path w="38100" h="1143000">
                <a:moveTo>
                  <a:pt x="0" y="0"/>
                </a:moveTo>
                <a:lnTo>
                  <a:pt x="38100" y="0"/>
                </a:lnTo>
                <a:lnTo>
                  <a:pt x="38100" y="1143000"/>
                </a:lnTo>
                <a:lnTo>
                  <a:pt x="0" y="1143000"/>
                </a:lnTo>
                <a:lnTo>
                  <a:pt x="0" y="0"/>
                </a:lnTo>
                <a:close/>
              </a:path>
            </a:pathLst>
          </a:custGeom>
          <a:solidFill>
            <a:srgbClr val="D4A373"/>
          </a:solidFill>
        </p:spPr>
      </p:sp>
      <p:sp>
        <p:nvSpPr>
          <p:cNvPr id="31" name="Shape 29"/>
          <p:cNvSpPr/>
          <p:nvPr/>
        </p:nvSpPr>
        <p:spPr>
          <a:xfrm>
            <a:off x="6400800" y="1724025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76202" y="0"/>
                </a:moveTo>
                <a:lnTo>
                  <a:pt x="457198" y="0"/>
                </a:lnTo>
                <a:cubicBezTo>
                  <a:pt x="499283" y="0"/>
                  <a:pt x="533400" y="34117"/>
                  <a:pt x="533400" y="76202"/>
                </a:cubicBezTo>
                <a:lnTo>
                  <a:pt x="533400" y="457198"/>
                </a:lnTo>
                <a:cubicBezTo>
                  <a:pt x="533400" y="499283"/>
                  <a:pt x="499283" y="533400"/>
                  <a:pt x="457198" y="533400"/>
                </a:cubicBezTo>
                <a:lnTo>
                  <a:pt x="76202" y="533400"/>
                </a:lnTo>
                <a:cubicBezTo>
                  <a:pt x="34117" y="533400"/>
                  <a:pt x="0" y="499283"/>
                  <a:pt x="0" y="4571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D4A373"/>
          </a:solidFill>
        </p:spPr>
      </p:sp>
      <p:sp>
        <p:nvSpPr>
          <p:cNvPr id="32" name="Text 30"/>
          <p:cNvSpPr/>
          <p:nvPr/>
        </p:nvSpPr>
        <p:spPr>
          <a:xfrm>
            <a:off x="6343650" y="1724025"/>
            <a:ext cx="647700" cy="533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05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7086600" y="1724025"/>
            <a:ext cx="46291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0F0F0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海外市场第二步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7086600" y="2066925"/>
            <a:ext cx="4610100" cy="2476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日本市场机会 + 马来西亚市场机会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191250" y="2743200"/>
            <a:ext cx="5619750" cy="1143000"/>
          </a:xfrm>
          <a:custGeom>
            <a:avLst/>
            <a:gdLst/>
            <a:ahLst/>
            <a:cxnLst/>
            <a:rect l="l" t="t" r="r" b="b"/>
            <a:pathLst>
              <a:path w="5619750" h="1143000">
                <a:moveTo>
                  <a:pt x="0" y="0"/>
                </a:moveTo>
                <a:lnTo>
                  <a:pt x="5543546" y="0"/>
                </a:lnTo>
                <a:cubicBezTo>
                  <a:pt x="5585632" y="0"/>
                  <a:pt x="5619750" y="34118"/>
                  <a:pt x="5619750" y="76204"/>
                </a:cubicBezTo>
                <a:lnTo>
                  <a:pt x="5619750" y="1066796"/>
                </a:lnTo>
                <a:cubicBezTo>
                  <a:pt x="5619750" y="1108882"/>
                  <a:pt x="5585632" y="1143000"/>
                  <a:pt x="5543546" y="1143000"/>
                </a:cubicBezTo>
                <a:lnTo>
                  <a:pt x="0" y="1143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8D99AE">
                  <a:alpha val="15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</p:spPr>
      </p:sp>
      <p:sp>
        <p:nvSpPr>
          <p:cNvPr id="36" name="Shape 34"/>
          <p:cNvSpPr/>
          <p:nvPr/>
        </p:nvSpPr>
        <p:spPr>
          <a:xfrm>
            <a:off x="6191250" y="2743200"/>
            <a:ext cx="38100" cy="1143000"/>
          </a:xfrm>
          <a:custGeom>
            <a:avLst/>
            <a:gdLst/>
            <a:ahLst/>
            <a:cxnLst/>
            <a:rect l="l" t="t" r="r" b="b"/>
            <a:pathLst>
              <a:path w="38100" h="1143000">
                <a:moveTo>
                  <a:pt x="0" y="0"/>
                </a:moveTo>
                <a:lnTo>
                  <a:pt x="38100" y="0"/>
                </a:lnTo>
                <a:lnTo>
                  <a:pt x="38100" y="1143000"/>
                </a:lnTo>
                <a:lnTo>
                  <a:pt x="0" y="1143000"/>
                </a:lnTo>
                <a:lnTo>
                  <a:pt x="0" y="0"/>
                </a:lnTo>
                <a:close/>
              </a:path>
            </a:pathLst>
          </a:custGeom>
          <a:solidFill>
            <a:srgbClr val="8D99AE"/>
          </a:solidFill>
        </p:spPr>
      </p:sp>
      <p:sp>
        <p:nvSpPr>
          <p:cNvPr id="37" name="Shape 35"/>
          <p:cNvSpPr/>
          <p:nvPr/>
        </p:nvSpPr>
        <p:spPr>
          <a:xfrm>
            <a:off x="6400800" y="3019425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76202" y="0"/>
                </a:moveTo>
                <a:lnTo>
                  <a:pt x="457198" y="0"/>
                </a:lnTo>
                <a:cubicBezTo>
                  <a:pt x="499283" y="0"/>
                  <a:pt x="533400" y="34117"/>
                  <a:pt x="533400" y="76202"/>
                </a:cubicBezTo>
                <a:lnTo>
                  <a:pt x="533400" y="457198"/>
                </a:lnTo>
                <a:cubicBezTo>
                  <a:pt x="533400" y="499283"/>
                  <a:pt x="499283" y="533400"/>
                  <a:pt x="457198" y="533400"/>
                </a:cubicBezTo>
                <a:lnTo>
                  <a:pt x="76202" y="533400"/>
                </a:lnTo>
                <a:cubicBezTo>
                  <a:pt x="34117" y="533400"/>
                  <a:pt x="0" y="499283"/>
                  <a:pt x="0" y="4571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8D99AE"/>
          </a:solidFill>
        </p:spPr>
      </p:sp>
      <p:sp>
        <p:nvSpPr>
          <p:cNvPr id="38" name="Text 36"/>
          <p:cNvSpPr/>
          <p:nvPr/>
        </p:nvSpPr>
        <p:spPr>
          <a:xfrm>
            <a:off x="6343650" y="3019425"/>
            <a:ext cx="647700" cy="533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06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7086600" y="3019425"/>
            <a:ext cx="46291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0F0F0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技术壁垒与护城河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7086600" y="3362325"/>
            <a:ext cx="4610100" cy="2476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高压级联SiC + AI双层优化算法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6191250" y="4038600"/>
            <a:ext cx="5619750" cy="1143000"/>
          </a:xfrm>
          <a:custGeom>
            <a:avLst/>
            <a:gdLst/>
            <a:ahLst/>
            <a:cxnLst/>
            <a:rect l="l" t="t" r="r" b="b"/>
            <a:pathLst>
              <a:path w="5619750" h="1143000">
                <a:moveTo>
                  <a:pt x="0" y="0"/>
                </a:moveTo>
                <a:lnTo>
                  <a:pt x="5543546" y="0"/>
                </a:lnTo>
                <a:cubicBezTo>
                  <a:pt x="5585632" y="0"/>
                  <a:pt x="5619750" y="34118"/>
                  <a:pt x="5619750" y="76204"/>
                </a:cubicBezTo>
                <a:lnTo>
                  <a:pt x="5619750" y="1066796"/>
                </a:lnTo>
                <a:cubicBezTo>
                  <a:pt x="5619750" y="1108882"/>
                  <a:pt x="5585632" y="1143000"/>
                  <a:pt x="5543546" y="1143000"/>
                </a:cubicBezTo>
                <a:lnTo>
                  <a:pt x="0" y="1143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8D99AE">
                  <a:alpha val="15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</p:spPr>
      </p:sp>
      <p:sp>
        <p:nvSpPr>
          <p:cNvPr id="42" name="Shape 40"/>
          <p:cNvSpPr/>
          <p:nvPr/>
        </p:nvSpPr>
        <p:spPr>
          <a:xfrm>
            <a:off x="6191250" y="4038600"/>
            <a:ext cx="38100" cy="1143000"/>
          </a:xfrm>
          <a:custGeom>
            <a:avLst/>
            <a:gdLst/>
            <a:ahLst/>
            <a:cxnLst/>
            <a:rect l="l" t="t" r="r" b="b"/>
            <a:pathLst>
              <a:path w="38100" h="1143000">
                <a:moveTo>
                  <a:pt x="0" y="0"/>
                </a:moveTo>
                <a:lnTo>
                  <a:pt x="38100" y="0"/>
                </a:lnTo>
                <a:lnTo>
                  <a:pt x="38100" y="1143000"/>
                </a:lnTo>
                <a:lnTo>
                  <a:pt x="0" y="1143000"/>
                </a:lnTo>
                <a:lnTo>
                  <a:pt x="0" y="0"/>
                </a:lnTo>
                <a:close/>
              </a:path>
            </a:pathLst>
          </a:custGeom>
          <a:solidFill>
            <a:srgbClr val="8D99AE"/>
          </a:solidFill>
        </p:spPr>
      </p:sp>
      <p:sp>
        <p:nvSpPr>
          <p:cNvPr id="43" name="Shape 41"/>
          <p:cNvSpPr/>
          <p:nvPr/>
        </p:nvSpPr>
        <p:spPr>
          <a:xfrm>
            <a:off x="6400800" y="4314825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76202" y="0"/>
                </a:moveTo>
                <a:lnTo>
                  <a:pt x="457198" y="0"/>
                </a:lnTo>
                <a:cubicBezTo>
                  <a:pt x="499283" y="0"/>
                  <a:pt x="533400" y="34117"/>
                  <a:pt x="533400" y="76202"/>
                </a:cubicBezTo>
                <a:lnTo>
                  <a:pt x="533400" y="457198"/>
                </a:lnTo>
                <a:cubicBezTo>
                  <a:pt x="533400" y="499283"/>
                  <a:pt x="499283" y="533400"/>
                  <a:pt x="457198" y="533400"/>
                </a:cubicBezTo>
                <a:lnTo>
                  <a:pt x="76202" y="533400"/>
                </a:lnTo>
                <a:cubicBezTo>
                  <a:pt x="34117" y="533400"/>
                  <a:pt x="0" y="499283"/>
                  <a:pt x="0" y="4571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8D99AE"/>
          </a:solidFill>
        </p:spPr>
      </p:sp>
      <p:sp>
        <p:nvSpPr>
          <p:cNvPr id="44" name="Text 42"/>
          <p:cNvSpPr/>
          <p:nvPr/>
        </p:nvSpPr>
        <p:spPr>
          <a:xfrm>
            <a:off x="6343650" y="4314825"/>
            <a:ext cx="647700" cy="533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07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7086600" y="4314825"/>
            <a:ext cx="46291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0F0F0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财务模型与敏感性分析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7086600" y="4657725"/>
            <a:ext cx="4610100" cy="2476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三情景财务指标对比、底线思维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6191250" y="5334000"/>
            <a:ext cx="5619750" cy="1143000"/>
          </a:xfrm>
          <a:custGeom>
            <a:avLst/>
            <a:gdLst/>
            <a:ahLst/>
            <a:cxnLst/>
            <a:rect l="l" t="t" r="r" b="b"/>
            <a:pathLst>
              <a:path w="5619750" h="1143000">
                <a:moveTo>
                  <a:pt x="0" y="0"/>
                </a:moveTo>
                <a:lnTo>
                  <a:pt x="5543546" y="0"/>
                </a:lnTo>
                <a:cubicBezTo>
                  <a:pt x="5585632" y="0"/>
                  <a:pt x="5619750" y="34118"/>
                  <a:pt x="5619750" y="76204"/>
                </a:cubicBezTo>
                <a:lnTo>
                  <a:pt x="5619750" y="1066796"/>
                </a:lnTo>
                <a:cubicBezTo>
                  <a:pt x="5619750" y="1108882"/>
                  <a:pt x="5585632" y="1143000"/>
                  <a:pt x="5543546" y="1143000"/>
                </a:cubicBezTo>
                <a:lnTo>
                  <a:pt x="0" y="1143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8D99AE">
                  <a:alpha val="15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</p:spPr>
      </p:sp>
      <p:sp>
        <p:nvSpPr>
          <p:cNvPr id="48" name="Shape 46"/>
          <p:cNvSpPr/>
          <p:nvPr/>
        </p:nvSpPr>
        <p:spPr>
          <a:xfrm>
            <a:off x="6191250" y="5334000"/>
            <a:ext cx="38100" cy="1143000"/>
          </a:xfrm>
          <a:custGeom>
            <a:avLst/>
            <a:gdLst/>
            <a:ahLst/>
            <a:cxnLst/>
            <a:rect l="l" t="t" r="r" b="b"/>
            <a:pathLst>
              <a:path w="38100" h="1143000">
                <a:moveTo>
                  <a:pt x="0" y="0"/>
                </a:moveTo>
                <a:lnTo>
                  <a:pt x="38100" y="0"/>
                </a:lnTo>
                <a:lnTo>
                  <a:pt x="38100" y="1143000"/>
                </a:lnTo>
                <a:lnTo>
                  <a:pt x="0" y="1143000"/>
                </a:lnTo>
                <a:lnTo>
                  <a:pt x="0" y="0"/>
                </a:lnTo>
                <a:close/>
              </a:path>
            </a:pathLst>
          </a:custGeom>
          <a:solidFill>
            <a:srgbClr val="8D99AE"/>
          </a:solidFill>
        </p:spPr>
      </p:sp>
      <p:sp>
        <p:nvSpPr>
          <p:cNvPr id="49" name="Shape 47"/>
          <p:cNvSpPr/>
          <p:nvPr/>
        </p:nvSpPr>
        <p:spPr>
          <a:xfrm>
            <a:off x="6400800" y="5610225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76202" y="0"/>
                </a:moveTo>
                <a:lnTo>
                  <a:pt x="457198" y="0"/>
                </a:lnTo>
                <a:cubicBezTo>
                  <a:pt x="499283" y="0"/>
                  <a:pt x="533400" y="34117"/>
                  <a:pt x="533400" y="76202"/>
                </a:cubicBezTo>
                <a:lnTo>
                  <a:pt x="533400" y="457198"/>
                </a:lnTo>
                <a:cubicBezTo>
                  <a:pt x="533400" y="499283"/>
                  <a:pt x="499283" y="533400"/>
                  <a:pt x="457198" y="533400"/>
                </a:cubicBezTo>
                <a:lnTo>
                  <a:pt x="76202" y="533400"/>
                </a:lnTo>
                <a:cubicBezTo>
                  <a:pt x="34117" y="533400"/>
                  <a:pt x="0" y="499283"/>
                  <a:pt x="0" y="4571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8D99AE"/>
          </a:solidFill>
        </p:spPr>
      </p:sp>
      <p:sp>
        <p:nvSpPr>
          <p:cNvPr id="50" name="Text 48"/>
          <p:cNvSpPr/>
          <p:nvPr/>
        </p:nvSpPr>
        <p:spPr>
          <a:xfrm>
            <a:off x="6343650" y="5610225"/>
            <a:ext cx="647700" cy="533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08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7086600" y="5610225"/>
            <a:ext cx="46291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0F0F0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实施路线图与行动计划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7086600" y="5953125"/>
            <a:ext cx="4610100" cy="2476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2026-2029三阶段战略规划、关键成功因素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419100"/>
            <a:ext cx="38100" cy="304800"/>
          </a:xfrm>
          <a:custGeom>
            <a:avLst/>
            <a:gdLst/>
            <a:ahLst/>
            <a:cxnLst/>
            <a:rect l="l" t="t" r="r" b="b"/>
            <a:pathLst>
              <a:path w="38100" h="304800">
                <a:moveTo>
                  <a:pt x="0" y="0"/>
                </a:moveTo>
                <a:lnTo>
                  <a:pt x="38100" y="0"/>
                </a:lnTo>
                <a:lnTo>
                  <a:pt x="38100" y="304800"/>
                </a:lnTo>
                <a:lnTo>
                  <a:pt x="0" y="304800"/>
                </a:lnTo>
                <a:lnTo>
                  <a:pt x="0" y="0"/>
                </a:lnTo>
                <a:close/>
              </a:path>
            </a:pathLst>
          </a:custGeom>
          <a:solidFill>
            <a:srgbClr val="D4A373"/>
          </a:solidFill>
        </p:spPr>
      </p:sp>
      <p:sp>
        <p:nvSpPr>
          <p:cNvPr id="3" name="Text 1"/>
          <p:cNvSpPr/>
          <p:nvPr/>
        </p:nvSpPr>
        <p:spPr>
          <a:xfrm>
            <a:off x="533400" y="381000"/>
            <a:ext cx="1543050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F0F0F0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执行摘要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71500" y="838200"/>
            <a:ext cx="113252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8D99AE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EXECUTIVE SUMMARY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5763" y="1223963"/>
            <a:ext cx="5648325" cy="1362075"/>
          </a:xfrm>
          <a:custGeom>
            <a:avLst/>
            <a:gdLst/>
            <a:ahLst/>
            <a:cxnLst/>
            <a:rect l="l" t="t" r="r" b="b"/>
            <a:pathLst>
              <a:path w="5648325" h="1362075">
                <a:moveTo>
                  <a:pt x="76194" y="0"/>
                </a:moveTo>
                <a:lnTo>
                  <a:pt x="5572131" y="0"/>
                </a:lnTo>
                <a:cubicBezTo>
                  <a:pt x="5614212" y="0"/>
                  <a:pt x="5648325" y="34113"/>
                  <a:pt x="5648325" y="76194"/>
                </a:cubicBezTo>
                <a:lnTo>
                  <a:pt x="5648325" y="1285881"/>
                </a:lnTo>
                <a:cubicBezTo>
                  <a:pt x="5648325" y="1327962"/>
                  <a:pt x="5614212" y="1362075"/>
                  <a:pt x="5572131" y="1362075"/>
                </a:cubicBezTo>
                <a:lnTo>
                  <a:pt x="76194" y="1362075"/>
                </a:lnTo>
                <a:cubicBezTo>
                  <a:pt x="34113" y="1362075"/>
                  <a:pt x="0" y="1327962"/>
                  <a:pt x="0" y="1285881"/>
                </a:cubicBezTo>
                <a:lnTo>
                  <a:pt x="0" y="76194"/>
                </a:lnTo>
                <a:cubicBezTo>
                  <a:pt x="0" y="34142"/>
                  <a:pt x="34142" y="0"/>
                  <a:pt x="76194" y="0"/>
                </a:cubicBezTo>
                <a:close/>
              </a:path>
            </a:pathLst>
          </a:custGeom>
          <a:gradFill flip="none" rotWithShape="1">
            <a:gsLst>
              <a:gs pos="0">
                <a:srgbClr val="4A6C8C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12700">
            <a:solidFill>
              <a:srgbClr val="4A6C8C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4825" y="134302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4A6C8C"/>
          </a:solidFill>
        </p:spPr>
      </p:sp>
      <p:sp>
        <p:nvSpPr>
          <p:cNvPr id="7" name="Shape 5"/>
          <p:cNvSpPr/>
          <p:nvPr/>
        </p:nvSpPr>
        <p:spPr>
          <a:xfrm>
            <a:off x="601266" y="1447800"/>
            <a:ext cx="192881" cy="171450"/>
          </a:xfrm>
          <a:custGeom>
            <a:avLst/>
            <a:gdLst/>
            <a:ahLst/>
            <a:cxnLst/>
            <a:rect l="l" t="t" r="r" b="b"/>
            <a:pathLst>
              <a:path w="192881" h="171450">
                <a:moveTo>
                  <a:pt x="96441" y="-5358"/>
                </a:moveTo>
                <a:cubicBezTo>
                  <a:pt x="102368" y="-5358"/>
                  <a:pt x="107156" y="-569"/>
                  <a:pt x="107156" y="5358"/>
                </a:cubicBezTo>
                <a:lnTo>
                  <a:pt x="107156" y="11486"/>
                </a:lnTo>
                <a:cubicBezTo>
                  <a:pt x="140006" y="16174"/>
                  <a:pt x="165992" y="42159"/>
                  <a:pt x="170680" y="75009"/>
                </a:cubicBezTo>
                <a:lnTo>
                  <a:pt x="176808" y="75009"/>
                </a:lnTo>
                <a:cubicBezTo>
                  <a:pt x="182735" y="75009"/>
                  <a:pt x="187523" y="79798"/>
                  <a:pt x="187523" y="85725"/>
                </a:cubicBezTo>
                <a:cubicBezTo>
                  <a:pt x="187523" y="91652"/>
                  <a:pt x="182735" y="96441"/>
                  <a:pt x="176808" y="96441"/>
                </a:cubicBezTo>
                <a:lnTo>
                  <a:pt x="170680" y="96441"/>
                </a:lnTo>
                <a:cubicBezTo>
                  <a:pt x="165992" y="129291"/>
                  <a:pt x="140006" y="155276"/>
                  <a:pt x="107156" y="159964"/>
                </a:cubicBezTo>
                <a:lnTo>
                  <a:pt x="107156" y="166092"/>
                </a:lnTo>
                <a:cubicBezTo>
                  <a:pt x="107156" y="172019"/>
                  <a:pt x="102368" y="176808"/>
                  <a:pt x="96441" y="176808"/>
                </a:cubicBezTo>
                <a:cubicBezTo>
                  <a:pt x="90514" y="176808"/>
                  <a:pt x="85725" y="172019"/>
                  <a:pt x="85725" y="166092"/>
                </a:cubicBezTo>
                <a:lnTo>
                  <a:pt x="85725" y="159964"/>
                </a:lnTo>
                <a:cubicBezTo>
                  <a:pt x="52875" y="155276"/>
                  <a:pt x="26890" y="129291"/>
                  <a:pt x="22201" y="96441"/>
                </a:cubicBezTo>
                <a:lnTo>
                  <a:pt x="16073" y="96441"/>
                </a:lnTo>
                <a:cubicBezTo>
                  <a:pt x="10146" y="96441"/>
                  <a:pt x="5358" y="91652"/>
                  <a:pt x="5358" y="85725"/>
                </a:cubicBezTo>
                <a:cubicBezTo>
                  <a:pt x="5358" y="79798"/>
                  <a:pt x="10146" y="75009"/>
                  <a:pt x="16073" y="75009"/>
                </a:cubicBezTo>
                <a:lnTo>
                  <a:pt x="22201" y="75009"/>
                </a:lnTo>
                <a:cubicBezTo>
                  <a:pt x="26890" y="42159"/>
                  <a:pt x="52875" y="16174"/>
                  <a:pt x="85725" y="11486"/>
                </a:cubicBezTo>
                <a:lnTo>
                  <a:pt x="85725" y="5358"/>
                </a:lnTo>
                <a:cubicBezTo>
                  <a:pt x="85725" y="-569"/>
                  <a:pt x="90514" y="-5358"/>
                  <a:pt x="96441" y="-5358"/>
                </a:cubicBezTo>
                <a:close/>
                <a:moveTo>
                  <a:pt x="43934" y="96441"/>
                </a:moveTo>
                <a:cubicBezTo>
                  <a:pt x="48187" y="117437"/>
                  <a:pt x="64729" y="133979"/>
                  <a:pt x="85725" y="138232"/>
                </a:cubicBezTo>
                <a:lnTo>
                  <a:pt x="85725" y="133945"/>
                </a:lnTo>
                <a:cubicBezTo>
                  <a:pt x="85725" y="128018"/>
                  <a:pt x="90514" y="123230"/>
                  <a:pt x="96441" y="123230"/>
                </a:cubicBezTo>
                <a:cubicBezTo>
                  <a:pt x="102368" y="123230"/>
                  <a:pt x="107156" y="128018"/>
                  <a:pt x="107156" y="133945"/>
                </a:cubicBezTo>
                <a:lnTo>
                  <a:pt x="107156" y="138232"/>
                </a:lnTo>
                <a:cubicBezTo>
                  <a:pt x="128152" y="133979"/>
                  <a:pt x="144694" y="117437"/>
                  <a:pt x="148947" y="96441"/>
                </a:cubicBezTo>
                <a:lnTo>
                  <a:pt x="144661" y="96441"/>
                </a:lnTo>
                <a:cubicBezTo>
                  <a:pt x="138734" y="96441"/>
                  <a:pt x="133945" y="91652"/>
                  <a:pt x="133945" y="85725"/>
                </a:cubicBezTo>
                <a:cubicBezTo>
                  <a:pt x="133945" y="79798"/>
                  <a:pt x="138734" y="75009"/>
                  <a:pt x="144661" y="75009"/>
                </a:cubicBezTo>
                <a:lnTo>
                  <a:pt x="148947" y="75009"/>
                </a:lnTo>
                <a:cubicBezTo>
                  <a:pt x="144694" y="54013"/>
                  <a:pt x="128152" y="37471"/>
                  <a:pt x="107156" y="33218"/>
                </a:cubicBezTo>
                <a:lnTo>
                  <a:pt x="107156" y="37505"/>
                </a:lnTo>
                <a:cubicBezTo>
                  <a:pt x="107156" y="43432"/>
                  <a:pt x="102368" y="48220"/>
                  <a:pt x="96441" y="48220"/>
                </a:cubicBezTo>
                <a:cubicBezTo>
                  <a:pt x="90514" y="48220"/>
                  <a:pt x="85725" y="43432"/>
                  <a:pt x="85725" y="37505"/>
                </a:cubicBezTo>
                <a:lnTo>
                  <a:pt x="85725" y="33218"/>
                </a:lnTo>
                <a:cubicBezTo>
                  <a:pt x="64729" y="37471"/>
                  <a:pt x="48187" y="54013"/>
                  <a:pt x="43934" y="75009"/>
                </a:cubicBezTo>
                <a:lnTo>
                  <a:pt x="48220" y="75009"/>
                </a:lnTo>
                <a:cubicBezTo>
                  <a:pt x="54147" y="75009"/>
                  <a:pt x="58936" y="79798"/>
                  <a:pt x="58936" y="85725"/>
                </a:cubicBezTo>
                <a:cubicBezTo>
                  <a:pt x="58936" y="91652"/>
                  <a:pt x="54147" y="96441"/>
                  <a:pt x="48220" y="96441"/>
                </a:cubicBezTo>
                <a:lnTo>
                  <a:pt x="43934" y="96441"/>
                </a:lnTo>
                <a:close/>
                <a:moveTo>
                  <a:pt x="96441" y="69652"/>
                </a:moveTo>
                <a:cubicBezTo>
                  <a:pt x="105312" y="69652"/>
                  <a:pt x="112514" y="76854"/>
                  <a:pt x="112514" y="85725"/>
                </a:cubicBezTo>
                <a:cubicBezTo>
                  <a:pt x="112514" y="94596"/>
                  <a:pt x="105312" y="101798"/>
                  <a:pt x="96441" y="101798"/>
                </a:cubicBezTo>
                <a:cubicBezTo>
                  <a:pt x="87569" y="101798"/>
                  <a:pt x="80367" y="94596"/>
                  <a:pt x="80367" y="85725"/>
                </a:cubicBezTo>
                <a:cubicBezTo>
                  <a:pt x="80367" y="76854"/>
                  <a:pt x="87569" y="69652"/>
                  <a:pt x="96441" y="69652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8" name="Text 6"/>
          <p:cNvSpPr/>
          <p:nvPr/>
        </p:nvSpPr>
        <p:spPr>
          <a:xfrm>
            <a:off x="1000125" y="1400175"/>
            <a:ext cx="8572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0F0F0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战略定位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04825" y="1809750"/>
            <a:ext cx="2908102" cy="2095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D4A373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136号文终结政策套利，开启运营变现时代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23875" y="2105025"/>
            <a:ext cx="5391150" cy="361950"/>
          </a:xfrm>
          <a:custGeom>
            <a:avLst/>
            <a:gdLst/>
            <a:ahLst/>
            <a:cxnLst/>
            <a:rect l="l" t="t" r="r" b="b"/>
            <a:pathLst>
              <a:path w="5391150" h="361950">
                <a:moveTo>
                  <a:pt x="38100" y="0"/>
                </a:moveTo>
                <a:lnTo>
                  <a:pt x="5314949" y="0"/>
                </a:lnTo>
                <a:cubicBezTo>
                  <a:pt x="5357034" y="0"/>
                  <a:pt x="5391150" y="34116"/>
                  <a:pt x="5391150" y="76201"/>
                </a:cubicBezTo>
                <a:lnTo>
                  <a:pt x="5391150" y="285749"/>
                </a:lnTo>
                <a:cubicBezTo>
                  <a:pt x="5391150" y="327834"/>
                  <a:pt x="5357034" y="361950"/>
                  <a:pt x="5314949" y="361950"/>
                </a:cubicBezTo>
                <a:lnTo>
                  <a:pt x="38100" y="361950"/>
                </a:lnTo>
                <a:cubicBezTo>
                  <a:pt x="17072" y="361950"/>
                  <a:pt x="0" y="344878"/>
                  <a:pt x="0" y="3238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</p:spPr>
      </p:sp>
      <p:sp>
        <p:nvSpPr>
          <p:cNvPr id="11" name="Shape 9"/>
          <p:cNvSpPr/>
          <p:nvPr/>
        </p:nvSpPr>
        <p:spPr>
          <a:xfrm>
            <a:off x="523875" y="2105025"/>
            <a:ext cx="38100" cy="361950"/>
          </a:xfrm>
          <a:custGeom>
            <a:avLst/>
            <a:gdLst/>
            <a:ahLst/>
            <a:cxnLst/>
            <a:rect l="l" t="t" r="r" b="b"/>
            <a:pathLst>
              <a:path w="38100" h="361950">
                <a:moveTo>
                  <a:pt x="38100" y="0"/>
                </a:moveTo>
                <a:lnTo>
                  <a:pt x="38100" y="0"/>
                </a:lnTo>
                <a:lnTo>
                  <a:pt x="38100" y="361950"/>
                </a:lnTo>
                <a:lnTo>
                  <a:pt x="38100" y="361950"/>
                </a:lnTo>
                <a:cubicBezTo>
                  <a:pt x="17072" y="361950"/>
                  <a:pt x="0" y="344878"/>
                  <a:pt x="0" y="3238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4A373"/>
          </a:solidFill>
        </p:spPr>
      </p:sp>
      <p:sp>
        <p:nvSpPr>
          <p:cNvPr id="12" name="Text 10"/>
          <p:cNvSpPr/>
          <p:nvPr/>
        </p:nvSpPr>
        <p:spPr>
          <a:xfrm>
            <a:off x="619125" y="2181225"/>
            <a:ext cx="5295900" cy="2095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『光伏为基、储能为翼、AI为脑』——市场化交易时代的生存法则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85763" y="2709863"/>
            <a:ext cx="5648325" cy="1704975"/>
          </a:xfrm>
          <a:custGeom>
            <a:avLst/>
            <a:gdLst/>
            <a:ahLst/>
            <a:cxnLst/>
            <a:rect l="l" t="t" r="r" b="b"/>
            <a:pathLst>
              <a:path w="5648325" h="1704975">
                <a:moveTo>
                  <a:pt x="76195" y="0"/>
                </a:moveTo>
                <a:lnTo>
                  <a:pt x="5572130" y="0"/>
                </a:lnTo>
                <a:cubicBezTo>
                  <a:pt x="5614211" y="0"/>
                  <a:pt x="5648325" y="34114"/>
                  <a:pt x="5648325" y="76195"/>
                </a:cubicBezTo>
                <a:lnTo>
                  <a:pt x="5648325" y="1628780"/>
                </a:lnTo>
                <a:cubicBezTo>
                  <a:pt x="5648325" y="1670861"/>
                  <a:pt x="5614211" y="1704975"/>
                  <a:pt x="5572130" y="1704975"/>
                </a:cubicBezTo>
                <a:lnTo>
                  <a:pt x="76195" y="1704975"/>
                </a:lnTo>
                <a:cubicBezTo>
                  <a:pt x="34114" y="1704975"/>
                  <a:pt x="0" y="1670861"/>
                  <a:pt x="0" y="1628780"/>
                </a:cubicBezTo>
                <a:lnTo>
                  <a:pt x="0" y="76195"/>
                </a:lnTo>
                <a:cubicBezTo>
                  <a:pt x="0" y="34114"/>
                  <a:pt x="34114" y="0"/>
                  <a:pt x="76195" y="0"/>
                </a:cubicBezTo>
                <a:close/>
              </a:path>
            </a:pathLst>
          </a:custGeom>
          <a:gradFill flip="none" rotWithShape="1">
            <a:gsLst>
              <a:gs pos="0">
                <a:srgbClr val="D4A373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12700">
            <a:solidFill>
              <a:srgbClr val="D4A373">
                <a:alpha val="4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04825" y="282892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D4A373"/>
          </a:solidFill>
        </p:spPr>
      </p:sp>
      <p:sp>
        <p:nvSpPr>
          <p:cNvPr id="15" name="Shape 13"/>
          <p:cNvSpPr/>
          <p:nvPr/>
        </p:nvSpPr>
        <p:spPr>
          <a:xfrm>
            <a:off x="633413" y="2933700"/>
            <a:ext cx="128588" cy="171450"/>
          </a:xfrm>
          <a:custGeom>
            <a:avLst/>
            <a:gdLst/>
            <a:ahLst/>
            <a:cxnLst/>
            <a:rect l="l" t="t" r="r" b="b"/>
            <a:pathLst>
              <a:path w="128588" h="171450">
                <a:moveTo>
                  <a:pt x="21431" y="0"/>
                </a:moveTo>
                <a:cubicBezTo>
                  <a:pt x="9611" y="0"/>
                  <a:pt x="0" y="9611"/>
                  <a:pt x="0" y="21431"/>
                </a:cubicBezTo>
                <a:lnTo>
                  <a:pt x="0" y="150019"/>
                </a:lnTo>
                <a:cubicBezTo>
                  <a:pt x="0" y="161839"/>
                  <a:pt x="9611" y="171450"/>
                  <a:pt x="21431" y="171450"/>
                </a:cubicBezTo>
                <a:lnTo>
                  <a:pt x="107156" y="171450"/>
                </a:lnTo>
                <a:cubicBezTo>
                  <a:pt x="118977" y="171450"/>
                  <a:pt x="128588" y="161839"/>
                  <a:pt x="128588" y="150019"/>
                </a:cubicBezTo>
                <a:lnTo>
                  <a:pt x="128588" y="21431"/>
                </a:lnTo>
                <a:cubicBezTo>
                  <a:pt x="128588" y="9611"/>
                  <a:pt x="118977" y="0"/>
                  <a:pt x="107156" y="0"/>
                </a:cubicBezTo>
                <a:lnTo>
                  <a:pt x="21431" y="0"/>
                </a:lnTo>
                <a:close/>
                <a:moveTo>
                  <a:pt x="58936" y="117872"/>
                </a:moveTo>
                <a:lnTo>
                  <a:pt x="69652" y="117872"/>
                </a:lnTo>
                <a:cubicBezTo>
                  <a:pt x="75579" y="117872"/>
                  <a:pt x="80367" y="122660"/>
                  <a:pt x="80367" y="128588"/>
                </a:cubicBezTo>
                <a:lnTo>
                  <a:pt x="80367" y="155377"/>
                </a:lnTo>
                <a:lnTo>
                  <a:pt x="48220" y="155377"/>
                </a:lnTo>
                <a:lnTo>
                  <a:pt x="48220" y="128588"/>
                </a:lnTo>
                <a:cubicBezTo>
                  <a:pt x="48220" y="122660"/>
                  <a:pt x="53009" y="117872"/>
                  <a:pt x="58936" y="117872"/>
                </a:cubicBezTo>
                <a:close/>
                <a:moveTo>
                  <a:pt x="32147" y="37505"/>
                </a:moveTo>
                <a:cubicBezTo>
                  <a:pt x="32147" y="34558"/>
                  <a:pt x="34558" y="32147"/>
                  <a:pt x="37505" y="32147"/>
                </a:cubicBezTo>
                <a:lnTo>
                  <a:pt x="48220" y="32147"/>
                </a:lnTo>
                <a:cubicBezTo>
                  <a:pt x="51167" y="32147"/>
                  <a:pt x="53578" y="34558"/>
                  <a:pt x="53578" y="37505"/>
                </a:cubicBezTo>
                <a:lnTo>
                  <a:pt x="53578" y="48220"/>
                </a:lnTo>
                <a:cubicBezTo>
                  <a:pt x="53578" y="51167"/>
                  <a:pt x="51167" y="53578"/>
                  <a:pt x="48220" y="53578"/>
                </a:cubicBezTo>
                <a:lnTo>
                  <a:pt x="37505" y="53578"/>
                </a:lnTo>
                <a:cubicBezTo>
                  <a:pt x="34558" y="53578"/>
                  <a:pt x="32147" y="51167"/>
                  <a:pt x="32147" y="48220"/>
                </a:cubicBezTo>
                <a:lnTo>
                  <a:pt x="32147" y="37505"/>
                </a:lnTo>
                <a:close/>
                <a:moveTo>
                  <a:pt x="80367" y="32147"/>
                </a:moveTo>
                <a:lnTo>
                  <a:pt x="91083" y="32147"/>
                </a:lnTo>
                <a:cubicBezTo>
                  <a:pt x="94030" y="32147"/>
                  <a:pt x="96441" y="34558"/>
                  <a:pt x="96441" y="37505"/>
                </a:cubicBezTo>
                <a:lnTo>
                  <a:pt x="96441" y="48220"/>
                </a:lnTo>
                <a:cubicBezTo>
                  <a:pt x="96441" y="51167"/>
                  <a:pt x="94030" y="53578"/>
                  <a:pt x="91083" y="53578"/>
                </a:cubicBezTo>
                <a:lnTo>
                  <a:pt x="80367" y="53578"/>
                </a:lnTo>
                <a:cubicBezTo>
                  <a:pt x="77420" y="53578"/>
                  <a:pt x="75009" y="51167"/>
                  <a:pt x="75009" y="48220"/>
                </a:cubicBezTo>
                <a:lnTo>
                  <a:pt x="75009" y="37505"/>
                </a:lnTo>
                <a:cubicBezTo>
                  <a:pt x="75009" y="34558"/>
                  <a:pt x="77420" y="32147"/>
                  <a:pt x="80367" y="32147"/>
                </a:cubicBezTo>
                <a:close/>
                <a:moveTo>
                  <a:pt x="32147" y="80367"/>
                </a:moveTo>
                <a:cubicBezTo>
                  <a:pt x="32147" y="77420"/>
                  <a:pt x="34558" y="75009"/>
                  <a:pt x="37505" y="75009"/>
                </a:cubicBezTo>
                <a:lnTo>
                  <a:pt x="48220" y="75009"/>
                </a:lnTo>
                <a:cubicBezTo>
                  <a:pt x="51167" y="75009"/>
                  <a:pt x="53578" y="77420"/>
                  <a:pt x="53578" y="80367"/>
                </a:cubicBezTo>
                <a:lnTo>
                  <a:pt x="53578" y="91083"/>
                </a:lnTo>
                <a:cubicBezTo>
                  <a:pt x="53578" y="94030"/>
                  <a:pt x="51167" y="96441"/>
                  <a:pt x="48220" y="96441"/>
                </a:cubicBezTo>
                <a:lnTo>
                  <a:pt x="37505" y="96441"/>
                </a:lnTo>
                <a:cubicBezTo>
                  <a:pt x="34558" y="96441"/>
                  <a:pt x="32147" y="94030"/>
                  <a:pt x="32147" y="91083"/>
                </a:cubicBezTo>
                <a:lnTo>
                  <a:pt x="32147" y="80367"/>
                </a:lnTo>
                <a:close/>
                <a:moveTo>
                  <a:pt x="80367" y="75009"/>
                </a:moveTo>
                <a:lnTo>
                  <a:pt x="91083" y="75009"/>
                </a:lnTo>
                <a:cubicBezTo>
                  <a:pt x="94030" y="75009"/>
                  <a:pt x="96441" y="77420"/>
                  <a:pt x="96441" y="80367"/>
                </a:cubicBezTo>
                <a:lnTo>
                  <a:pt x="96441" y="91083"/>
                </a:lnTo>
                <a:cubicBezTo>
                  <a:pt x="96441" y="94030"/>
                  <a:pt x="94030" y="96441"/>
                  <a:pt x="91083" y="96441"/>
                </a:cubicBezTo>
                <a:lnTo>
                  <a:pt x="80367" y="96441"/>
                </a:lnTo>
                <a:cubicBezTo>
                  <a:pt x="77420" y="96441"/>
                  <a:pt x="75009" y="94030"/>
                  <a:pt x="75009" y="91083"/>
                </a:cubicBezTo>
                <a:lnTo>
                  <a:pt x="75009" y="80367"/>
                </a:lnTo>
                <a:cubicBezTo>
                  <a:pt x="75009" y="77420"/>
                  <a:pt x="77420" y="75009"/>
                  <a:pt x="80367" y="75009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16" name="Text 14"/>
          <p:cNvSpPr/>
          <p:nvPr/>
        </p:nvSpPr>
        <p:spPr>
          <a:xfrm>
            <a:off x="1000125" y="2886075"/>
            <a:ext cx="8572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0F0F0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商业模式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04825" y="3295650"/>
            <a:ext cx="2916138" cy="2095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D4A373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Scatec分层所有权YieldCo模式（优化版）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23875" y="362902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D4A373"/>
          </a:solidFill>
        </p:spPr>
      </p:sp>
      <p:sp>
        <p:nvSpPr>
          <p:cNvPr id="19" name="Text 17"/>
          <p:cNvSpPr/>
          <p:nvPr/>
        </p:nvSpPr>
        <p:spPr>
          <a:xfrm>
            <a:off x="771525" y="3590925"/>
            <a:ext cx="2924175" cy="2095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D&amp;C利润覆盖资本金 → 降低初始现金出资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23875" y="387667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D4A373"/>
          </a:solidFill>
        </p:spPr>
      </p:sp>
      <p:sp>
        <p:nvSpPr>
          <p:cNvPr id="21" name="Text 19"/>
          <p:cNvSpPr/>
          <p:nvPr/>
        </p:nvSpPr>
        <p:spPr>
          <a:xfrm>
            <a:off x="771525" y="3838575"/>
            <a:ext cx="2419350" cy="2095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51%并表控制权 → 保留运营主导权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23875" y="412432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D4A373"/>
          </a:solidFill>
        </p:spPr>
      </p:sp>
      <p:sp>
        <p:nvSpPr>
          <p:cNvPr id="23" name="Text 21"/>
          <p:cNvSpPr/>
          <p:nvPr/>
        </p:nvSpPr>
        <p:spPr>
          <a:xfrm>
            <a:off x="771525" y="4086225"/>
            <a:ext cx="2686050" cy="2095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多元化退出路径 → 应对REITs监管收紧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385763" y="4538663"/>
            <a:ext cx="5648325" cy="1609725"/>
          </a:xfrm>
          <a:custGeom>
            <a:avLst/>
            <a:gdLst/>
            <a:ahLst/>
            <a:cxnLst/>
            <a:rect l="l" t="t" r="r" b="b"/>
            <a:pathLst>
              <a:path w="5648325" h="1609725">
                <a:moveTo>
                  <a:pt x="76204" y="0"/>
                </a:moveTo>
                <a:lnTo>
                  <a:pt x="5572121" y="0"/>
                </a:lnTo>
                <a:cubicBezTo>
                  <a:pt x="5614207" y="0"/>
                  <a:pt x="5648325" y="34118"/>
                  <a:pt x="5648325" y="76204"/>
                </a:cubicBezTo>
                <a:lnTo>
                  <a:pt x="5648325" y="1533521"/>
                </a:lnTo>
                <a:cubicBezTo>
                  <a:pt x="5648325" y="1575607"/>
                  <a:pt x="5614207" y="1609725"/>
                  <a:pt x="5572121" y="1609725"/>
                </a:cubicBezTo>
                <a:lnTo>
                  <a:pt x="76204" y="1609725"/>
                </a:lnTo>
                <a:cubicBezTo>
                  <a:pt x="34118" y="1609725"/>
                  <a:pt x="0" y="1575607"/>
                  <a:pt x="0" y="1533521"/>
                </a:cubicBezTo>
                <a:lnTo>
                  <a:pt x="0" y="76204"/>
                </a:lnTo>
                <a:cubicBezTo>
                  <a:pt x="0" y="34146"/>
                  <a:pt x="34146" y="0"/>
                  <a:pt x="76204" y="0"/>
                </a:cubicBezTo>
                <a:close/>
              </a:path>
            </a:pathLst>
          </a:custGeom>
          <a:gradFill flip="none" rotWithShape="1">
            <a:gsLst>
              <a:gs pos="0">
                <a:srgbClr val="8D99AE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12700">
            <a:solidFill>
              <a:srgbClr val="8D99AE">
                <a:alpha val="4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04825" y="465772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8D99AE"/>
          </a:solidFill>
        </p:spPr>
      </p:sp>
      <p:sp>
        <p:nvSpPr>
          <p:cNvPr id="26" name="Shape 24"/>
          <p:cNvSpPr/>
          <p:nvPr/>
        </p:nvSpPr>
        <p:spPr>
          <a:xfrm>
            <a:off x="611981" y="4762500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16743" y="95369"/>
                </a:moveTo>
                <a:cubicBezTo>
                  <a:pt x="18150" y="96072"/>
                  <a:pt x="19757" y="96441"/>
                  <a:pt x="21431" y="96441"/>
                </a:cubicBezTo>
                <a:lnTo>
                  <a:pt x="38409" y="96441"/>
                </a:lnTo>
                <a:cubicBezTo>
                  <a:pt x="41255" y="96441"/>
                  <a:pt x="43968" y="97579"/>
                  <a:pt x="45977" y="99588"/>
                </a:cubicBezTo>
                <a:lnTo>
                  <a:pt x="50430" y="104042"/>
                </a:lnTo>
                <a:cubicBezTo>
                  <a:pt x="52440" y="106051"/>
                  <a:pt x="55152" y="107190"/>
                  <a:pt x="57998" y="107190"/>
                </a:cubicBezTo>
                <a:lnTo>
                  <a:pt x="64260" y="107190"/>
                </a:lnTo>
                <a:cubicBezTo>
                  <a:pt x="70187" y="107190"/>
                  <a:pt x="74976" y="102401"/>
                  <a:pt x="74976" y="96474"/>
                </a:cubicBezTo>
                <a:lnTo>
                  <a:pt x="74976" y="83080"/>
                </a:lnTo>
                <a:cubicBezTo>
                  <a:pt x="74976" y="78626"/>
                  <a:pt x="78559" y="75043"/>
                  <a:pt x="83013" y="75043"/>
                </a:cubicBezTo>
                <a:cubicBezTo>
                  <a:pt x="87466" y="75043"/>
                  <a:pt x="91049" y="71460"/>
                  <a:pt x="91049" y="67006"/>
                </a:cubicBezTo>
                <a:lnTo>
                  <a:pt x="91049" y="52707"/>
                </a:lnTo>
                <a:cubicBezTo>
                  <a:pt x="91049" y="49861"/>
                  <a:pt x="92188" y="47149"/>
                  <a:pt x="94197" y="45140"/>
                </a:cubicBezTo>
                <a:lnTo>
                  <a:pt x="98651" y="40686"/>
                </a:lnTo>
                <a:cubicBezTo>
                  <a:pt x="100660" y="38677"/>
                  <a:pt x="101798" y="35964"/>
                  <a:pt x="101798" y="33118"/>
                </a:cubicBezTo>
                <a:lnTo>
                  <a:pt x="101798" y="19087"/>
                </a:lnTo>
                <a:cubicBezTo>
                  <a:pt x="101798" y="18685"/>
                  <a:pt x="101765" y="18317"/>
                  <a:pt x="101731" y="17915"/>
                </a:cubicBezTo>
                <a:cubicBezTo>
                  <a:pt x="96575" y="16710"/>
                  <a:pt x="91217" y="16073"/>
                  <a:pt x="85725" y="16073"/>
                </a:cubicBezTo>
                <a:cubicBezTo>
                  <a:pt x="47249" y="16073"/>
                  <a:pt x="16073" y="47249"/>
                  <a:pt x="16073" y="85725"/>
                </a:cubicBezTo>
                <a:cubicBezTo>
                  <a:pt x="16073" y="89007"/>
                  <a:pt x="16308" y="92221"/>
                  <a:pt x="16743" y="95369"/>
                </a:cubicBezTo>
                <a:close/>
                <a:moveTo>
                  <a:pt x="151794" y="107859"/>
                </a:moveTo>
                <a:cubicBezTo>
                  <a:pt x="150722" y="107391"/>
                  <a:pt x="149550" y="107156"/>
                  <a:pt x="148277" y="107156"/>
                </a:cubicBezTo>
                <a:lnTo>
                  <a:pt x="144661" y="107156"/>
                </a:lnTo>
                <a:cubicBezTo>
                  <a:pt x="141714" y="107156"/>
                  <a:pt x="139303" y="104745"/>
                  <a:pt x="139303" y="101798"/>
                </a:cubicBezTo>
                <a:cubicBezTo>
                  <a:pt x="139303" y="98852"/>
                  <a:pt x="136892" y="96441"/>
                  <a:pt x="133945" y="96441"/>
                </a:cubicBezTo>
                <a:lnTo>
                  <a:pt x="122326" y="96441"/>
                </a:lnTo>
                <a:cubicBezTo>
                  <a:pt x="119479" y="96441"/>
                  <a:pt x="116767" y="97579"/>
                  <a:pt x="114758" y="99588"/>
                </a:cubicBezTo>
                <a:lnTo>
                  <a:pt x="99588" y="114758"/>
                </a:lnTo>
                <a:cubicBezTo>
                  <a:pt x="97579" y="116767"/>
                  <a:pt x="96441" y="119479"/>
                  <a:pt x="96441" y="122326"/>
                </a:cubicBezTo>
                <a:lnTo>
                  <a:pt x="96441" y="128588"/>
                </a:lnTo>
                <a:cubicBezTo>
                  <a:pt x="96441" y="134515"/>
                  <a:pt x="101229" y="139303"/>
                  <a:pt x="107156" y="139303"/>
                </a:cubicBezTo>
                <a:lnTo>
                  <a:pt x="113418" y="139303"/>
                </a:lnTo>
                <a:cubicBezTo>
                  <a:pt x="116265" y="139303"/>
                  <a:pt x="118977" y="140442"/>
                  <a:pt x="120986" y="142451"/>
                </a:cubicBezTo>
                <a:cubicBezTo>
                  <a:pt x="121723" y="143188"/>
                  <a:pt x="122560" y="143824"/>
                  <a:pt x="123431" y="144293"/>
                </a:cubicBezTo>
                <a:cubicBezTo>
                  <a:pt x="136591" y="135787"/>
                  <a:pt x="146704" y="122995"/>
                  <a:pt x="151760" y="107859"/>
                </a:cubicBezTo>
                <a:close/>
                <a:moveTo>
                  <a:pt x="0" y="85725"/>
                </a:moveTo>
                <a:cubicBezTo>
                  <a:pt x="0" y="38412"/>
                  <a:pt x="38412" y="0"/>
                  <a:pt x="85725" y="0"/>
                </a:cubicBezTo>
                <a:cubicBezTo>
                  <a:pt x="133038" y="0"/>
                  <a:pt x="171450" y="38412"/>
                  <a:pt x="171450" y="85725"/>
                </a:cubicBezTo>
                <a:cubicBezTo>
                  <a:pt x="171450" y="133038"/>
                  <a:pt x="133038" y="171450"/>
                  <a:pt x="85725" y="171450"/>
                </a:cubicBezTo>
                <a:cubicBezTo>
                  <a:pt x="38412" y="171450"/>
                  <a:pt x="0" y="133038"/>
                  <a:pt x="0" y="85725"/>
                </a:cubicBezTo>
                <a:close/>
                <a:moveTo>
                  <a:pt x="42863" y="123230"/>
                </a:moveTo>
                <a:cubicBezTo>
                  <a:pt x="42863" y="126176"/>
                  <a:pt x="45274" y="128588"/>
                  <a:pt x="48220" y="128588"/>
                </a:cubicBezTo>
                <a:lnTo>
                  <a:pt x="58936" y="128588"/>
                </a:lnTo>
                <a:cubicBezTo>
                  <a:pt x="61883" y="128588"/>
                  <a:pt x="64294" y="126176"/>
                  <a:pt x="64294" y="123230"/>
                </a:cubicBezTo>
                <a:cubicBezTo>
                  <a:pt x="64294" y="120283"/>
                  <a:pt x="61883" y="117872"/>
                  <a:pt x="58936" y="117872"/>
                </a:cubicBezTo>
                <a:lnTo>
                  <a:pt x="48220" y="117872"/>
                </a:lnTo>
                <a:cubicBezTo>
                  <a:pt x="45274" y="117872"/>
                  <a:pt x="42863" y="120283"/>
                  <a:pt x="42863" y="123230"/>
                </a:cubicBezTo>
                <a:close/>
                <a:moveTo>
                  <a:pt x="91083" y="85725"/>
                </a:moveTo>
                <a:cubicBezTo>
                  <a:pt x="88136" y="85725"/>
                  <a:pt x="85725" y="88136"/>
                  <a:pt x="85725" y="91083"/>
                </a:cubicBezTo>
                <a:lnTo>
                  <a:pt x="85725" y="101798"/>
                </a:lnTo>
                <a:cubicBezTo>
                  <a:pt x="85725" y="104745"/>
                  <a:pt x="88136" y="107156"/>
                  <a:pt x="91083" y="107156"/>
                </a:cubicBezTo>
                <a:cubicBezTo>
                  <a:pt x="94030" y="107156"/>
                  <a:pt x="96441" y="104745"/>
                  <a:pt x="96441" y="101798"/>
                </a:cubicBezTo>
                <a:lnTo>
                  <a:pt x="96441" y="91083"/>
                </a:lnTo>
                <a:cubicBezTo>
                  <a:pt x="96441" y="88136"/>
                  <a:pt x="94030" y="85725"/>
                  <a:pt x="91083" y="85725"/>
                </a:cubicBezTo>
                <a:close/>
                <a:moveTo>
                  <a:pt x="107156" y="48220"/>
                </a:moveTo>
                <a:lnTo>
                  <a:pt x="107156" y="58936"/>
                </a:lnTo>
                <a:cubicBezTo>
                  <a:pt x="107156" y="61883"/>
                  <a:pt x="109567" y="64294"/>
                  <a:pt x="112514" y="64294"/>
                </a:cubicBezTo>
                <a:cubicBezTo>
                  <a:pt x="115461" y="64294"/>
                  <a:pt x="117872" y="61883"/>
                  <a:pt x="117872" y="58936"/>
                </a:cubicBezTo>
                <a:lnTo>
                  <a:pt x="117872" y="48220"/>
                </a:lnTo>
                <a:cubicBezTo>
                  <a:pt x="117872" y="45274"/>
                  <a:pt x="115461" y="42863"/>
                  <a:pt x="112514" y="42863"/>
                </a:cubicBezTo>
                <a:cubicBezTo>
                  <a:pt x="109567" y="42863"/>
                  <a:pt x="107156" y="45274"/>
                  <a:pt x="107156" y="48220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27" name="Text 25"/>
          <p:cNvSpPr/>
          <p:nvPr/>
        </p:nvSpPr>
        <p:spPr>
          <a:xfrm>
            <a:off x="1000125" y="4714875"/>
            <a:ext cx="10477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0F0F0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海外第二步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04825" y="5114925"/>
            <a:ext cx="2667000" cy="914400"/>
          </a:xfrm>
          <a:custGeom>
            <a:avLst/>
            <a:gdLst/>
            <a:ahLst/>
            <a:cxnLst/>
            <a:rect l="l" t="t" r="r" b="b"/>
            <a:pathLst>
              <a:path w="2667000" h="914400">
                <a:moveTo>
                  <a:pt x="76197" y="0"/>
                </a:moveTo>
                <a:lnTo>
                  <a:pt x="2590803" y="0"/>
                </a:lnTo>
                <a:cubicBezTo>
                  <a:pt x="2632885" y="0"/>
                  <a:pt x="2667000" y="34115"/>
                  <a:pt x="2667000" y="76197"/>
                </a:cubicBezTo>
                <a:lnTo>
                  <a:pt x="2667000" y="838203"/>
                </a:lnTo>
                <a:cubicBezTo>
                  <a:pt x="2667000" y="880285"/>
                  <a:pt x="2632885" y="914400"/>
                  <a:pt x="2590803" y="914400"/>
                </a:cubicBezTo>
                <a:lnTo>
                  <a:pt x="76197" y="914400"/>
                </a:lnTo>
                <a:cubicBezTo>
                  <a:pt x="34115" y="914400"/>
                  <a:pt x="0" y="880285"/>
                  <a:pt x="0" y="838203"/>
                </a:cubicBezTo>
                <a:lnTo>
                  <a:pt x="0" y="76197"/>
                </a:lnTo>
                <a:cubicBezTo>
                  <a:pt x="0" y="34143"/>
                  <a:pt x="34143" y="0"/>
                  <a:pt x="76197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</p:spPr>
      </p:sp>
      <p:sp>
        <p:nvSpPr>
          <p:cNvPr id="29" name="Text 27"/>
          <p:cNvSpPr/>
          <p:nvPr/>
        </p:nvSpPr>
        <p:spPr>
          <a:xfrm>
            <a:off x="581025" y="5191125"/>
            <a:ext cx="28575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dirty="0">
                <a:solidFill>
                  <a:srgbClr val="F0F0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🇯🇵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830907" y="5229225"/>
            <a:ext cx="3810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0F0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日本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581025" y="5534025"/>
            <a:ext cx="2590800" cy="4191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60亿美元BESS投资规模，LTDA拍卖20年固定收入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3248025" y="5114925"/>
            <a:ext cx="2667000" cy="914400"/>
          </a:xfrm>
          <a:custGeom>
            <a:avLst/>
            <a:gdLst/>
            <a:ahLst/>
            <a:cxnLst/>
            <a:rect l="l" t="t" r="r" b="b"/>
            <a:pathLst>
              <a:path w="2667000" h="914400">
                <a:moveTo>
                  <a:pt x="76197" y="0"/>
                </a:moveTo>
                <a:lnTo>
                  <a:pt x="2590803" y="0"/>
                </a:lnTo>
                <a:cubicBezTo>
                  <a:pt x="2632885" y="0"/>
                  <a:pt x="2667000" y="34115"/>
                  <a:pt x="2667000" y="76197"/>
                </a:cubicBezTo>
                <a:lnTo>
                  <a:pt x="2667000" y="838203"/>
                </a:lnTo>
                <a:cubicBezTo>
                  <a:pt x="2667000" y="880285"/>
                  <a:pt x="2632885" y="914400"/>
                  <a:pt x="2590803" y="914400"/>
                </a:cubicBezTo>
                <a:lnTo>
                  <a:pt x="76197" y="914400"/>
                </a:lnTo>
                <a:cubicBezTo>
                  <a:pt x="34115" y="914400"/>
                  <a:pt x="0" y="880285"/>
                  <a:pt x="0" y="838203"/>
                </a:cubicBezTo>
                <a:lnTo>
                  <a:pt x="0" y="76197"/>
                </a:lnTo>
                <a:cubicBezTo>
                  <a:pt x="0" y="34143"/>
                  <a:pt x="34143" y="0"/>
                  <a:pt x="76197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</p:spPr>
      </p:sp>
      <p:sp>
        <p:nvSpPr>
          <p:cNvPr id="33" name="Text 31"/>
          <p:cNvSpPr/>
          <p:nvPr/>
        </p:nvSpPr>
        <p:spPr>
          <a:xfrm>
            <a:off x="3324225" y="5191125"/>
            <a:ext cx="371475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dirty="0">
                <a:solidFill>
                  <a:srgbClr val="F0F0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🇲🇾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3656261" y="5229225"/>
            <a:ext cx="685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0F0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马来西亚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3324225" y="5534025"/>
            <a:ext cx="2590800" cy="4191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400MWh储能装机，数据中心驱动需求爆发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157913" y="1223963"/>
            <a:ext cx="5648325" cy="1666875"/>
          </a:xfrm>
          <a:custGeom>
            <a:avLst/>
            <a:gdLst/>
            <a:ahLst/>
            <a:cxnLst/>
            <a:rect l="l" t="t" r="r" b="b"/>
            <a:pathLst>
              <a:path w="5648325" h="1666875">
                <a:moveTo>
                  <a:pt x="76193" y="0"/>
                </a:moveTo>
                <a:lnTo>
                  <a:pt x="5572132" y="0"/>
                </a:lnTo>
                <a:cubicBezTo>
                  <a:pt x="5614184" y="0"/>
                  <a:pt x="5648325" y="34141"/>
                  <a:pt x="5648325" y="76193"/>
                </a:cubicBezTo>
                <a:lnTo>
                  <a:pt x="5648325" y="1590682"/>
                </a:lnTo>
                <a:cubicBezTo>
                  <a:pt x="5648325" y="1632734"/>
                  <a:pt x="5614184" y="1666875"/>
                  <a:pt x="5572132" y="1666875"/>
                </a:cubicBezTo>
                <a:lnTo>
                  <a:pt x="76193" y="1666875"/>
                </a:lnTo>
                <a:cubicBezTo>
                  <a:pt x="34141" y="1666875"/>
                  <a:pt x="0" y="1632734"/>
                  <a:pt x="0" y="1590682"/>
                </a:cubicBezTo>
                <a:lnTo>
                  <a:pt x="0" y="76193"/>
                </a:lnTo>
                <a:cubicBezTo>
                  <a:pt x="0" y="34141"/>
                  <a:pt x="34141" y="0"/>
                  <a:pt x="76193" y="0"/>
                </a:cubicBezTo>
                <a:close/>
              </a:path>
            </a:pathLst>
          </a:custGeom>
          <a:gradFill flip="none" rotWithShape="1">
            <a:gsLst>
              <a:gs pos="0">
                <a:srgbClr val="4A6C8C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12700">
            <a:solidFill>
              <a:srgbClr val="4A6C8C">
                <a:alpha val="40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276975" y="134302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4A6C8C"/>
          </a:solidFill>
        </p:spPr>
      </p:sp>
      <p:sp>
        <p:nvSpPr>
          <p:cNvPr id="38" name="Shape 36"/>
          <p:cNvSpPr/>
          <p:nvPr/>
        </p:nvSpPr>
        <p:spPr>
          <a:xfrm>
            <a:off x="6362700" y="1447800"/>
            <a:ext cx="214313" cy="171450"/>
          </a:xfrm>
          <a:custGeom>
            <a:avLst/>
            <a:gdLst/>
            <a:ahLst/>
            <a:cxnLst/>
            <a:rect l="l" t="t" r="r" b="b"/>
            <a:pathLst>
              <a:path w="214313" h="171450">
                <a:moveTo>
                  <a:pt x="192881" y="16073"/>
                </a:moveTo>
                <a:cubicBezTo>
                  <a:pt x="192881" y="12356"/>
                  <a:pt x="190973" y="8907"/>
                  <a:pt x="187791" y="6965"/>
                </a:cubicBezTo>
                <a:cubicBezTo>
                  <a:pt x="184610" y="5023"/>
                  <a:pt x="180692" y="4822"/>
                  <a:pt x="177377" y="6496"/>
                </a:cubicBezTo>
                <a:lnTo>
                  <a:pt x="138466" y="25952"/>
                </a:lnTo>
                <a:lnTo>
                  <a:pt x="78391" y="5894"/>
                </a:lnTo>
                <a:cubicBezTo>
                  <a:pt x="75679" y="4989"/>
                  <a:pt x="72766" y="5190"/>
                  <a:pt x="70221" y="6463"/>
                </a:cubicBezTo>
                <a:lnTo>
                  <a:pt x="27358" y="27894"/>
                </a:lnTo>
                <a:cubicBezTo>
                  <a:pt x="23708" y="29736"/>
                  <a:pt x="21431" y="33453"/>
                  <a:pt x="21431" y="37505"/>
                </a:cubicBezTo>
                <a:lnTo>
                  <a:pt x="21431" y="155377"/>
                </a:lnTo>
                <a:cubicBezTo>
                  <a:pt x="21431" y="159094"/>
                  <a:pt x="23340" y="162543"/>
                  <a:pt x="26521" y="164485"/>
                </a:cubicBezTo>
                <a:cubicBezTo>
                  <a:pt x="29702" y="166427"/>
                  <a:pt x="33620" y="166628"/>
                  <a:pt x="36935" y="164954"/>
                </a:cubicBezTo>
                <a:lnTo>
                  <a:pt x="75813" y="145498"/>
                </a:lnTo>
                <a:lnTo>
                  <a:pt x="133845" y="164853"/>
                </a:lnTo>
                <a:cubicBezTo>
                  <a:pt x="132405" y="162710"/>
                  <a:pt x="130999" y="160466"/>
                  <a:pt x="129626" y="158189"/>
                </a:cubicBezTo>
                <a:cubicBezTo>
                  <a:pt x="125942" y="152061"/>
                  <a:pt x="122292" y="145029"/>
                  <a:pt x="119580" y="137495"/>
                </a:cubicBezTo>
                <a:lnTo>
                  <a:pt x="85692" y="126210"/>
                </a:lnTo>
                <a:lnTo>
                  <a:pt x="85692" y="30941"/>
                </a:lnTo>
                <a:lnTo>
                  <a:pt x="128554" y="45240"/>
                </a:lnTo>
                <a:lnTo>
                  <a:pt x="128554" y="78492"/>
                </a:lnTo>
                <a:cubicBezTo>
                  <a:pt x="138935" y="66504"/>
                  <a:pt x="154338" y="58936"/>
                  <a:pt x="171417" y="58936"/>
                </a:cubicBezTo>
                <a:cubicBezTo>
                  <a:pt x="178984" y="58936"/>
                  <a:pt x="186217" y="60409"/>
                  <a:pt x="192848" y="63122"/>
                </a:cubicBezTo>
                <a:lnTo>
                  <a:pt x="192881" y="16073"/>
                </a:lnTo>
                <a:close/>
                <a:moveTo>
                  <a:pt x="171450" y="75009"/>
                </a:moveTo>
                <a:cubicBezTo>
                  <a:pt x="149249" y="75009"/>
                  <a:pt x="131266" y="92690"/>
                  <a:pt x="131266" y="114490"/>
                </a:cubicBezTo>
                <a:cubicBezTo>
                  <a:pt x="131266" y="137562"/>
                  <a:pt x="152731" y="164853"/>
                  <a:pt x="164284" y="177879"/>
                </a:cubicBezTo>
                <a:cubicBezTo>
                  <a:pt x="168168" y="182233"/>
                  <a:pt x="174765" y="182233"/>
                  <a:pt x="178650" y="177879"/>
                </a:cubicBezTo>
                <a:cubicBezTo>
                  <a:pt x="190202" y="164853"/>
                  <a:pt x="211667" y="137562"/>
                  <a:pt x="211667" y="114490"/>
                </a:cubicBezTo>
                <a:cubicBezTo>
                  <a:pt x="211667" y="92690"/>
                  <a:pt x="193685" y="75009"/>
                  <a:pt x="171483" y="75009"/>
                </a:cubicBezTo>
                <a:close/>
                <a:moveTo>
                  <a:pt x="158055" y="115193"/>
                </a:moveTo>
                <a:cubicBezTo>
                  <a:pt x="158055" y="107800"/>
                  <a:pt x="164057" y="101798"/>
                  <a:pt x="171450" y="101798"/>
                </a:cubicBezTo>
                <a:cubicBezTo>
                  <a:pt x="178843" y="101798"/>
                  <a:pt x="184845" y="107800"/>
                  <a:pt x="184845" y="115193"/>
                </a:cubicBezTo>
                <a:cubicBezTo>
                  <a:pt x="184845" y="122586"/>
                  <a:pt x="178843" y="128588"/>
                  <a:pt x="171450" y="128588"/>
                </a:cubicBezTo>
                <a:cubicBezTo>
                  <a:pt x="164057" y="128588"/>
                  <a:pt x="158055" y="122586"/>
                  <a:pt x="158055" y="115193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39" name="Text 37"/>
          <p:cNvSpPr/>
          <p:nvPr/>
        </p:nvSpPr>
        <p:spPr>
          <a:xfrm>
            <a:off x="6772275" y="1400175"/>
            <a:ext cx="12382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0F0F0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双轮驱动策略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296025" y="1800225"/>
            <a:ext cx="2647950" cy="971550"/>
          </a:xfrm>
          <a:custGeom>
            <a:avLst/>
            <a:gdLst/>
            <a:ahLst/>
            <a:cxnLst/>
            <a:rect l="l" t="t" r="r" b="b"/>
            <a:pathLst>
              <a:path w="2647950" h="971550">
                <a:moveTo>
                  <a:pt x="38100" y="0"/>
                </a:moveTo>
                <a:lnTo>
                  <a:pt x="2571751" y="0"/>
                </a:lnTo>
                <a:cubicBezTo>
                  <a:pt x="2613835" y="0"/>
                  <a:pt x="2647950" y="34115"/>
                  <a:pt x="2647950" y="76199"/>
                </a:cubicBezTo>
                <a:lnTo>
                  <a:pt x="2647950" y="895351"/>
                </a:lnTo>
                <a:cubicBezTo>
                  <a:pt x="2647950" y="937435"/>
                  <a:pt x="2613835" y="971550"/>
                  <a:pt x="2571751" y="971550"/>
                </a:cubicBezTo>
                <a:lnTo>
                  <a:pt x="38100" y="971550"/>
                </a:lnTo>
                <a:cubicBezTo>
                  <a:pt x="17072" y="971550"/>
                  <a:pt x="0" y="954478"/>
                  <a:pt x="0" y="9334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</p:spPr>
      </p:sp>
      <p:sp>
        <p:nvSpPr>
          <p:cNvPr id="41" name="Shape 39"/>
          <p:cNvSpPr/>
          <p:nvPr/>
        </p:nvSpPr>
        <p:spPr>
          <a:xfrm>
            <a:off x="6296025" y="1800225"/>
            <a:ext cx="38100" cy="971550"/>
          </a:xfrm>
          <a:custGeom>
            <a:avLst/>
            <a:gdLst/>
            <a:ahLst/>
            <a:cxnLst/>
            <a:rect l="l" t="t" r="r" b="b"/>
            <a:pathLst>
              <a:path w="38100" h="971550">
                <a:moveTo>
                  <a:pt x="38100" y="0"/>
                </a:moveTo>
                <a:lnTo>
                  <a:pt x="38100" y="0"/>
                </a:lnTo>
                <a:lnTo>
                  <a:pt x="38100" y="971550"/>
                </a:lnTo>
                <a:lnTo>
                  <a:pt x="38100" y="971550"/>
                </a:lnTo>
                <a:cubicBezTo>
                  <a:pt x="17072" y="971550"/>
                  <a:pt x="0" y="954478"/>
                  <a:pt x="0" y="9334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6C8C"/>
          </a:solidFill>
        </p:spPr>
      </p:sp>
      <p:sp>
        <p:nvSpPr>
          <p:cNvPr id="42" name="Shape 40"/>
          <p:cNvSpPr/>
          <p:nvPr/>
        </p:nvSpPr>
        <p:spPr>
          <a:xfrm>
            <a:off x="6410325" y="191452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9525" y="9525"/>
                </a:moveTo>
                <a:cubicBezTo>
                  <a:pt x="4256" y="9525"/>
                  <a:pt x="0" y="13781"/>
                  <a:pt x="0" y="19050"/>
                </a:cubicBezTo>
                <a:lnTo>
                  <a:pt x="0" y="128588"/>
                </a:lnTo>
                <a:cubicBezTo>
                  <a:pt x="0" y="136475"/>
                  <a:pt x="6400" y="142875"/>
                  <a:pt x="14288" y="142875"/>
                </a:cubicBezTo>
                <a:lnTo>
                  <a:pt x="138113" y="142875"/>
                </a:lnTo>
                <a:cubicBezTo>
                  <a:pt x="146000" y="142875"/>
                  <a:pt x="152400" y="136475"/>
                  <a:pt x="152400" y="128588"/>
                </a:cubicBezTo>
                <a:lnTo>
                  <a:pt x="152400" y="45303"/>
                </a:lnTo>
                <a:cubicBezTo>
                  <a:pt x="152400" y="39886"/>
                  <a:pt x="146625" y="36463"/>
                  <a:pt x="141863" y="39023"/>
                </a:cubicBezTo>
                <a:lnTo>
                  <a:pt x="95250" y="64115"/>
                </a:lnTo>
                <a:lnTo>
                  <a:pt x="95250" y="45303"/>
                </a:lnTo>
                <a:cubicBezTo>
                  <a:pt x="95250" y="39886"/>
                  <a:pt x="89475" y="36463"/>
                  <a:pt x="84713" y="39023"/>
                </a:cubicBezTo>
                <a:lnTo>
                  <a:pt x="38100" y="64115"/>
                </a:lnTo>
                <a:lnTo>
                  <a:pt x="38100" y="19050"/>
                </a:lnTo>
                <a:cubicBezTo>
                  <a:pt x="38100" y="13781"/>
                  <a:pt x="33844" y="9525"/>
                  <a:pt x="28575" y="9525"/>
                </a:cubicBezTo>
                <a:lnTo>
                  <a:pt x="9525" y="9525"/>
                </a:lnTo>
                <a:close/>
              </a:path>
            </a:pathLst>
          </a:custGeom>
          <a:solidFill>
            <a:srgbClr val="4A6C8C"/>
          </a:solidFill>
        </p:spPr>
      </p:sp>
      <p:sp>
        <p:nvSpPr>
          <p:cNvPr id="43" name="Text 41"/>
          <p:cNvSpPr/>
          <p:nvPr/>
        </p:nvSpPr>
        <p:spPr>
          <a:xfrm>
            <a:off x="6657975" y="1876425"/>
            <a:ext cx="533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0F0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长三角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6391275" y="2143125"/>
            <a:ext cx="2552700" cy="2095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上海/浙江：重资产深耕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6391275" y="2390775"/>
            <a:ext cx="942975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D4A373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10-13%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7297787" y="2447925"/>
            <a:ext cx="304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IRR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9039225" y="1800225"/>
            <a:ext cx="2647950" cy="971550"/>
          </a:xfrm>
          <a:custGeom>
            <a:avLst/>
            <a:gdLst/>
            <a:ahLst/>
            <a:cxnLst/>
            <a:rect l="l" t="t" r="r" b="b"/>
            <a:pathLst>
              <a:path w="2647950" h="971550">
                <a:moveTo>
                  <a:pt x="38100" y="0"/>
                </a:moveTo>
                <a:lnTo>
                  <a:pt x="2571751" y="0"/>
                </a:lnTo>
                <a:cubicBezTo>
                  <a:pt x="2613835" y="0"/>
                  <a:pt x="2647950" y="34115"/>
                  <a:pt x="2647950" y="76199"/>
                </a:cubicBezTo>
                <a:lnTo>
                  <a:pt x="2647950" y="895351"/>
                </a:lnTo>
                <a:cubicBezTo>
                  <a:pt x="2647950" y="937435"/>
                  <a:pt x="2613835" y="971550"/>
                  <a:pt x="2571751" y="971550"/>
                </a:cubicBezTo>
                <a:lnTo>
                  <a:pt x="38100" y="971550"/>
                </a:lnTo>
                <a:cubicBezTo>
                  <a:pt x="17072" y="971550"/>
                  <a:pt x="0" y="954478"/>
                  <a:pt x="0" y="9334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</p:spPr>
      </p:sp>
      <p:sp>
        <p:nvSpPr>
          <p:cNvPr id="48" name="Shape 46"/>
          <p:cNvSpPr/>
          <p:nvPr/>
        </p:nvSpPr>
        <p:spPr>
          <a:xfrm>
            <a:off x="9039225" y="1800225"/>
            <a:ext cx="38100" cy="971550"/>
          </a:xfrm>
          <a:custGeom>
            <a:avLst/>
            <a:gdLst/>
            <a:ahLst/>
            <a:cxnLst/>
            <a:rect l="l" t="t" r="r" b="b"/>
            <a:pathLst>
              <a:path w="38100" h="971550">
                <a:moveTo>
                  <a:pt x="38100" y="0"/>
                </a:moveTo>
                <a:lnTo>
                  <a:pt x="38100" y="0"/>
                </a:lnTo>
                <a:lnTo>
                  <a:pt x="38100" y="971550"/>
                </a:lnTo>
                <a:lnTo>
                  <a:pt x="38100" y="971550"/>
                </a:lnTo>
                <a:cubicBezTo>
                  <a:pt x="17072" y="971550"/>
                  <a:pt x="0" y="954478"/>
                  <a:pt x="0" y="9334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4A373"/>
          </a:solidFill>
        </p:spPr>
      </p:sp>
      <p:sp>
        <p:nvSpPr>
          <p:cNvPr id="49" name="Shape 47"/>
          <p:cNvSpPr/>
          <p:nvPr/>
        </p:nvSpPr>
        <p:spPr>
          <a:xfrm>
            <a:off x="9163050" y="1914525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00846" y="-2947"/>
                </a:moveTo>
                <a:cubicBezTo>
                  <a:pt x="104388" y="-387"/>
                  <a:pt x="105698" y="4256"/>
                  <a:pt x="104090" y="8305"/>
                </a:cubicBezTo>
                <a:lnTo>
                  <a:pt x="80754" y="66675"/>
                </a:lnTo>
                <a:lnTo>
                  <a:pt x="123825" y="66675"/>
                </a:lnTo>
                <a:cubicBezTo>
                  <a:pt x="127843" y="66675"/>
                  <a:pt x="131415" y="69175"/>
                  <a:pt x="132784" y="72956"/>
                </a:cubicBezTo>
                <a:cubicBezTo>
                  <a:pt x="134154" y="76736"/>
                  <a:pt x="132993" y="80962"/>
                  <a:pt x="129927" y="83522"/>
                </a:cubicBezTo>
                <a:lnTo>
                  <a:pt x="44202" y="154960"/>
                </a:lnTo>
                <a:cubicBezTo>
                  <a:pt x="40838" y="157758"/>
                  <a:pt x="36046" y="157907"/>
                  <a:pt x="32504" y="155347"/>
                </a:cubicBezTo>
                <a:cubicBezTo>
                  <a:pt x="28962" y="152787"/>
                  <a:pt x="27652" y="148144"/>
                  <a:pt x="29260" y="144095"/>
                </a:cubicBezTo>
                <a:lnTo>
                  <a:pt x="52596" y="85725"/>
                </a:lnTo>
                <a:lnTo>
                  <a:pt x="9525" y="85725"/>
                </a:lnTo>
                <a:cubicBezTo>
                  <a:pt x="5507" y="85725"/>
                  <a:pt x="1935" y="83225"/>
                  <a:pt x="566" y="79444"/>
                </a:cubicBezTo>
                <a:cubicBezTo>
                  <a:pt x="-804" y="75664"/>
                  <a:pt x="357" y="71438"/>
                  <a:pt x="3423" y="68878"/>
                </a:cubicBezTo>
                <a:lnTo>
                  <a:pt x="89148" y="-2560"/>
                </a:lnTo>
                <a:cubicBezTo>
                  <a:pt x="92512" y="-5358"/>
                  <a:pt x="97304" y="-5507"/>
                  <a:pt x="100846" y="-2947"/>
                </a:cubicBezTo>
                <a:close/>
              </a:path>
            </a:pathLst>
          </a:custGeom>
          <a:solidFill>
            <a:srgbClr val="D4A373"/>
          </a:solidFill>
        </p:spPr>
      </p:sp>
      <p:sp>
        <p:nvSpPr>
          <p:cNvPr id="50" name="Text 48"/>
          <p:cNvSpPr/>
          <p:nvPr/>
        </p:nvSpPr>
        <p:spPr>
          <a:xfrm>
            <a:off x="9401175" y="1876425"/>
            <a:ext cx="533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0F0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珠三角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9134475" y="2143125"/>
            <a:ext cx="2552700" cy="2095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广东：轻资产快周转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9134475" y="2390775"/>
            <a:ext cx="942975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D4A373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12-16%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10040987" y="2447925"/>
            <a:ext cx="304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IRR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6157913" y="3014663"/>
            <a:ext cx="5648325" cy="2562225"/>
          </a:xfrm>
          <a:custGeom>
            <a:avLst/>
            <a:gdLst/>
            <a:ahLst/>
            <a:cxnLst/>
            <a:rect l="l" t="t" r="r" b="b"/>
            <a:pathLst>
              <a:path w="5648325" h="2562225">
                <a:moveTo>
                  <a:pt x="76201" y="0"/>
                </a:moveTo>
                <a:lnTo>
                  <a:pt x="5572124" y="0"/>
                </a:lnTo>
                <a:cubicBezTo>
                  <a:pt x="5614181" y="0"/>
                  <a:pt x="5648325" y="34144"/>
                  <a:pt x="5648325" y="76201"/>
                </a:cubicBezTo>
                <a:lnTo>
                  <a:pt x="5648325" y="2486024"/>
                </a:lnTo>
                <a:cubicBezTo>
                  <a:pt x="5648325" y="2528081"/>
                  <a:pt x="5614181" y="2562225"/>
                  <a:pt x="5572124" y="2562225"/>
                </a:cubicBezTo>
                <a:lnTo>
                  <a:pt x="76201" y="2562225"/>
                </a:lnTo>
                <a:cubicBezTo>
                  <a:pt x="34144" y="2562225"/>
                  <a:pt x="0" y="2528081"/>
                  <a:pt x="0" y="2486024"/>
                </a:cubicBezTo>
                <a:lnTo>
                  <a:pt x="0" y="76201"/>
                </a:lnTo>
                <a:cubicBezTo>
                  <a:pt x="0" y="34144"/>
                  <a:pt x="34144" y="0"/>
                  <a:pt x="76201" y="0"/>
                </a:cubicBezTo>
                <a:close/>
              </a:path>
            </a:pathLst>
          </a:custGeom>
          <a:gradFill flip="none" rotWithShape="1">
            <a:gsLst>
              <a:gs pos="0">
                <a:srgbClr val="D4A373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12700">
            <a:solidFill>
              <a:srgbClr val="D4A373">
                <a:alpha val="4000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276975" y="313372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D4A373"/>
          </a:solidFill>
        </p:spPr>
      </p:sp>
      <p:sp>
        <p:nvSpPr>
          <p:cNvPr id="56" name="Shape 54"/>
          <p:cNvSpPr/>
          <p:nvPr/>
        </p:nvSpPr>
        <p:spPr>
          <a:xfrm>
            <a:off x="6384131" y="3238500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0"/>
                </a:moveTo>
                <a:cubicBezTo>
                  <a:pt x="87265" y="0"/>
                  <a:pt x="88806" y="335"/>
                  <a:pt x="90212" y="971"/>
                </a:cubicBezTo>
                <a:lnTo>
                  <a:pt x="153300" y="27727"/>
                </a:lnTo>
                <a:cubicBezTo>
                  <a:pt x="160667" y="30841"/>
                  <a:pt x="166159" y="38107"/>
                  <a:pt x="166126" y="46881"/>
                </a:cubicBezTo>
                <a:cubicBezTo>
                  <a:pt x="165958" y="80099"/>
                  <a:pt x="152296" y="140877"/>
                  <a:pt x="94599" y="168503"/>
                </a:cubicBezTo>
                <a:cubicBezTo>
                  <a:pt x="89007" y="171182"/>
                  <a:pt x="82510" y="171182"/>
                  <a:pt x="76918" y="168503"/>
                </a:cubicBezTo>
                <a:cubicBezTo>
                  <a:pt x="19188" y="140877"/>
                  <a:pt x="5559" y="80099"/>
                  <a:pt x="5391" y="46881"/>
                </a:cubicBezTo>
                <a:cubicBezTo>
                  <a:pt x="5358" y="38107"/>
                  <a:pt x="10850" y="30841"/>
                  <a:pt x="18217" y="27727"/>
                </a:cubicBezTo>
                <a:lnTo>
                  <a:pt x="81271" y="971"/>
                </a:lnTo>
                <a:cubicBezTo>
                  <a:pt x="82678" y="335"/>
                  <a:pt x="84185" y="0"/>
                  <a:pt x="85725" y="0"/>
                </a:cubicBezTo>
                <a:close/>
                <a:moveTo>
                  <a:pt x="85725" y="22369"/>
                </a:moveTo>
                <a:lnTo>
                  <a:pt x="85725" y="148981"/>
                </a:lnTo>
                <a:cubicBezTo>
                  <a:pt x="131936" y="126612"/>
                  <a:pt x="144360" y="77052"/>
                  <a:pt x="144661" y="47383"/>
                </a:cubicBezTo>
                <a:lnTo>
                  <a:pt x="85725" y="22402"/>
                </a:lnTo>
                <a:lnTo>
                  <a:pt x="85725" y="22402"/>
                </a:lnTo>
                <a:close/>
              </a:path>
            </a:pathLst>
          </a:custGeom>
          <a:solidFill>
            <a:srgbClr val="FFFFFF"/>
          </a:solidFill>
        </p:spPr>
      </p:sp>
      <p:sp>
        <p:nvSpPr>
          <p:cNvPr id="57" name="Text 55"/>
          <p:cNvSpPr/>
          <p:nvPr/>
        </p:nvSpPr>
        <p:spPr>
          <a:xfrm>
            <a:off x="6772275" y="3190875"/>
            <a:ext cx="8572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0F0F0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核心壁垒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6296025" y="3590925"/>
            <a:ext cx="5391150" cy="628650"/>
          </a:xfrm>
          <a:custGeom>
            <a:avLst/>
            <a:gdLst/>
            <a:ahLst/>
            <a:cxnLst/>
            <a:rect l="l" t="t" r="r" b="b"/>
            <a:pathLst>
              <a:path w="5391150" h="628650">
                <a:moveTo>
                  <a:pt x="38100" y="0"/>
                </a:moveTo>
                <a:lnTo>
                  <a:pt x="5314951" y="0"/>
                </a:lnTo>
                <a:cubicBezTo>
                  <a:pt x="5357035" y="0"/>
                  <a:pt x="5391150" y="34115"/>
                  <a:pt x="5391150" y="76199"/>
                </a:cubicBezTo>
                <a:lnTo>
                  <a:pt x="5391150" y="552451"/>
                </a:lnTo>
                <a:cubicBezTo>
                  <a:pt x="5391150" y="594535"/>
                  <a:pt x="5357035" y="628650"/>
                  <a:pt x="5314951" y="628650"/>
                </a:cubicBezTo>
                <a:lnTo>
                  <a:pt x="38100" y="628650"/>
                </a:lnTo>
                <a:cubicBezTo>
                  <a:pt x="17072" y="628650"/>
                  <a:pt x="0" y="611578"/>
                  <a:pt x="0" y="5905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</p:spPr>
      </p:sp>
      <p:sp>
        <p:nvSpPr>
          <p:cNvPr id="59" name="Shape 57"/>
          <p:cNvSpPr/>
          <p:nvPr/>
        </p:nvSpPr>
        <p:spPr>
          <a:xfrm>
            <a:off x="6296025" y="3590925"/>
            <a:ext cx="38100" cy="628650"/>
          </a:xfrm>
          <a:custGeom>
            <a:avLst/>
            <a:gdLst/>
            <a:ahLst/>
            <a:cxnLst/>
            <a:rect l="l" t="t" r="r" b="b"/>
            <a:pathLst>
              <a:path w="38100" h="628650">
                <a:moveTo>
                  <a:pt x="38100" y="0"/>
                </a:moveTo>
                <a:lnTo>
                  <a:pt x="38100" y="0"/>
                </a:lnTo>
                <a:lnTo>
                  <a:pt x="38100" y="628650"/>
                </a:lnTo>
                <a:lnTo>
                  <a:pt x="38100" y="628650"/>
                </a:lnTo>
                <a:cubicBezTo>
                  <a:pt x="17072" y="628650"/>
                  <a:pt x="0" y="611578"/>
                  <a:pt x="0" y="5905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6C8C"/>
          </a:solidFill>
        </p:spPr>
      </p:sp>
      <p:sp>
        <p:nvSpPr>
          <p:cNvPr id="60" name="Shape 58"/>
          <p:cNvSpPr/>
          <p:nvPr/>
        </p:nvSpPr>
        <p:spPr>
          <a:xfrm>
            <a:off x="6415088" y="3695700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58936" y="8037"/>
                </a:moveTo>
                <a:cubicBezTo>
                  <a:pt x="58936" y="3583"/>
                  <a:pt x="55353" y="0"/>
                  <a:pt x="50899" y="0"/>
                </a:cubicBezTo>
                <a:cubicBezTo>
                  <a:pt x="46446" y="0"/>
                  <a:pt x="42863" y="3583"/>
                  <a:pt x="42863" y="8037"/>
                </a:cubicBezTo>
                <a:lnTo>
                  <a:pt x="42863" y="21431"/>
                </a:lnTo>
                <a:cubicBezTo>
                  <a:pt x="31042" y="21431"/>
                  <a:pt x="21431" y="31042"/>
                  <a:pt x="21431" y="42863"/>
                </a:cubicBezTo>
                <a:lnTo>
                  <a:pt x="8037" y="42863"/>
                </a:lnTo>
                <a:cubicBezTo>
                  <a:pt x="3583" y="42863"/>
                  <a:pt x="0" y="46446"/>
                  <a:pt x="0" y="50899"/>
                </a:cubicBezTo>
                <a:cubicBezTo>
                  <a:pt x="0" y="55353"/>
                  <a:pt x="3583" y="58936"/>
                  <a:pt x="8037" y="58936"/>
                </a:cubicBezTo>
                <a:lnTo>
                  <a:pt x="21431" y="58936"/>
                </a:lnTo>
                <a:lnTo>
                  <a:pt x="21431" y="77688"/>
                </a:lnTo>
                <a:lnTo>
                  <a:pt x="8037" y="77688"/>
                </a:lnTo>
                <a:cubicBezTo>
                  <a:pt x="3583" y="77688"/>
                  <a:pt x="0" y="81271"/>
                  <a:pt x="0" y="85725"/>
                </a:cubicBezTo>
                <a:cubicBezTo>
                  <a:pt x="0" y="90179"/>
                  <a:pt x="3583" y="93762"/>
                  <a:pt x="8037" y="93762"/>
                </a:cubicBezTo>
                <a:lnTo>
                  <a:pt x="21431" y="93762"/>
                </a:lnTo>
                <a:lnTo>
                  <a:pt x="21431" y="112514"/>
                </a:lnTo>
                <a:lnTo>
                  <a:pt x="8037" y="112514"/>
                </a:lnTo>
                <a:cubicBezTo>
                  <a:pt x="3583" y="112514"/>
                  <a:pt x="0" y="116097"/>
                  <a:pt x="0" y="120551"/>
                </a:cubicBezTo>
                <a:cubicBezTo>
                  <a:pt x="0" y="125004"/>
                  <a:pt x="3583" y="128588"/>
                  <a:pt x="8037" y="128588"/>
                </a:cubicBezTo>
                <a:lnTo>
                  <a:pt x="21431" y="128588"/>
                </a:lnTo>
                <a:cubicBezTo>
                  <a:pt x="21431" y="140408"/>
                  <a:pt x="31042" y="150019"/>
                  <a:pt x="42863" y="150019"/>
                </a:cubicBezTo>
                <a:lnTo>
                  <a:pt x="42863" y="163413"/>
                </a:lnTo>
                <a:cubicBezTo>
                  <a:pt x="42863" y="167867"/>
                  <a:pt x="46446" y="171450"/>
                  <a:pt x="50899" y="171450"/>
                </a:cubicBezTo>
                <a:cubicBezTo>
                  <a:pt x="55353" y="171450"/>
                  <a:pt x="58936" y="167867"/>
                  <a:pt x="58936" y="163413"/>
                </a:cubicBezTo>
                <a:lnTo>
                  <a:pt x="58936" y="150019"/>
                </a:lnTo>
                <a:lnTo>
                  <a:pt x="77688" y="150019"/>
                </a:lnTo>
                <a:lnTo>
                  <a:pt x="77688" y="163413"/>
                </a:lnTo>
                <a:cubicBezTo>
                  <a:pt x="77688" y="167867"/>
                  <a:pt x="81271" y="171450"/>
                  <a:pt x="85725" y="171450"/>
                </a:cubicBezTo>
                <a:cubicBezTo>
                  <a:pt x="90179" y="171450"/>
                  <a:pt x="93762" y="167867"/>
                  <a:pt x="93762" y="163413"/>
                </a:cubicBezTo>
                <a:lnTo>
                  <a:pt x="93762" y="150019"/>
                </a:lnTo>
                <a:lnTo>
                  <a:pt x="112514" y="150019"/>
                </a:lnTo>
                <a:lnTo>
                  <a:pt x="112514" y="163413"/>
                </a:lnTo>
                <a:cubicBezTo>
                  <a:pt x="112514" y="167867"/>
                  <a:pt x="116097" y="171450"/>
                  <a:pt x="120551" y="171450"/>
                </a:cubicBezTo>
                <a:cubicBezTo>
                  <a:pt x="125004" y="171450"/>
                  <a:pt x="128588" y="167867"/>
                  <a:pt x="128588" y="163413"/>
                </a:cubicBezTo>
                <a:lnTo>
                  <a:pt x="128588" y="150019"/>
                </a:lnTo>
                <a:cubicBezTo>
                  <a:pt x="140408" y="150019"/>
                  <a:pt x="150019" y="140408"/>
                  <a:pt x="150019" y="128588"/>
                </a:cubicBezTo>
                <a:lnTo>
                  <a:pt x="163413" y="128588"/>
                </a:lnTo>
                <a:cubicBezTo>
                  <a:pt x="167867" y="128588"/>
                  <a:pt x="171450" y="125004"/>
                  <a:pt x="171450" y="120551"/>
                </a:cubicBezTo>
                <a:cubicBezTo>
                  <a:pt x="171450" y="116097"/>
                  <a:pt x="167867" y="112514"/>
                  <a:pt x="163413" y="112514"/>
                </a:cubicBezTo>
                <a:lnTo>
                  <a:pt x="150019" y="112514"/>
                </a:lnTo>
                <a:lnTo>
                  <a:pt x="150019" y="93762"/>
                </a:lnTo>
                <a:lnTo>
                  <a:pt x="163413" y="93762"/>
                </a:lnTo>
                <a:cubicBezTo>
                  <a:pt x="167867" y="93762"/>
                  <a:pt x="171450" y="90179"/>
                  <a:pt x="171450" y="85725"/>
                </a:cubicBezTo>
                <a:cubicBezTo>
                  <a:pt x="171450" y="81271"/>
                  <a:pt x="167867" y="77688"/>
                  <a:pt x="163413" y="77688"/>
                </a:cubicBezTo>
                <a:lnTo>
                  <a:pt x="150019" y="77688"/>
                </a:lnTo>
                <a:lnTo>
                  <a:pt x="150019" y="58936"/>
                </a:lnTo>
                <a:lnTo>
                  <a:pt x="163413" y="58936"/>
                </a:lnTo>
                <a:cubicBezTo>
                  <a:pt x="167867" y="58936"/>
                  <a:pt x="171450" y="55353"/>
                  <a:pt x="171450" y="50899"/>
                </a:cubicBezTo>
                <a:cubicBezTo>
                  <a:pt x="171450" y="46446"/>
                  <a:pt x="167867" y="42863"/>
                  <a:pt x="163413" y="42863"/>
                </a:cubicBezTo>
                <a:lnTo>
                  <a:pt x="150019" y="42863"/>
                </a:lnTo>
                <a:cubicBezTo>
                  <a:pt x="150019" y="31042"/>
                  <a:pt x="140408" y="21431"/>
                  <a:pt x="128588" y="21431"/>
                </a:cubicBezTo>
                <a:lnTo>
                  <a:pt x="128588" y="8037"/>
                </a:lnTo>
                <a:cubicBezTo>
                  <a:pt x="128588" y="3583"/>
                  <a:pt x="125004" y="0"/>
                  <a:pt x="120551" y="0"/>
                </a:cubicBezTo>
                <a:cubicBezTo>
                  <a:pt x="116097" y="0"/>
                  <a:pt x="112514" y="3583"/>
                  <a:pt x="112514" y="8037"/>
                </a:cubicBezTo>
                <a:lnTo>
                  <a:pt x="112514" y="21431"/>
                </a:lnTo>
                <a:lnTo>
                  <a:pt x="93762" y="21431"/>
                </a:lnTo>
                <a:lnTo>
                  <a:pt x="93762" y="8037"/>
                </a:lnTo>
                <a:cubicBezTo>
                  <a:pt x="93762" y="3583"/>
                  <a:pt x="90179" y="0"/>
                  <a:pt x="85725" y="0"/>
                </a:cubicBezTo>
                <a:cubicBezTo>
                  <a:pt x="81271" y="0"/>
                  <a:pt x="77688" y="3583"/>
                  <a:pt x="77688" y="8037"/>
                </a:cubicBezTo>
                <a:lnTo>
                  <a:pt x="77688" y="21431"/>
                </a:lnTo>
                <a:lnTo>
                  <a:pt x="58936" y="21431"/>
                </a:lnTo>
                <a:lnTo>
                  <a:pt x="58936" y="8037"/>
                </a:lnTo>
                <a:close/>
                <a:moveTo>
                  <a:pt x="53578" y="42863"/>
                </a:moveTo>
                <a:lnTo>
                  <a:pt x="117872" y="42863"/>
                </a:lnTo>
                <a:cubicBezTo>
                  <a:pt x="123799" y="42863"/>
                  <a:pt x="128588" y="47651"/>
                  <a:pt x="128588" y="53578"/>
                </a:cubicBezTo>
                <a:lnTo>
                  <a:pt x="128588" y="117872"/>
                </a:lnTo>
                <a:cubicBezTo>
                  <a:pt x="128588" y="123799"/>
                  <a:pt x="123799" y="128588"/>
                  <a:pt x="117872" y="128588"/>
                </a:cubicBezTo>
                <a:lnTo>
                  <a:pt x="53578" y="128588"/>
                </a:lnTo>
                <a:cubicBezTo>
                  <a:pt x="47651" y="128588"/>
                  <a:pt x="42863" y="123799"/>
                  <a:pt x="42863" y="117872"/>
                </a:cubicBezTo>
                <a:lnTo>
                  <a:pt x="42863" y="53578"/>
                </a:lnTo>
                <a:cubicBezTo>
                  <a:pt x="42863" y="47651"/>
                  <a:pt x="47651" y="42863"/>
                  <a:pt x="53578" y="42863"/>
                </a:cubicBezTo>
                <a:close/>
                <a:moveTo>
                  <a:pt x="58936" y="58936"/>
                </a:moveTo>
                <a:lnTo>
                  <a:pt x="58936" y="112514"/>
                </a:lnTo>
                <a:lnTo>
                  <a:pt x="112514" y="112514"/>
                </a:lnTo>
                <a:lnTo>
                  <a:pt x="112514" y="58936"/>
                </a:lnTo>
                <a:lnTo>
                  <a:pt x="58936" y="58936"/>
                </a:lnTo>
                <a:close/>
              </a:path>
            </a:pathLst>
          </a:custGeom>
          <a:solidFill>
            <a:srgbClr val="4A6C8C"/>
          </a:solidFill>
        </p:spPr>
      </p:sp>
      <p:sp>
        <p:nvSpPr>
          <p:cNvPr id="61" name="Text 59"/>
          <p:cNvSpPr/>
          <p:nvPr/>
        </p:nvSpPr>
        <p:spPr>
          <a:xfrm>
            <a:off x="6681788" y="3667125"/>
            <a:ext cx="15335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0F0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硬科技：高压级联SiC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6391275" y="3933825"/>
            <a:ext cx="5295900" cy="2095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转换效率</a:t>
            </a:r>
            <a:r>
              <a:rPr lang="en-US" sz="1200" b="1" dirty="0">
                <a:solidFill>
                  <a:srgbClr val="D4A373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98.5%</a:t>
            </a:r>
            <a:r>
              <a:rPr lang="en-US" sz="120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，行业领先</a:t>
            </a:r>
            <a:endParaRPr lang="en-US" sz="1600" dirty="0"/>
          </a:p>
        </p:txBody>
      </p:sp>
      <p:sp>
        <p:nvSpPr>
          <p:cNvPr id="63" name="Shape 61"/>
          <p:cNvSpPr/>
          <p:nvPr/>
        </p:nvSpPr>
        <p:spPr>
          <a:xfrm>
            <a:off x="6296025" y="4295775"/>
            <a:ext cx="5391150" cy="628650"/>
          </a:xfrm>
          <a:custGeom>
            <a:avLst/>
            <a:gdLst/>
            <a:ahLst/>
            <a:cxnLst/>
            <a:rect l="l" t="t" r="r" b="b"/>
            <a:pathLst>
              <a:path w="5391150" h="628650">
                <a:moveTo>
                  <a:pt x="38100" y="0"/>
                </a:moveTo>
                <a:lnTo>
                  <a:pt x="5314951" y="0"/>
                </a:lnTo>
                <a:cubicBezTo>
                  <a:pt x="5357035" y="0"/>
                  <a:pt x="5391150" y="34115"/>
                  <a:pt x="5391150" y="76199"/>
                </a:cubicBezTo>
                <a:lnTo>
                  <a:pt x="5391150" y="552451"/>
                </a:lnTo>
                <a:cubicBezTo>
                  <a:pt x="5391150" y="594535"/>
                  <a:pt x="5357035" y="628650"/>
                  <a:pt x="5314951" y="628650"/>
                </a:cubicBezTo>
                <a:lnTo>
                  <a:pt x="38100" y="628650"/>
                </a:lnTo>
                <a:cubicBezTo>
                  <a:pt x="17072" y="628650"/>
                  <a:pt x="0" y="611578"/>
                  <a:pt x="0" y="5905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</p:spPr>
      </p:sp>
      <p:sp>
        <p:nvSpPr>
          <p:cNvPr id="64" name="Shape 62"/>
          <p:cNvSpPr/>
          <p:nvPr/>
        </p:nvSpPr>
        <p:spPr>
          <a:xfrm>
            <a:off x="6296025" y="4295775"/>
            <a:ext cx="38100" cy="628650"/>
          </a:xfrm>
          <a:custGeom>
            <a:avLst/>
            <a:gdLst/>
            <a:ahLst/>
            <a:cxnLst/>
            <a:rect l="l" t="t" r="r" b="b"/>
            <a:pathLst>
              <a:path w="38100" h="628650">
                <a:moveTo>
                  <a:pt x="38100" y="0"/>
                </a:moveTo>
                <a:lnTo>
                  <a:pt x="38100" y="0"/>
                </a:lnTo>
                <a:lnTo>
                  <a:pt x="38100" y="628650"/>
                </a:lnTo>
                <a:lnTo>
                  <a:pt x="38100" y="628650"/>
                </a:lnTo>
                <a:cubicBezTo>
                  <a:pt x="17072" y="628650"/>
                  <a:pt x="0" y="611578"/>
                  <a:pt x="0" y="5905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4A373"/>
          </a:solidFill>
        </p:spPr>
      </p:sp>
      <p:sp>
        <p:nvSpPr>
          <p:cNvPr id="65" name="Shape 63"/>
          <p:cNvSpPr/>
          <p:nvPr/>
        </p:nvSpPr>
        <p:spPr>
          <a:xfrm>
            <a:off x="6415088" y="4400550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40184" y="18752"/>
                </a:moveTo>
                <a:cubicBezTo>
                  <a:pt x="40184" y="8405"/>
                  <a:pt x="48589" y="0"/>
                  <a:pt x="58936" y="0"/>
                </a:cubicBezTo>
                <a:lnTo>
                  <a:pt x="66973" y="0"/>
                </a:lnTo>
                <a:cubicBezTo>
                  <a:pt x="72900" y="0"/>
                  <a:pt x="77688" y="4789"/>
                  <a:pt x="77688" y="10716"/>
                </a:cubicBezTo>
                <a:lnTo>
                  <a:pt x="77688" y="160734"/>
                </a:lnTo>
                <a:cubicBezTo>
                  <a:pt x="77688" y="166661"/>
                  <a:pt x="72900" y="171450"/>
                  <a:pt x="66973" y="171450"/>
                </a:cubicBezTo>
                <a:lnTo>
                  <a:pt x="56257" y="171450"/>
                </a:lnTo>
                <a:cubicBezTo>
                  <a:pt x="46278" y="171450"/>
                  <a:pt x="37873" y="164619"/>
                  <a:pt x="35496" y="155377"/>
                </a:cubicBezTo>
                <a:cubicBezTo>
                  <a:pt x="35261" y="155377"/>
                  <a:pt x="35060" y="155377"/>
                  <a:pt x="34826" y="155377"/>
                </a:cubicBezTo>
                <a:cubicBezTo>
                  <a:pt x="20025" y="155377"/>
                  <a:pt x="8037" y="143388"/>
                  <a:pt x="8037" y="128588"/>
                </a:cubicBezTo>
                <a:cubicBezTo>
                  <a:pt x="8037" y="122560"/>
                  <a:pt x="10046" y="117001"/>
                  <a:pt x="13395" y="112514"/>
                </a:cubicBezTo>
                <a:cubicBezTo>
                  <a:pt x="6898" y="107625"/>
                  <a:pt x="2679" y="99856"/>
                  <a:pt x="2679" y="91083"/>
                </a:cubicBezTo>
                <a:cubicBezTo>
                  <a:pt x="2679" y="80736"/>
                  <a:pt x="8573" y="71728"/>
                  <a:pt x="17145" y="67274"/>
                </a:cubicBezTo>
                <a:cubicBezTo>
                  <a:pt x="14767" y="63256"/>
                  <a:pt x="13395" y="58568"/>
                  <a:pt x="13395" y="53578"/>
                </a:cubicBezTo>
                <a:cubicBezTo>
                  <a:pt x="13395" y="38777"/>
                  <a:pt x="25383" y="26789"/>
                  <a:pt x="40184" y="26789"/>
                </a:cubicBezTo>
                <a:lnTo>
                  <a:pt x="40184" y="18752"/>
                </a:lnTo>
                <a:close/>
                <a:moveTo>
                  <a:pt x="131266" y="18752"/>
                </a:moveTo>
                <a:lnTo>
                  <a:pt x="131266" y="26789"/>
                </a:lnTo>
                <a:cubicBezTo>
                  <a:pt x="146067" y="26789"/>
                  <a:pt x="158055" y="38777"/>
                  <a:pt x="158055" y="53578"/>
                </a:cubicBezTo>
                <a:cubicBezTo>
                  <a:pt x="158055" y="58601"/>
                  <a:pt x="156683" y="63289"/>
                  <a:pt x="154305" y="67274"/>
                </a:cubicBezTo>
                <a:cubicBezTo>
                  <a:pt x="162911" y="71728"/>
                  <a:pt x="168771" y="80702"/>
                  <a:pt x="168771" y="91083"/>
                </a:cubicBezTo>
                <a:cubicBezTo>
                  <a:pt x="168771" y="99856"/>
                  <a:pt x="164552" y="107625"/>
                  <a:pt x="158055" y="112514"/>
                </a:cubicBezTo>
                <a:cubicBezTo>
                  <a:pt x="161404" y="117001"/>
                  <a:pt x="163413" y="122560"/>
                  <a:pt x="163413" y="128588"/>
                </a:cubicBezTo>
                <a:cubicBezTo>
                  <a:pt x="163413" y="143388"/>
                  <a:pt x="151425" y="155377"/>
                  <a:pt x="136624" y="155377"/>
                </a:cubicBezTo>
                <a:cubicBezTo>
                  <a:pt x="136390" y="155377"/>
                  <a:pt x="136189" y="155377"/>
                  <a:pt x="135954" y="155377"/>
                </a:cubicBezTo>
                <a:cubicBezTo>
                  <a:pt x="133577" y="164619"/>
                  <a:pt x="125172" y="171450"/>
                  <a:pt x="115193" y="171450"/>
                </a:cubicBezTo>
                <a:lnTo>
                  <a:pt x="104477" y="171450"/>
                </a:lnTo>
                <a:cubicBezTo>
                  <a:pt x="98550" y="171450"/>
                  <a:pt x="93762" y="166661"/>
                  <a:pt x="93762" y="160734"/>
                </a:cubicBezTo>
                <a:lnTo>
                  <a:pt x="93762" y="10716"/>
                </a:lnTo>
                <a:cubicBezTo>
                  <a:pt x="93762" y="4789"/>
                  <a:pt x="98550" y="0"/>
                  <a:pt x="104477" y="0"/>
                </a:cubicBezTo>
                <a:lnTo>
                  <a:pt x="112514" y="0"/>
                </a:lnTo>
                <a:cubicBezTo>
                  <a:pt x="122861" y="0"/>
                  <a:pt x="131266" y="8405"/>
                  <a:pt x="131266" y="18752"/>
                </a:cubicBezTo>
                <a:close/>
              </a:path>
            </a:pathLst>
          </a:custGeom>
          <a:solidFill>
            <a:srgbClr val="D4A373"/>
          </a:solidFill>
        </p:spPr>
      </p:sp>
      <p:sp>
        <p:nvSpPr>
          <p:cNvPr id="66" name="Text 64"/>
          <p:cNvSpPr/>
          <p:nvPr/>
        </p:nvSpPr>
        <p:spPr>
          <a:xfrm>
            <a:off x="6681788" y="4371975"/>
            <a:ext cx="14287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0F0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软算法：AI双层优化</a:t>
            </a:r>
            <a:endParaRPr lang="en-US" sz="1600" dirty="0"/>
          </a:p>
        </p:txBody>
      </p:sp>
      <p:sp>
        <p:nvSpPr>
          <p:cNvPr id="67" name="Text 65"/>
          <p:cNvSpPr/>
          <p:nvPr/>
        </p:nvSpPr>
        <p:spPr>
          <a:xfrm>
            <a:off x="6391275" y="4638675"/>
            <a:ext cx="5295900" cy="2095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预期收益提升</a:t>
            </a:r>
            <a:r>
              <a:rPr lang="en-US" sz="1200" b="1" dirty="0">
                <a:solidFill>
                  <a:srgbClr val="D4A373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10-15%</a:t>
            </a:r>
            <a:endParaRPr lang="en-US" sz="1600" dirty="0"/>
          </a:p>
        </p:txBody>
      </p:sp>
      <p:sp>
        <p:nvSpPr>
          <p:cNvPr id="68" name="Shape 66"/>
          <p:cNvSpPr/>
          <p:nvPr/>
        </p:nvSpPr>
        <p:spPr>
          <a:xfrm>
            <a:off x="6157913" y="5700713"/>
            <a:ext cx="5648325" cy="771525"/>
          </a:xfrm>
          <a:custGeom>
            <a:avLst/>
            <a:gdLst/>
            <a:ahLst/>
            <a:cxnLst/>
            <a:rect l="l" t="t" r="r" b="b"/>
            <a:pathLst>
              <a:path w="5648325" h="771525">
                <a:moveTo>
                  <a:pt x="76204" y="0"/>
                </a:moveTo>
                <a:lnTo>
                  <a:pt x="5572121" y="0"/>
                </a:lnTo>
                <a:cubicBezTo>
                  <a:pt x="5614208" y="0"/>
                  <a:pt x="5648325" y="34117"/>
                  <a:pt x="5648325" y="76204"/>
                </a:cubicBezTo>
                <a:lnTo>
                  <a:pt x="5648325" y="695321"/>
                </a:lnTo>
                <a:cubicBezTo>
                  <a:pt x="5648325" y="737408"/>
                  <a:pt x="5614208" y="771525"/>
                  <a:pt x="5572121" y="771525"/>
                </a:cubicBezTo>
                <a:lnTo>
                  <a:pt x="76204" y="771525"/>
                </a:lnTo>
                <a:cubicBezTo>
                  <a:pt x="34117" y="771525"/>
                  <a:pt x="0" y="737408"/>
                  <a:pt x="0" y="695321"/>
                </a:cubicBezTo>
                <a:lnTo>
                  <a:pt x="0" y="76204"/>
                </a:lnTo>
                <a:cubicBezTo>
                  <a:pt x="0" y="34146"/>
                  <a:pt x="34146" y="0"/>
                  <a:pt x="76204" y="0"/>
                </a:cubicBezTo>
                <a:close/>
              </a:path>
            </a:pathLst>
          </a:custGeom>
          <a:gradFill flip="none" rotWithShape="1">
            <a:gsLst>
              <a:gs pos="0">
                <a:srgbClr val="4A6C8C">
                  <a:alpha val="30000"/>
                </a:srgbClr>
              </a:gs>
              <a:gs pos="100000">
                <a:srgbClr val="D4A373">
                  <a:alpha val="30000"/>
                </a:srgbClr>
              </a:gs>
            </a:gsLst>
            <a:lin ang="0" scaled="1"/>
          </a:gradFill>
          <a:ln w="12700">
            <a:solidFill>
              <a:srgbClr val="D4A373">
                <a:alpha val="50196"/>
              </a:srgbClr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6276975" y="5819775"/>
            <a:ext cx="18669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市场窗口期</a:t>
            </a:r>
            <a:endParaRPr lang="en-US" sz="1600" dirty="0"/>
          </a:p>
        </p:txBody>
      </p:sp>
      <p:sp>
        <p:nvSpPr>
          <p:cNvPr id="70" name="Text 68"/>
          <p:cNvSpPr/>
          <p:nvPr/>
        </p:nvSpPr>
        <p:spPr>
          <a:xfrm>
            <a:off x="6276975" y="6086475"/>
            <a:ext cx="18859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0F0F0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2026-2029 关键四年</a:t>
            </a:r>
            <a:endParaRPr lang="en-US" sz="1600" dirty="0"/>
          </a:p>
        </p:txBody>
      </p:sp>
      <p:sp>
        <p:nvSpPr>
          <p:cNvPr id="71" name="Text 69"/>
          <p:cNvSpPr/>
          <p:nvPr/>
        </p:nvSpPr>
        <p:spPr>
          <a:xfrm>
            <a:off x="9928473" y="5819775"/>
            <a:ext cx="17621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战略节奏</a:t>
            </a:r>
            <a:endParaRPr lang="en-US" sz="1600" dirty="0"/>
          </a:p>
        </p:txBody>
      </p:sp>
      <p:sp>
        <p:nvSpPr>
          <p:cNvPr id="72" name="Text 70"/>
          <p:cNvSpPr/>
          <p:nvPr/>
        </p:nvSpPr>
        <p:spPr>
          <a:xfrm>
            <a:off x="9909423" y="6086475"/>
            <a:ext cx="178117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500" b="1" dirty="0">
                <a:solidFill>
                  <a:srgbClr val="D4A373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验证→培育→资本化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70578" y="407635"/>
            <a:ext cx="37058" cy="296462"/>
          </a:xfrm>
          <a:custGeom>
            <a:avLst/>
            <a:gdLst/>
            <a:ahLst/>
            <a:cxnLst/>
            <a:rect l="l" t="t" r="r" b="b"/>
            <a:pathLst>
              <a:path w="37058" h="296462">
                <a:moveTo>
                  <a:pt x="0" y="0"/>
                </a:moveTo>
                <a:lnTo>
                  <a:pt x="37058" y="0"/>
                </a:lnTo>
                <a:lnTo>
                  <a:pt x="37058" y="296462"/>
                </a:lnTo>
                <a:lnTo>
                  <a:pt x="0" y="296462"/>
                </a:lnTo>
                <a:lnTo>
                  <a:pt x="0" y="0"/>
                </a:lnTo>
                <a:close/>
              </a:path>
            </a:pathLst>
          </a:custGeom>
          <a:solidFill>
            <a:srgbClr val="D4A373"/>
          </a:solidFill>
        </p:spPr>
      </p:sp>
      <p:sp>
        <p:nvSpPr>
          <p:cNvPr id="3" name="Text 1"/>
          <p:cNvSpPr/>
          <p:nvPr/>
        </p:nvSpPr>
        <p:spPr>
          <a:xfrm>
            <a:off x="518809" y="370578"/>
            <a:ext cx="4752657" cy="37057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625" b="1" dirty="0">
                <a:solidFill>
                  <a:srgbClr val="F0F0F0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政策窗口：136号文后市场重构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55866" y="815271"/>
            <a:ext cx="11348936" cy="2594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15" dirty="0">
                <a:solidFill>
                  <a:srgbClr val="8D99AE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POLICY WINDOW: POST-136 MARKET RESTRUCTURING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75210" y="1153422"/>
            <a:ext cx="4502517" cy="2603307"/>
          </a:xfrm>
          <a:custGeom>
            <a:avLst/>
            <a:gdLst/>
            <a:ahLst/>
            <a:cxnLst/>
            <a:rect l="l" t="t" r="r" b="b"/>
            <a:pathLst>
              <a:path w="4502517" h="2603307">
                <a:moveTo>
                  <a:pt x="74116" y="0"/>
                </a:moveTo>
                <a:lnTo>
                  <a:pt x="4428401" y="0"/>
                </a:lnTo>
                <a:cubicBezTo>
                  <a:pt x="4469334" y="0"/>
                  <a:pt x="4502517" y="33183"/>
                  <a:pt x="4502517" y="74116"/>
                </a:cubicBezTo>
                <a:lnTo>
                  <a:pt x="4502517" y="2529191"/>
                </a:lnTo>
                <a:cubicBezTo>
                  <a:pt x="4502517" y="2570124"/>
                  <a:pt x="4469334" y="2603307"/>
                  <a:pt x="4428401" y="2603307"/>
                </a:cubicBezTo>
                <a:lnTo>
                  <a:pt x="74116" y="2603307"/>
                </a:lnTo>
                <a:cubicBezTo>
                  <a:pt x="33183" y="2603307"/>
                  <a:pt x="0" y="2570124"/>
                  <a:pt x="0" y="2529191"/>
                </a:cubicBezTo>
                <a:lnTo>
                  <a:pt x="0" y="74116"/>
                </a:lnTo>
                <a:cubicBezTo>
                  <a:pt x="0" y="33210"/>
                  <a:pt x="33210" y="0"/>
                  <a:pt x="74116" y="0"/>
                </a:cubicBezTo>
                <a:close/>
              </a:path>
            </a:pathLst>
          </a:custGeom>
          <a:gradFill flip="none" rotWithShape="1">
            <a:gsLst>
              <a:gs pos="0">
                <a:srgbClr val="4A6C8C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12700">
            <a:solidFill>
              <a:srgbClr val="4A6C8C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2815" y="1343343"/>
            <a:ext cx="162128" cy="185289"/>
          </a:xfrm>
          <a:custGeom>
            <a:avLst/>
            <a:gdLst/>
            <a:ahLst/>
            <a:cxnLst/>
            <a:rect l="l" t="t" r="r" b="b"/>
            <a:pathLst>
              <a:path w="162128" h="185289">
                <a:moveTo>
                  <a:pt x="46322" y="0"/>
                </a:moveTo>
                <a:cubicBezTo>
                  <a:pt x="52728" y="0"/>
                  <a:pt x="57903" y="5175"/>
                  <a:pt x="57903" y="11581"/>
                </a:cubicBezTo>
                <a:lnTo>
                  <a:pt x="57903" y="23161"/>
                </a:lnTo>
                <a:lnTo>
                  <a:pt x="104225" y="23161"/>
                </a:lnTo>
                <a:lnTo>
                  <a:pt x="104225" y="11581"/>
                </a:lnTo>
                <a:cubicBezTo>
                  <a:pt x="104225" y="5175"/>
                  <a:pt x="109400" y="0"/>
                  <a:pt x="115805" y="0"/>
                </a:cubicBezTo>
                <a:cubicBezTo>
                  <a:pt x="122211" y="0"/>
                  <a:pt x="127386" y="5175"/>
                  <a:pt x="127386" y="11581"/>
                </a:cubicBezTo>
                <a:lnTo>
                  <a:pt x="127386" y="23161"/>
                </a:lnTo>
                <a:lnTo>
                  <a:pt x="138967" y="23161"/>
                </a:lnTo>
                <a:cubicBezTo>
                  <a:pt x="151741" y="23161"/>
                  <a:pt x="162128" y="33547"/>
                  <a:pt x="162128" y="46322"/>
                </a:cubicBezTo>
                <a:lnTo>
                  <a:pt x="162128" y="150547"/>
                </a:lnTo>
                <a:cubicBezTo>
                  <a:pt x="162128" y="163322"/>
                  <a:pt x="151741" y="173708"/>
                  <a:pt x="138967" y="173708"/>
                </a:cubicBezTo>
                <a:lnTo>
                  <a:pt x="23161" y="173708"/>
                </a:lnTo>
                <a:cubicBezTo>
                  <a:pt x="10386" y="173708"/>
                  <a:pt x="0" y="163322"/>
                  <a:pt x="0" y="150547"/>
                </a:cubicBezTo>
                <a:lnTo>
                  <a:pt x="0" y="46322"/>
                </a:lnTo>
                <a:cubicBezTo>
                  <a:pt x="0" y="33547"/>
                  <a:pt x="10386" y="23161"/>
                  <a:pt x="23161" y="23161"/>
                </a:cubicBezTo>
                <a:lnTo>
                  <a:pt x="34742" y="23161"/>
                </a:lnTo>
                <a:lnTo>
                  <a:pt x="34742" y="11581"/>
                </a:lnTo>
                <a:cubicBezTo>
                  <a:pt x="34742" y="5175"/>
                  <a:pt x="39917" y="0"/>
                  <a:pt x="46322" y="0"/>
                </a:cubicBezTo>
                <a:close/>
                <a:moveTo>
                  <a:pt x="23161" y="86854"/>
                </a:moveTo>
                <a:lnTo>
                  <a:pt x="23161" y="98435"/>
                </a:lnTo>
                <a:cubicBezTo>
                  <a:pt x="23161" y="101619"/>
                  <a:pt x="25767" y="104225"/>
                  <a:pt x="28951" y="104225"/>
                </a:cubicBezTo>
                <a:lnTo>
                  <a:pt x="40532" y="104225"/>
                </a:lnTo>
                <a:cubicBezTo>
                  <a:pt x="43717" y="104225"/>
                  <a:pt x="46322" y="101619"/>
                  <a:pt x="46322" y="98435"/>
                </a:cubicBezTo>
                <a:lnTo>
                  <a:pt x="46322" y="86854"/>
                </a:lnTo>
                <a:cubicBezTo>
                  <a:pt x="46322" y="83669"/>
                  <a:pt x="43717" y="81064"/>
                  <a:pt x="40532" y="81064"/>
                </a:cubicBezTo>
                <a:lnTo>
                  <a:pt x="28951" y="81064"/>
                </a:lnTo>
                <a:cubicBezTo>
                  <a:pt x="25767" y="81064"/>
                  <a:pt x="23161" y="83669"/>
                  <a:pt x="23161" y="86854"/>
                </a:cubicBezTo>
                <a:close/>
                <a:moveTo>
                  <a:pt x="69483" y="86854"/>
                </a:moveTo>
                <a:lnTo>
                  <a:pt x="69483" y="98435"/>
                </a:lnTo>
                <a:cubicBezTo>
                  <a:pt x="69483" y="101619"/>
                  <a:pt x="72089" y="104225"/>
                  <a:pt x="75274" y="104225"/>
                </a:cubicBezTo>
                <a:lnTo>
                  <a:pt x="86854" y="104225"/>
                </a:lnTo>
                <a:cubicBezTo>
                  <a:pt x="90039" y="104225"/>
                  <a:pt x="92644" y="101619"/>
                  <a:pt x="92644" y="98435"/>
                </a:cubicBezTo>
                <a:lnTo>
                  <a:pt x="92644" y="86854"/>
                </a:lnTo>
                <a:cubicBezTo>
                  <a:pt x="92644" y="83669"/>
                  <a:pt x="90039" y="81064"/>
                  <a:pt x="86854" y="81064"/>
                </a:cubicBezTo>
                <a:lnTo>
                  <a:pt x="75274" y="81064"/>
                </a:lnTo>
                <a:cubicBezTo>
                  <a:pt x="72089" y="81064"/>
                  <a:pt x="69483" y="83669"/>
                  <a:pt x="69483" y="86854"/>
                </a:cubicBezTo>
                <a:close/>
                <a:moveTo>
                  <a:pt x="121596" y="81064"/>
                </a:moveTo>
                <a:cubicBezTo>
                  <a:pt x="118411" y="81064"/>
                  <a:pt x="115805" y="83669"/>
                  <a:pt x="115805" y="86854"/>
                </a:cubicBezTo>
                <a:lnTo>
                  <a:pt x="115805" y="98435"/>
                </a:lnTo>
                <a:cubicBezTo>
                  <a:pt x="115805" y="101619"/>
                  <a:pt x="118411" y="104225"/>
                  <a:pt x="121596" y="104225"/>
                </a:cubicBezTo>
                <a:lnTo>
                  <a:pt x="133176" y="104225"/>
                </a:lnTo>
                <a:cubicBezTo>
                  <a:pt x="136361" y="104225"/>
                  <a:pt x="138967" y="101619"/>
                  <a:pt x="138967" y="98435"/>
                </a:cubicBezTo>
                <a:lnTo>
                  <a:pt x="138967" y="86854"/>
                </a:lnTo>
                <a:cubicBezTo>
                  <a:pt x="138967" y="83669"/>
                  <a:pt x="136361" y="81064"/>
                  <a:pt x="133176" y="81064"/>
                </a:cubicBezTo>
                <a:lnTo>
                  <a:pt x="121596" y="81064"/>
                </a:lnTo>
                <a:close/>
                <a:moveTo>
                  <a:pt x="23161" y="133176"/>
                </a:moveTo>
                <a:lnTo>
                  <a:pt x="23161" y="144757"/>
                </a:lnTo>
                <a:cubicBezTo>
                  <a:pt x="23161" y="147941"/>
                  <a:pt x="25767" y="150547"/>
                  <a:pt x="28951" y="150547"/>
                </a:cubicBezTo>
                <a:lnTo>
                  <a:pt x="40532" y="150547"/>
                </a:lnTo>
                <a:cubicBezTo>
                  <a:pt x="43717" y="150547"/>
                  <a:pt x="46322" y="147941"/>
                  <a:pt x="46322" y="144757"/>
                </a:cubicBezTo>
                <a:lnTo>
                  <a:pt x="46322" y="133176"/>
                </a:lnTo>
                <a:cubicBezTo>
                  <a:pt x="46322" y="129992"/>
                  <a:pt x="43717" y="127386"/>
                  <a:pt x="40532" y="127386"/>
                </a:cubicBezTo>
                <a:lnTo>
                  <a:pt x="28951" y="127386"/>
                </a:lnTo>
                <a:cubicBezTo>
                  <a:pt x="25767" y="127386"/>
                  <a:pt x="23161" y="129992"/>
                  <a:pt x="23161" y="133176"/>
                </a:cubicBezTo>
                <a:close/>
                <a:moveTo>
                  <a:pt x="75274" y="127386"/>
                </a:moveTo>
                <a:cubicBezTo>
                  <a:pt x="72089" y="127386"/>
                  <a:pt x="69483" y="129992"/>
                  <a:pt x="69483" y="133176"/>
                </a:cubicBezTo>
                <a:lnTo>
                  <a:pt x="69483" y="144757"/>
                </a:lnTo>
                <a:cubicBezTo>
                  <a:pt x="69483" y="147941"/>
                  <a:pt x="72089" y="150547"/>
                  <a:pt x="75274" y="150547"/>
                </a:cubicBezTo>
                <a:lnTo>
                  <a:pt x="86854" y="150547"/>
                </a:lnTo>
                <a:cubicBezTo>
                  <a:pt x="90039" y="150547"/>
                  <a:pt x="92644" y="147941"/>
                  <a:pt x="92644" y="144757"/>
                </a:cubicBezTo>
                <a:lnTo>
                  <a:pt x="92644" y="133176"/>
                </a:lnTo>
                <a:cubicBezTo>
                  <a:pt x="92644" y="129992"/>
                  <a:pt x="90039" y="127386"/>
                  <a:pt x="86854" y="127386"/>
                </a:cubicBezTo>
                <a:lnTo>
                  <a:pt x="75274" y="127386"/>
                </a:lnTo>
                <a:close/>
                <a:moveTo>
                  <a:pt x="115805" y="133176"/>
                </a:moveTo>
                <a:lnTo>
                  <a:pt x="115805" y="144757"/>
                </a:lnTo>
                <a:cubicBezTo>
                  <a:pt x="115805" y="147941"/>
                  <a:pt x="118411" y="150547"/>
                  <a:pt x="121596" y="150547"/>
                </a:cubicBezTo>
                <a:lnTo>
                  <a:pt x="133176" y="150547"/>
                </a:lnTo>
                <a:cubicBezTo>
                  <a:pt x="136361" y="150547"/>
                  <a:pt x="138967" y="147941"/>
                  <a:pt x="138967" y="144757"/>
                </a:cubicBezTo>
                <a:lnTo>
                  <a:pt x="138967" y="133176"/>
                </a:lnTo>
                <a:cubicBezTo>
                  <a:pt x="138967" y="129992"/>
                  <a:pt x="136361" y="127386"/>
                  <a:pt x="133176" y="127386"/>
                </a:cubicBezTo>
                <a:lnTo>
                  <a:pt x="121596" y="127386"/>
                </a:lnTo>
                <a:cubicBezTo>
                  <a:pt x="118411" y="127386"/>
                  <a:pt x="115805" y="129992"/>
                  <a:pt x="115805" y="133176"/>
                </a:cubicBezTo>
                <a:close/>
              </a:path>
            </a:pathLst>
          </a:custGeom>
          <a:solidFill>
            <a:srgbClr val="D4A373"/>
          </a:solidFill>
        </p:spPr>
      </p:sp>
      <p:sp>
        <p:nvSpPr>
          <p:cNvPr id="7" name="Text 5"/>
          <p:cNvSpPr/>
          <p:nvPr/>
        </p:nvSpPr>
        <p:spPr>
          <a:xfrm>
            <a:off x="759684" y="1306286"/>
            <a:ext cx="4057824" cy="2594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60" b="1" dirty="0">
                <a:solidFill>
                  <a:srgbClr val="F0F0F0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政策时间轴（已生效）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28073" y="1676863"/>
            <a:ext cx="741155" cy="296462"/>
          </a:xfrm>
          <a:custGeom>
            <a:avLst/>
            <a:gdLst/>
            <a:ahLst/>
            <a:cxnLst/>
            <a:rect l="l" t="t" r="r" b="b"/>
            <a:pathLst>
              <a:path w="741155" h="296462">
                <a:moveTo>
                  <a:pt x="37058" y="0"/>
                </a:moveTo>
                <a:lnTo>
                  <a:pt x="704097" y="0"/>
                </a:lnTo>
                <a:cubicBezTo>
                  <a:pt x="724564" y="0"/>
                  <a:pt x="741155" y="16591"/>
                  <a:pt x="741155" y="37058"/>
                </a:cubicBezTo>
                <a:lnTo>
                  <a:pt x="741155" y="259404"/>
                </a:lnTo>
                <a:cubicBezTo>
                  <a:pt x="741155" y="279871"/>
                  <a:pt x="724564" y="296462"/>
                  <a:pt x="704097" y="296462"/>
                </a:cubicBezTo>
                <a:lnTo>
                  <a:pt x="37058" y="296462"/>
                </a:lnTo>
                <a:cubicBezTo>
                  <a:pt x="16591" y="296462"/>
                  <a:pt x="0" y="279871"/>
                  <a:pt x="0" y="259404"/>
                </a:cubicBezTo>
                <a:lnTo>
                  <a:pt x="0" y="37058"/>
                </a:lnTo>
                <a:cubicBezTo>
                  <a:pt x="0" y="16591"/>
                  <a:pt x="16591" y="0"/>
                  <a:pt x="37058" y="0"/>
                </a:cubicBezTo>
                <a:close/>
              </a:path>
            </a:pathLst>
          </a:custGeom>
          <a:solidFill>
            <a:srgbClr val="4A6C8C"/>
          </a:solidFill>
        </p:spPr>
      </p:sp>
      <p:sp>
        <p:nvSpPr>
          <p:cNvPr id="9" name="Text 7"/>
          <p:cNvSpPr/>
          <p:nvPr/>
        </p:nvSpPr>
        <p:spPr>
          <a:xfrm>
            <a:off x="491015" y="1676863"/>
            <a:ext cx="815271" cy="296462"/>
          </a:xfrm>
          <a:prstGeom prst="rect">
            <a:avLst/>
          </a:prstGeom>
          <a:noFill/>
        </p:spPr>
        <p:txBody>
          <a:bodyPr wrap="square" lIns="0" tIns="37058" rIns="0" bIns="37058" rtlCol="0" anchor="ctr"/>
          <a:lstStyle/>
          <a:p>
            <a:pPr algn="ctr">
              <a:lnSpc>
                <a:spcPct val="130000"/>
              </a:lnSpc>
            </a:pPr>
            <a:r>
              <a:rPr lang="en-US" sz="1165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2025.2.9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398930" y="1676863"/>
            <a:ext cx="3325933" cy="592924"/>
          </a:xfrm>
          <a:custGeom>
            <a:avLst/>
            <a:gdLst/>
            <a:ahLst/>
            <a:cxnLst/>
            <a:rect l="l" t="t" r="r" b="b"/>
            <a:pathLst>
              <a:path w="3325933" h="592924">
                <a:moveTo>
                  <a:pt x="37058" y="0"/>
                </a:moveTo>
                <a:lnTo>
                  <a:pt x="3288875" y="0"/>
                </a:lnTo>
                <a:cubicBezTo>
                  <a:pt x="3309342" y="0"/>
                  <a:pt x="3325933" y="16591"/>
                  <a:pt x="3325933" y="37058"/>
                </a:cubicBezTo>
                <a:lnTo>
                  <a:pt x="3325933" y="555866"/>
                </a:lnTo>
                <a:cubicBezTo>
                  <a:pt x="3325933" y="576333"/>
                  <a:pt x="3309342" y="592924"/>
                  <a:pt x="3288875" y="592924"/>
                </a:cubicBezTo>
                <a:lnTo>
                  <a:pt x="37058" y="592924"/>
                </a:lnTo>
                <a:cubicBezTo>
                  <a:pt x="16591" y="592924"/>
                  <a:pt x="0" y="576333"/>
                  <a:pt x="0" y="555866"/>
                </a:cubicBezTo>
                <a:lnTo>
                  <a:pt x="0" y="37058"/>
                </a:lnTo>
                <a:cubicBezTo>
                  <a:pt x="0" y="16591"/>
                  <a:pt x="16591" y="0"/>
                  <a:pt x="37058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</p:spPr>
      </p:sp>
      <p:sp>
        <p:nvSpPr>
          <p:cNvPr id="11" name="Shape 9"/>
          <p:cNvSpPr/>
          <p:nvPr/>
        </p:nvSpPr>
        <p:spPr>
          <a:xfrm>
            <a:off x="1398930" y="1676863"/>
            <a:ext cx="37058" cy="592924"/>
          </a:xfrm>
          <a:custGeom>
            <a:avLst/>
            <a:gdLst/>
            <a:ahLst/>
            <a:cxnLst/>
            <a:rect l="l" t="t" r="r" b="b"/>
            <a:pathLst>
              <a:path w="37058" h="592924">
                <a:moveTo>
                  <a:pt x="37058" y="0"/>
                </a:moveTo>
                <a:lnTo>
                  <a:pt x="37058" y="0"/>
                </a:lnTo>
                <a:lnTo>
                  <a:pt x="37058" y="592924"/>
                </a:lnTo>
                <a:lnTo>
                  <a:pt x="37058" y="592924"/>
                </a:lnTo>
                <a:cubicBezTo>
                  <a:pt x="16591" y="592924"/>
                  <a:pt x="0" y="576333"/>
                  <a:pt x="0" y="555866"/>
                </a:cubicBezTo>
                <a:lnTo>
                  <a:pt x="0" y="37058"/>
                </a:lnTo>
                <a:cubicBezTo>
                  <a:pt x="0" y="16591"/>
                  <a:pt x="16591" y="0"/>
                  <a:pt x="37058" y="0"/>
                </a:cubicBezTo>
                <a:close/>
              </a:path>
            </a:pathLst>
          </a:custGeom>
          <a:solidFill>
            <a:srgbClr val="4A6C8C"/>
          </a:solidFill>
        </p:spPr>
      </p:sp>
      <p:sp>
        <p:nvSpPr>
          <p:cNvPr id="12" name="Text 10"/>
          <p:cNvSpPr/>
          <p:nvPr/>
        </p:nvSpPr>
        <p:spPr>
          <a:xfrm>
            <a:off x="1491574" y="1750979"/>
            <a:ext cx="3233289" cy="22234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5" b="1" dirty="0">
                <a:solidFill>
                  <a:srgbClr val="F0F0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136号文发布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91574" y="1973325"/>
            <a:ext cx="3233289" cy="22234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5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新能源全面入市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28073" y="2343903"/>
            <a:ext cx="741155" cy="296462"/>
          </a:xfrm>
          <a:custGeom>
            <a:avLst/>
            <a:gdLst/>
            <a:ahLst/>
            <a:cxnLst/>
            <a:rect l="l" t="t" r="r" b="b"/>
            <a:pathLst>
              <a:path w="741155" h="296462">
                <a:moveTo>
                  <a:pt x="37058" y="0"/>
                </a:moveTo>
                <a:lnTo>
                  <a:pt x="704097" y="0"/>
                </a:lnTo>
                <a:cubicBezTo>
                  <a:pt x="724564" y="0"/>
                  <a:pt x="741155" y="16591"/>
                  <a:pt x="741155" y="37058"/>
                </a:cubicBezTo>
                <a:lnTo>
                  <a:pt x="741155" y="259404"/>
                </a:lnTo>
                <a:cubicBezTo>
                  <a:pt x="741155" y="279871"/>
                  <a:pt x="724564" y="296462"/>
                  <a:pt x="704097" y="296462"/>
                </a:cubicBezTo>
                <a:lnTo>
                  <a:pt x="37058" y="296462"/>
                </a:lnTo>
                <a:cubicBezTo>
                  <a:pt x="16591" y="296462"/>
                  <a:pt x="0" y="279871"/>
                  <a:pt x="0" y="259404"/>
                </a:cubicBezTo>
                <a:lnTo>
                  <a:pt x="0" y="37058"/>
                </a:lnTo>
                <a:cubicBezTo>
                  <a:pt x="0" y="16591"/>
                  <a:pt x="16591" y="0"/>
                  <a:pt x="37058" y="0"/>
                </a:cubicBezTo>
                <a:close/>
              </a:path>
            </a:pathLst>
          </a:custGeom>
          <a:solidFill>
            <a:srgbClr val="D4A373"/>
          </a:solidFill>
        </p:spPr>
      </p:sp>
      <p:sp>
        <p:nvSpPr>
          <p:cNvPr id="15" name="Text 13"/>
          <p:cNvSpPr/>
          <p:nvPr/>
        </p:nvSpPr>
        <p:spPr>
          <a:xfrm>
            <a:off x="491015" y="2343903"/>
            <a:ext cx="815271" cy="296462"/>
          </a:xfrm>
          <a:prstGeom prst="rect">
            <a:avLst/>
          </a:prstGeom>
          <a:noFill/>
        </p:spPr>
        <p:txBody>
          <a:bodyPr wrap="square" lIns="0" tIns="37058" rIns="0" bIns="37058" rtlCol="0" anchor="ctr"/>
          <a:lstStyle/>
          <a:p>
            <a:pPr algn="ctr">
              <a:lnSpc>
                <a:spcPct val="130000"/>
              </a:lnSpc>
            </a:pPr>
            <a:r>
              <a:rPr lang="en-US" sz="1165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2025.6.1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398930" y="2343903"/>
            <a:ext cx="3325933" cy="592924"/>
          </a:xfrm>
          <a:custGeom>
            <a:avLst/>
            <a:gdLst/>
            <a:ahLst/>
            <a:cxnLst/>
            <a:rect l="l" t="t" r="r" b="b"/>
            <a:pathLst>
              <a:path w="3325933" h="592924">
                <a:moveTo>
                  <a:pt x="37058" y="0"/>
                </a:moveTo>
                <a:lnTo>
                  <a:pt x="3288875" y="0"/>
                </a:lnTo>
                <a:cubicBezTo>
                  <a:pt x="3309342" y="0"/>
                  <a:pt x="3325933" y="16591"/>
                  <a:pt x="3325933" y="37058"/>
                </a:cubicBezTo>
                <a:lnTo>
                  <a:pt x="3325933" y="555866"/>
                </a:lnTo>
                <a:cubicBezTo>
                  <a:pt x="3325933" y="576333"/>
                  <a:pt x="3309342" y="592924"/>
                  <a:pt x="3288875" y="592924"/>
                </a:cubicBezTo>
                <a:lnTo>
                  <a:pt x="37058" y="592924"/>
                </a:lnTo>
                <a:cubicBezTo>
                  <a:pt x="16591" y="592924"/>
                  <a:pt x="0" y="576333"/>
                  <a:pt x="0" y="555866"/>
                </a:cubicBezTo>
                <a:lnTo>
                  <a:pt x="0" y="37058"/>
                </a:lnTo>
                <a:cubicBezTo>
                  <a:pt x="0" y="16591"/>
                  <a:pt x="16591" y="0"/>
                  <a:pt x="37058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</p:spPr>
      </p:sp>
      <p:sp>
        <p:nvSpPr>
          <p:cNvPr id="17" name="Shape 15"/>
          <p:cNvSpPr/>
          <p:nvPr/>
        </p:nvSpPr>
        <p:spPr>
          <a:xfrm>
            <a:off x="1398930" y="2343903"/>
            <a:ext cx="37058" cy="592924"/>
          </a:xfrm>
          <a:custGeom>
            <a:avLst/>
            <a:gdLst/>
            <a:ahLst/>
            <a:cxnLst/>
            <a:rect l="l" t="t" r="r" b="b"/>
            <a:pathLst>
              <a:path w="37058" h="592924">
                <a:moveTo>
                  <a:pt x="37058" y="0"/>
                </a:moveTo>
                <a:lnTo>
                  <a:pt x="37058" y="0"/>
                </a:lnTo>
                <a:lnTo>
                  <a:pt x="37058" y="592924"/>
                </a:lnTo>
                <a:lnTo>
                  <a:pt x="37058" y="592924"/>
                </a:lnTo>
                <a:cubicBezTo>
                  <a:pt x="16591" y="592924"/>
                  <a:pt x="0" y="576333"/>
                  <a:pt x="0" y="555866"/>
                </a:cubicBezTo>
                <a:lnTo>
                  <a:pt x="0" y="37058"/>
                </a:lnTo>
                <a:cubicBezTo>
                  <a:pt x="0" y="16591"/>
                  <a:pt x="16591" y="0"/>
                  <a:pt x="37058" y="0"/>
                </a:cubicBezTo>
                <a:close/>
              </a:path>
            </a:pathLst>
          </a:custGeom>
          <a:solidFill>
            <a:srgbClr val="D4A373"/>
          </a:solidFill>
        </p:spPr>
      </p:sp>
      <p:sp>
        <p:nvSpPr>
          <p:cNvPr id="18" name="Text 16"/>
          <p:cNvSpPr/>
          <p:nvPr/>
        </p:nvSpPr>
        <p:spPr>
          <a:xfrm>
            <a:off x="1491574" y="2418018"/>
            <a:ext cx="3233289" cy="22234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5" b="1" dirty="0">
                <a:solidFill>
                  <a:srgbClr val="F0F0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531节点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491574" y="2640365"/>
            <a:ext cx="3233289" cy="22234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5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存量/增量项目分界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28073" y="3010942"/>
            <a:ext cx="741155" cy="296462"/>
          </a:xfrm>
          <a:custGeom>
            <a:avLst/>
            <a:gdLst/>
            <a:ahLst/>
            <a:cxnLst/>
            <a:rect l="l" t="t" r="r" b="b"/>
            <a:pathLst>
              <a:path w="741155" h="296462">
                <a:moveTo>
                  <a:pt x="37058" y="0"/>
                </a:moveTo>
                <a:lnTo>
                  <a:pt x="704097" y="0"/>
                </a:lnTo>
                <a:cubicBezTo>
                  <a:pt x="724564" y="0"/>
                  <a:pt x="741155" y="16591"/>
                  <a:pt x="741155" y="37058"/>
                </a:cubicBezTo>
                <a:lnTo>
                  <a:pt x="741155" y="259404"/>
                </a:lnTo>
                <a:cubicBezTo>
                  <a:pt x="741155" y="279871"/>
                  <a:pt x="724564" y="296462"/>
                  <a:pt x="704097" y="296462"/>
                </a:cubicBezTo>
                <a:lnTo>
                  <a:pt x="37058" y="296462"/>
                </a:lnTo>
                <a:cubicBezTo>
                  <a:pt x="16591" y="296462"/>
                  <a:pt x="0" y="279871"/>
                  <a:pt x="0" y="259404"/>
                </a:cubicBezTo>
                <a:lnTo>
                  <a:pt x="0" y="37058"/>
                </a:lnTo>
                <a:cubicBezTo>
                  <a:pt x="0" y="16591"/>
                  <a:pt x="16591" y="0"/>
                  <a:pt x="37058" y="0"/>
                </a:cubicBezTo>
                <a:close/>
              </a:path>
            </a:pathLst>
          </a:custGeom>
          <a:solidFill>
            <a:srgbClr val="8D99AE"/>
          </a:solidFill>
        </p:spPr>
      </p:sp>
      <p:sp>
        <p:nvSpPr>
          <p:cNvPr id="21" name="Text 19"/>
          <p:cNvSpPr/>
          <p:nvPr/>
        </p:nvSpPr>
        <p:spPr>
          <a:xfrm>
            <a:off x="491015" y="3010942"/>
            <a:ext cx="815271" cy="296462"/>
          </a:xfrm>
          <a:prstGeom prst="rect">
            <a:avLst/>
          </a:prstGeom>
          <a:noFill/>
        </p:spPr>
        <p:txBody>
          <a:bodyPr wrap="square" lIns="0" tIns="37058" rIns="0" bIns="37058" rtlCol="0" anchor="ctr"/>
          <a:lstStyle/>
          <a:p>
            <a:pPr algn="ctr">
              <a:lnSpc>
                <a:spcPct val="130000"/>
              </a:lnSpc>
            </a:pPr>
            <a:r>
              <a:rPr lang="en-US" sz="1165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2025.6.1后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1398930" y="3010942"/>
            <a:ext cx="3325933" cy="592924"/>
          </a:xfrm>
          <a:custGeom>
            <a:avLst/>
            <a:gdLst/>
            <a:ahLst/>
            <a:cxnLst/>
            <a:rect l="l" t="t" r="r" b="b"/>
            <a:pathLst>
              <a:path w="3325933" h="592924">
                <a:moveTo>
                  <a:pt x="37058" y="0"/>
                </a:moveTo>
                <a:lnTo>
                  <a:pt x="3288875" y="0"/>
                </a:lnTo>
                <a:cubicBezTo>
                  <a:pt x="3309342" y="0"/>
                  <a:pt x="3325933" y="16591"/>
                  <a:pt x="3325933" y="37058"/>
                </a:cubicBezTo>
                <a:lnTo>
                  <a:pt x="3325933" y="555866"/>
                </a:lnTo>
                <a:cubicBezTo>
                  <a:pt x="3325933" y="576333"/>
                  <a:pt x="3309342" y="592924"/>
                  <a:pt x="3288875" y="592924"/>
                </a:cubicBezTo>
                <a:lnTo>
                  <a:pt x="37058" y="592924"/>
                </a:lnTo>
                <a:cubicBezTo>
                  <a:pt x="16591" y="592924"/>
                  <a:pt x="0" y="576333"/>
                  <a:pt x="0" y="555866"/>
                </a:cubicBezTo>
                <a:lnTo>
                  <a:pt x="0" y="37058"/>
                </a:lnTo>
                <a:cubicBezTo>
                  <a:pt x="0" y="16591"/>
                  <a:pt x="16591" y="0"/>
                  <a:pt x="37058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</p:spPr>
      </p:sp>
      <p:sp>
        <p:nvSpPr>
          <p:cNvPr id="23" name="Shape 21"/>
          <p:cNvSpPr/>
          <p:nvPr/>
        </p:nvSpPr>
        <p:spPr>
          <a:xfrm>
            <a:off x="1398930" y="3010942"/>
            <a:ext cx="37058" cy="592924"/>
          </a:xfrm>
          <a:custGeom>
            <a:avLst/>
            <a:gdLst/>
            <a:ahLst/>
            <a:cxnLst/>
            <a:rect l="l" t="t" r="r" b="b"/>
            <a:pathLst>
              <a:path w="37058" h="592924">
                <a:moveTo>
                  <a:pt x="37058" y="0"/>
                </a:moveTo>
                <a:lnTo>
                  <a:pt x="37058" y="0"/>
                </a:lnTo>
                <a:lnTo>
                  <a:pt x="37058" y="592924"/>
                </a:lnTo>
                <a:lnTo>
                  <a:pt x="37058" y="592924"/>
                </a:lnTo>
                <a:cubicBezTo>
                  <a:pt x="16591" y="592924"/>
                  <a:pt x="0" y="576333"/>
                  <a:pt x="0" y="555866"/>
                </a:cubicBezTo>
                <a:lnTo>
                  <a:pt x="0" y="37058"/>
                </a:lnTo>
                <a:cubicBezTo>
                  <a:pt x="0" y="16591"/>
                  <a:pt x="16591" y="0"/>
                  <a:pt x="37058" y="0"/>
                </a:cubicBezTo>
                <a:close/>
              </a:path>
            </a:pathLst>
          </a:custGeom>
          <a:solidFill>
            <a:srgbClr val="8D99AE"/>
          </a:solidFill>
        </p:spPr>
      </p:sp>
      <p:sp>
        <p:nvSpPr>
          <p:cNvPr id="24" name="Text 22"/>
          <p:cNvSpPr/>
          <p:nvPr/>
        </p:nvSpPr>
        <p:spPr>
          <a:xfrm>
            <a:off x="1491574" y="3085058"/>
            <a:ext cx="3233289" cy="22234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5" b="1" dirty="0">
                <a:solidFill>
                  <a:srgbClr val="F0F0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增量项目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491574" y="3307404"/>
            <a:ext cx="3233289" cy="22234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5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100%市场化交易，无保量保价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75210" y="3877167"/>
            <a:ext cx="4502517" cy="2973884"/>
          </a:xfrm>
          <a:custGeom>
            <a:avLst/>
            <a:gdLst/>
            <a:ahLst/>
            <a:cxnLst/>
            <a:rect l="l" t="t" r="r" b="b"/>
            <a:pathLst>
              <a:path w="4502517" h="2973884">
                <a:moveTo>
                  <a:pt x="74109" y="0"/>
                </a:moveTo>
                <a:lnTo>
                  <a:pt x="4428408" y="0"/>
                </a:lnTo>
                <a:cubicBezTo>
                  <a:pt x="4469337" y="0"/>
                  <a:pt x="4502517" y="33180"/>
                  <a:pt x="4502517" y="74109"/>
                </a:cubicBezTo>
                <a:lnTo>
                  <a:pt x="4502517" y="2899775"/>
                </a:lnTo>
                <a:cubicBezTo>
                  <a:pt x="4502517" y="2940705"/>
                  <a:pt x="4469337" y="2973884"/>
                  <a:pt x="4428408" y="2973884"/>
                </a:cubicBezTo>
                <a:lnTo>
                  <a:pt x="74109" y="2973884"/>
                </a:lnTo>
                <a:cubicBezTo>
                  <a:pt x="33180" y="2973884"/>
                  <a:pt x="0" y="2940705"/>
                  <a:pt x="0" y="2899775"/>
                </a:cubicBezTo>
                <a:lnTo>
                  <a:pt x="0" y="74109"/>
                </a:lnTo>
                <a:cubicBezTo>
                  <a:pt x="0" y="33207"/>
                  <a:pt x="33207" y="0"/>
                  <a:pt x="74109" y="0"/>
                </a:cubicBezTo>
                <a:close/>
              </a:path>
            </a:pathLst>
          </a:custGeom>
          <a:gradFill flip="none" rotWithShape="1">
            <a:gsLst>
              <a:gs pos="0">
                <a:srgbClr val="D4A373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12700">
            <a:solidFill>
              <a:srgbClr val="D4A373">
                <a:alpha val="4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51234" y="4067088"/>
            <a:ext cx="185289" cy="185289"/>
          </a:xfrm>
          <a:custGeom>
            <a:avLst/>
            <a:gdLst/>
            <a:ahLst/>
            <a:cxnLst/>
            <a:rect l="l" t="t" r="r" b="b"/>
            <a:pathLst>
              <a:path w="185289" h="185289">
                <a:moveTo>
                  <a:pt x="181887" y="54501"/>
                </a:moveTo>
                <a:lnTo>
                  <a:pt x="147145" y="89243"/>
                </a:lnTo>
                <a:cubicBezTo>
                  <a:pt x="143816" y="92572"/>
                  <a:pt x="138858" y="93549"/>
                  <a:pt x="134515" y="91740"/>
                </a:cubicBezTo>
                <a:cubicBezTo>
                  <a:pt x="130173" y="89930"/>
                  <a:pt x="127386" y="85732"/>
                  <a:pt x="127386" y="81064"/>
                </a:cubicBezTo>
                <a:lnTo>
                  <a:pt x="127386" y="57903"/>
                </a:lnTo>
                <a:lnTo>
                  <a:pt x="11581" y="57903"/>
                </a:lnTo>
                <a:cubicBezTo>
                  <a:pt x="5175" y="57903"/>
                  <a:pt x="0" y="52728"/>
                  <a:pt x="0" y="46322"/>
                </a:cubicBezTo>
                <a:cubicBezTo>
                  <a:pt x="0" y="39917"/>
                  <a:pt x="5175" y="34742"/>
                  <a:pt x="11581" y="34742"/>
                </a:cubicBezTo>
                <a:lnTo>
                  <a:pt x="127386" y="34742"/>
                </a:lnTo>
                <a:lnTo>
                  <a:pt x="127386" y="11581"/>
                </a:lnTo>
                <a:cubicBezTo>
                  <a:pt x="127386" y="6912"/>
                  <a:pt x="130209" y="2678"/>
                  <a:pt x="134551" y="869"/>
                </a:cubicBezTo>
                <a:cubicBezTo>
                  <a:pt x="138894" y="-941"/>
                  <a:pt x="143852" y="72"/>
                  <a:pt x="147182" y="3366"/>
                </a:cubicBezTo>
                <a:lnTo>
                  <a:pt x="181923" y="38107"/>
                </a:lnTo>
                <a:cubicBezTo>
                  <a:pt x="186447" y="42631"/>
                  <a:pt x="186447" y="49977"/>
                  <a:pt x="181923" y="54501"/>
                </a:cubicBezTo>
                <a:close/>
                <a:moveTo>
                  <a:pt x="38107" y="181887"/>
                </a:moveTo>
                <a:lnTo>
                  <a:pt x="3366" y="147145"/>
                </a:lnTo>
                <a:cubicBezTo>
                  <a:pt x="-1158" y="142622"/>
                  <a:pt x="-1158" y="135275"/>
                  <a:pt x="3366" y="130752"/>
                </a:cubicBezTo>
                <a:lnTo>
                  <a:pt x="38107" y="96010"/>
                </a:lnTo>
                <a:cubicBezTo>
                  <a:pt x="41437" y="92681"/>
                  <a:pt x="46395" y="91703"/>
                  <a:pt x="50737" y="93513"/>
                </a:cubicBezTo>
                <a:cubicBezTo>
                  <a:pt x="55080" y="95322"/>
                  <a:pt x="57903" y="99557"/>
                  <a:pt x="57903" y="104225"/>
                </a:cubicBezTo>
                <a:lnTo>
                  <a:pt x="57903" y="127386"/>
                </a:lnTo>
                <a:lnTo>
                  <a:pt x="173708" y="127386"/>
                </a:lnTo>
                <a:cubicBezTo>
                  <a:pt x="180114" y="127386"/>
                  <a:pt x="185289" y="132561"/>
                  <a:pt x="185289" y="138967"/>
                </a:cubicBezTo>
                <a:cubicBezTo>
                  <a:pt x="185289" y="145372"/>
                  <a:pt x="180114" y="150547"/>
                  <a:pt x="173708" y="150547"/>
                </a:cubicBezTo>
                <a:lnTo>
                  <a:pt x="57903" y="150547"/>
                </a:lnTo>
                <a:lnTo>
                  <a:pt x="57903" y="173708"/>
                </a:lnTo>
                <a:cubicBezTo>
                  <a:pt x="57903" y="178377"/>
                  <a:pt x="55080" y="182611"/>
                  <a:pt x="50737" y="184420"/>
                </a:cubicBezTo>
                <a:cubicBezTo>
                  <a:pt x="46395" y="186230"/>
                  <a:pt x="41437" y="185216"/>
                  <a:pt x="38107" y="181923"/>
                </a:cubicBezTo>
                <a:close/>
              </a:path>
            </a:pathLst>
          </a:custGeom>
          <a:solidFill>
            <a:srgbClr val="D4A373"/>
          </a:solidFill>
        </p:spPr>
      </p:sp>
      <p:sp>
        <p:nvSpPr>
          <p:cNvPr id="28" name="Text 26"/>
          <p:cNvSpPr/>
          <p:nvPr/>
        </p:nvSpPr>
        <p:spPr>
          <a:xfrm>
            <a:off x="759684" y="4030030"/>
            <a:ext cx="4057824" cy="2594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60" b="1" dirty="0">
                <a:solidFill>
                  <a:srgbClr val="F0F0F0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收益模式根本转变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546602" y="4400608"/>
            <a:ext cx="4178261" cy="963502"/>
          </a:xfrm>
          <a:custGeom>
            <a:avLst/>
            <a:gdLst/>
            <a:ahLst/>
            <a:cxnLst/>
            <a:rect l="l" t="t" r="r" b="b"/>
            <a:pathLst>
              <a:path w="4178261" h="963502">
                <a:moveTo>
                  <a:pt x="37058" y="0"/>
                </a:moveTo>
                <a:lnTo>
                  <a:pt x="4104149" y="0"/>
                </a:lnTo>
                <a:cubicBezTo>
                  <a:pt x="4145080" y="0"/>
                  <a:pt x="4178261" y="33181"/>
                  <a:pt x="4178261" y="74113"/>
                </a:cubicBezTo>
                <a:lnTo>
                  <a:pt x="4178261" y="889389"/>
                </a:lnTo>
                <a:cubicBezTo>
                  <a:pt x="4178261" y="930293"/>
                  <a:pt x="4145053" y="963502"/>
                  <a:pt x="4104149" y="963502"/>
                </a:cubicBezTo>
                <a:lnTo>
                  <a:pt x="37058" y="963502"/>
                </a:lnTo>
                <a:cubicBezTo>
                  <a:pt x="16591" y="963502"/>
                  <a:pt x="0" y="946910"/>
                  <a:pt x="0" y="926444"/>
                </a:cubicBezTo>
                <a:lnTo>
                  <a:pt x="0" y="37058"/>
                </a:lnTo>
                <a:cubicBezTo>
                  <a:pt x="0" y="16591"/>
                  <a:pt x="16591" y="0"/>
                  <a:pt x="37058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</p:spPr>
      </p:sp>
      <p:sp>
        <p:nvSpPr>
          <p:cNvPr id="30" name="Shape 28"/>
          <p:cNvSpPr/>
          <p:nvPr/>
        </p:nvSpPr>
        <p:spPr>
          <a:xfrm>
            <a:off x="546602" y="4400608"/>
            <a:ext cx="37058" cy="963502"/>
          </a:xfrm>
          <a:custGeom>
            <a:avLst/>
            <a:gdLst/>
            <a:ahLst/>
            <a:cxnLst/>
            <a:rect l="l" t="t" r="r" b="b"/>
            <a:pathLst>
              <a:path w="37058" h="963502">
                <a:moveTo>
                  <a:pt x="37058" y="0"/>
                </a:moveTo>
                <a:lnTo>
                  <a:pt x="37058" y="0"/>
                </a:lnTo>
                <a:lnTo>
                  <a:pt x="37058" y="963502"/>
                </a:lnTo>
                <a:lnTo>
                  <a:pt x="37058" y="963502"/>
                </a:lnTo>
                <a:cubicBezTo>
                  <a:pt x="16591" y="963502"/>
                  <a:pt x="0" y="946910"/>
                  <a:pt x="0" y="926444"/>
                </a:cubicBezTo>
                <a:lnTo>
                  <a:pt x="0" y="37058"/>
                </a:lnTo>
                <a:cubicBezTo>
                  <a:pt x="0" y="16591"/>
                  <a:pt x="16591" y="0"/>
                  <a:pt x="37058" y="0"/>
                </a:cubicBezTo>
                <a:close/>
              </a:path>
            </a:pathLst>
          </a:custGeom>
          <a:solidFill>
            <a:srgbClr val="8D99AE"/>
          </a:solidFill>
        </p:spPr>
      </p:sp>
      <p:sp>
        <p:nvSpPr>
          <p:cNvPr id="31" name="Text 29"/>
          <p:cNvSpPr/>
          <p:nvPr/>
        </p:nvSpPr>
        <p:spPr>
          <a:xfrm>
            <a:off x="676304" y="4511781"/>
            <a:ext cx="4011502" cy="22234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5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136号文前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76304" y="4771185"/>
            <a:ext cx="4020766" cy="2594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15" b="1" dirty="0">
                <a:solidFill>
                  <a:srgbClr val="F0F0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保障性电价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76304" y="5030590"/>
            <a:ext cx="4011502" cy="22234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5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固定标杆价，政策套利时代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2543088" y="5438225"/>
            <a:ext cx="166760" cy="222347"/>
          </a:xfrm>
          <a:custGeom>
            <a:avLst/>
            <a:gdLst/>
            <a:ahLst/>
            <a:cxnLst/>
            <a:rect l="l" t="t" r="r" b="b"/>
            <a:pathLst>
              <a:path w="166760" h="222347">
                <a:moveTo>
                  <a:pt x="73565" y="218264"/>
                </a:moveTo>
                <a:cubicBezTo>
                  <a:pt x="78994" y="223693"/>
                  <a:pt x="87809" y="223693"/>
                  <a:pt x="93238" y="218264"/>
                </a:cubicBezTo>
                <a:lnTo>
                  <a:pt x="162721" y="148781"/>
                </a:lnTo>
                <a:cubicBezTo>
                  <a:pt x="168150" y="143353"/>
                  <a:pt x="168150" y="134537"/>
                  <a:pt x="162721" y="129109"/>
                </a:cubicBezTo>
                <a:cubicBezTo>
                  <a:pt x="157293" y="123680"/>
                  <a:pt x="148477" y="123680"/>
                  <a:pt x="143049" y="129109"/>
                </a:cubicBezTo>
                <a:lnTo>
                  <a:pt x="97277" y="174881"/>
                </a:lnTo>
                <a:lnTo>
                  <a:pt x="97277" y="13897"/>
                </a:lnTo>
                <a:cubicBezTo>
                  <a:pt x="97277" y="6210"/>
                  <a:pt x="91067" y="0"/>
                  <a:pt x="83380" y="0"/>
                </a:cubicBezTo>
                <a:cubicBezTo>
                  <a:pt x="75693" y="0"/>
                  <a:pt x="69483" y="6210"/>
                  <a:pt x="69483" y="13897"/>
                </a:cubicBezTo>
                <a:lnTo>
                  <a:pt x="69483" y="174881"/>
                </a:lnTo>
                <a:lnTo>
                  <a:pt x="23711" y="129109"/>
                </a:lnTo>
                <a:cubicBezTo>
                  <a:pt x="18283" y="123680"/>
                  <a:pt x="9467" y="123680"/>
                  <a:pt x="4039" y="129109"/>
                </a:cubicBezTo>
                <a:cubicBezTo>
                  <a:pt x="-1390" y="134537"/>
                  <a:pt x="-1390" y="143353"/>
                  <a:pt x="4039" y="148781"/>
                </a:cubicBezTo>
                <a:lnTo>
                  <a:pt x="73522" y="218264"/>
                </a:lnTo>
                <a:close/>
              </a:path>
            </a:pathLst>
          </a:custGeom>
          <a:solidFill>
            <a:srgbClr val="D4A373"/>
          </a:solidFill>
        </p:spPr>
      </p:sp>
      <p:sp>
        <p:nvSpPr>
          <p:cNvPr id="35" name="Shape 33"/>
          <p:cNvSpPr/>
          <p:nvPr/>
        </p:nvSpPr>
        <p:spPr>
          <a:xfrm>
            <a:off x="546602" y="5734687"/>
            <a:ext cx="4178261" cy="963502"/>
          </a:xfrm>
          <a:custGeom>
            <a:avLst/>
            <a:gdLst/>
            <a:ahLst/>
            <a:cxnLst/>
            <a:rect l="l" t="t" r="r" b="b"/>
            <a:pathLst>
              <a:path w="4178261" h="963502">
                <a:moveTo>
                  <a:pt x="37058" y="0"/>
                </a:moveTo>
                <a:lnTo>
                  <a:pt x="4104149" y="0"/>
                </a:lnTo>
                <a:cubicBezTo>
                  <a:pt x="4145080" y="0"/>
                  <a:pt x="4178261" y="33181"/>
                  <a:pt x="4178261" y="74113"/>
                </a:cubicBezTo>
                <a:lnTo>
                  <a:pt x="4178261" y="889389"/>
                </a:lnTo>
                <a:cubicBezTo>
                  <a:pt x="4178261" y="930293"/>
                  <a:pt x="4145053" y="963502"/>
                  <a:pt x="4104149" y="963502"/>
                </a:cubicBezTo>
                <a:lnTo>
                  <a:pt x="37058" y="963502"/>
                </a:lnTo>
                <a:cubicBezTo>
                  <a:pt x="16591" y="963502"/>
                  <a:pt x="0" y="946910"/>
                  <a:pt x="0" y="926444"/>
                </a:cubicBezTo>
                <a:lnTo>
                  <a:pt x="0" y="37058"/>
                </a:lnTo>
                <a:cubicBezTo>
                  <a:pt x="0" y="16591"/>
                  <a:pt x="16591" y="0"/>
                  <a:pt x="37058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</p:spPr>
      </p:sp>
      <p:sp>
        <p:nvSpPr>
          <p:cNvPr id="36" name="Shape 34"/>
          <p:cNvSpPr/>
          <p:nvPr/>
        </p:nvSpPr>
        <p:spPr>
          <a:xfrm>
            <a:off x="546602" y="5734687"/>
            <a:ext cx="37058" cy="963502"/>
          </a:xfrm>
          <a:custGeom>
            <a:avLst/>
            <a:gdLst/>
            <a:ahLst/>
            <a:cxnLst/>
            <a:rect l="l" t="t" r="r" b="b"/>
            <a:pathLst>
              <a:path w="37058" h="963502">
                <a:moveTo>
                  <a:pt x="37058" y="0"/>
                </a:moveTo>
                <a:lnTo>
                  <a:pt x="37058" y="0"/>
                </a:lnTo>
                <a:lnTo>
                  <a:pt x="37058" y="963502"/>
                </a:lnTo>
                <a:lnTo>
                  <a:pt x="37058" y="963502"/>
                </a:lnTo>
                <a:cubicBezTo>
                  <a:pt x="16591" y="963502"/>
                  <a:pt x="0" y="946910"/>
                  <a:pt x="0" y="926444"/>
                </a:cubicBezTo>
                <a:lnTo>
                  <a:pt x="0" y="37058"/>
                </a:lnTo>
                <a:cubicBezTo>
                  <a:pt x="0" y="16591"/>
                  <a:pt x="16591" y="0"/>
                  <a:pt x="37058" y="0"/>
                </a:cubicBezTo>
                <a:close/>
              </a:path>
            </a:pathLst>
          </a:custGeom>
          <a:solidFill>
            <a:srgbClr val="D4A373"/>
          </a:solidFill>
        </p:spPr>
      </p:sp>
      <p:sp>
        <p:nvSpPr>
          <p:cNvPr id="37" name="Text 35"/>
          <p:cNvSpPr/>
          <p:nvPr/>
        </p:nvSpPr>
        <p:spPr>
          <a:xfrm>
            <a:off x="676304" y="5845860"/>
            <a:ext cx="4011502" cy="22234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5" dirty="0">
                <a:solidFill>
                  <a:srgbClr val="D4A373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136号文后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76304" y="6105264"/>
            <a:ext cx="4020766" cy="2594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15" b="1" dirty="0">
                <a:solidFill>
                  <a:srgbClr val="F0F0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市场化交易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76304" y="6364669"/>
            <a:ext cx="4011502" cy="22234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5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+ 机制电价差价结算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4998309" y="1153422"/>
            <a:ext cx="6818626" cy="1954796"/>
          </a:xfrm>
          <a:custGeom>
            <a:avLst/>
            <a:gdLst/>
            <a:ahLst/>
            <a:cxnLst/>
            <a:rect l="l" t="t" r="r" b="b"/>
            <a:pathLst>
              <a:path w="6818626" h="1954796">
                <a:moveTo>
                  <a:pt x="74106" y="0"/>
                </a:moveTo>
                <a:lnTo>
                  <a:pt x="6744520" y="0"/>
                </a:lnTo>
                <a:cubicBezTo>
                  <a:pt x="6785448" y="0"/>
                  <a:pt x="6818626" y="33179"/>
                  <a:pt x="6818626" y="74106"/>
                </a:cubicBezTo>
                <a:lnTo>
                  <a:pt x="6818626" y="1880690"/>
                </a:lnTo>
                <a:cubicBezTo>
                  <a:pt x="6818626" y="1921618"/>
                  <a:pt x="6785448" y="1954796"/>
                  <a:pt x="6744520" y="1954796"/>
                </a:cubicBezTo>
                <a:lnTo>
                  <a:pt x="74106" y="1954796"/>
                </a:lnTo>
                <a:cubicBezTo>
                  <a:pt x="33179" y="1954796"/>
                  <a:pt x="0" y="1921618"/>
                  <a:pt x="0" y="1880690"/>
                </a:cubicBezTo>
                <a:lnTo>
                  <a:pt x="0" y="74106"/>
                </a:lnTo>
                <a:cubicBezTo>
                  <a:pt x="0" y="33206"/>
                  <a:pt x="33206" y="0"/>
                  <a:pt x="74106" y="0"/>
                </a:cubicBezTo>
                <a:close/>
              </a:path>
            </a:pathLst>
          </a:custGeom>
          <a:gradFill flip="none" rotWithShape="1">
            <a:gsLst>
              <a:gs pos="0">
                <a:srgbClr val="4A6C8C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12700">
            <a:solidFill>
              <a:srgbClr val="4A6C8C">
                <a:alpha val="40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174333" y="1343343"/>
            <a:ext cx="185289" cy="185289"/>
          </a:xfrm>
          <a:custGeom>
            <a:avLst/>
            <a:gdLst/>
            <a:ahLst/>
            <a:cxnLst/>
            <a:rect l="l" t="t" r="r" b="b"/>
            <a:pathLst>
              <a:path w="185289" h="185289">
                <a:moveTo>
                  <a:pt x="23161" y="23161"/>
                </a:moveTo>
                <a:cubicBezTo>
                  <a:pt x="23161" y="16756"/>
                  <a:pt x="17986" y="11581"/>
                  <a:pt x="11581" y="11581"/>
                </a:cubicBezTo>
                <a:cubicBezTo>
                  <a:pt x="5175" y="11581"/>
                  <a:pt x="0" y="16756"/>
                  <a:pt x="0" y="23161"/>
                </a:cubicBezTo>
                <a:lnTo>
                  <a:pt x="0" y="144757"/>
                </a:lnTo>
                <a:cubicBezTo>
                  <a:pt x="0" y="160752"/>
                  <a:pt x="12956" y="173708"/>
                  <a:pt x="28951" y="173708"/>
                </a:cubicBezTo>
                <a:lnTo>
                  <a:pt x="173708" y="173708"/>
                </a:lnTo>
                <a:cubicBezTo>
                  <a:pt x="180114" y="173708"/>
                  <a:pt x="185289" y="168533"/>
                  <a:pt x="185289" y="162128"/>
                </a:cubicBezTo>
                <a:cubicBezTo>
                  <a:pt x="185289" y="155722"/>
                  <a:pt x="180114" y="150547"/>
                  <a:pt x="173708" y="150547"/>
                </a:cubicBezTo>
                <a:lnTo>
                  <a:pt x="28951" y="150547"/>
                </a:lnTo>
                <a:cubicBezTo>
                  <a:pt x="25767" y="150547"/>
                  <a:pt x="23161" y="147941"/>
                  <a:pt x="23161" y="144757"/>
                </a:cubicBezTo>
                <a:lnTo>
                  <a:pt x="23161" y="23161"/>
                </a:lnTo>
                <a:close/>
                <a:moveTo>
                  <a:pt x="170306" y="54501"/>
                </a:moveTo>
                <a:cubicBezTo>
                  <a:pt x="174830" y="49977"/>
                  <a:pt x="174830" y="42631"/>
                  <a:pt x="170306" y="38107"/>
                </a:cubicBezTo>
                <a:cubicBezTo>
                  <a:pt x="165783" y="33584"/>
                  <a:pt x="158436" y="33584"/>
                  <a:pt x="153913" y="38107"/>
                </a:cubicBezTo>
                <a:lnTo>
                  <a:pt x="115805" y="76251"/>
                </a:lnTo>
                <a:lnTo>
                  <a:pt x="95033" y="55514"/>
                </a:lnTo>
                <a:cubicBezTo>
                  <a:pt x="90509" y="50991"/>
                  <a:pt x="83163" y="50991"/>
                  <a:pt x="78639" y="55514"/>
                </a:cubicBezTo>
                <a:lnTo>
                  <a:pt x="43898" y="90256"/>
                </a:lnTo>
                <a:cubicBezTo>
                  <a:pt x="39374" y="94780"/>
                  <a:pt x="39374" y="102126"/>
                  <a:pt x="43898" y="106650"/>
                </a:cubicBezTo>
                <a:cubicBezTo>
                  <a:pt x="48421" y="111173"/>
                  <a:pt x="55768" y="111173"/>
                  <a:pt x="60291" y="106650"/>
                </a:cubicBezTo>
                <a:lnTo>
                  <a:pt x="86854" y="80087"/>
                </a:lnTo>
                <a:lnTo>
                  <a:pt x="107627" y="100859"/>
                </a:lnTo>
                <a:cubicBezTo>
                  <a:pt x="112150" y="105383"/>
                  <a:pt x="119497" y="105383"/>
                  <a:pt x="124020" y="100859"/>
                </a:cubicBezTo>
                <a:lnTo>
                  <a:pt x="170343" y="54537"/>
                </a:lnTo>
                <a:close/>
              </a:path>
            </a:pathLst>
          </a:custGeom>
          <a:solidFill>
            <a:srgbClr val="D4A373"/>
          </a:solidFill>
        </p:spPr>
      </p:sp>
      <p:sp>
        <p:nvSpPr>
          <p:cNvPr id="42" name="Text 40"/>
          <p:cNvSpPr/>
          <p:nvPr/>
        </p:nvSpPr>
        <p:spPr>
          <a:xfrm>
            <a:off x="5382783" y="1306286"/>
            <a:ext cx="6373933" cy="2594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60" b="1" dirty="0">
                <a:solidFill>
                  <a:srgbClr val="F0F0F0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市场现实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5155804" y="1681495"/>
            <a:ext cx="2084498" cy="1269228"/>
          </a:xfrm>
          <a:custGeom>
            <a:avLst/>
            <a:gdLst/>
            <a:ahLst/>
            <a:cxnLst/>
            <a:rect l="l" t="t" r="r" b="b"/>
            <a:pathLst>
              <a:path w="2084498" h="1269228">
                <a:moveTo>
                  <a:pt x="74110" y="0"/>
                </a:moveTo>
                <a:lnTo>
                  <a:pt x="2010388" y="0"/>
                </a:lnTo>
                <a:cubicBezTo>
                  <a:pt x="2051318" y="0"/>
                  <a:pt x="2084498" y="33180"/>
                  <a:pt x="2084498" y="74110"/>
                </a:cubicBezTo>
                <a:lnTo>
                  <a:pt x="2084498" y="1195118"/>
                </a:lnTo>
                <a:cubicBezTo>
                  <a:pt x="2084498" y="1236048"/>
                  <a:pt x="2051318" y="1269228"/>
                  <a:pt x="2010388" y="1269228"/>
                </a:cubicBezTo>
                <a:lnTo>
                  <a:pt x="74110" y="1269228"/>
                </a:lnTo>
                <a:cubicBezTo>
                  <a:pt x="33180" y="1269228"/>
                  <a:pt x="0" y="1236048"/>
                  <a:pt x="0" y="1195118"/>
                </a:cubicBezTo>
                <a:lnTo>
                  <a:pt x="0" y="74110"/>
                </a:lnTo>
                <a:cubicBezTo>
                  <a:pt x="0" y="33208"/>
                  <a:pt x="33208" y="0"/>
                  <a:pt x="74110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 w="12700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234552" y="1797301"/>
            <a:ext cx="1927003" cy="22234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65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山东2025年4月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5216023" y="2056705"/>
            <a:ext cx="1964061" cy="29646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750" b="1" dirty="0">
                <a:solidFill>
                  <a:srgbClr val="D4A373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0.0159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5234552" y="2353167"/>
            <a:ext cx="1927003" cy="22234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65" dirty="0">
                <a:solidFill>
                  <a:srgbClr val="F0F0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元/kWh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5234552" y="2612571"/>
            <a:ext cx="1927003" cy="22234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65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现货均价（极端低价）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7362333" y="1681495"/>
            <a:ext cx="2084498" cy="1269228"/>
          </a:xfrm>
          <a:custGeom>
            <a:avLst/>
            <a:gdLst/>
            <a:ahLst/>
            <a:cxnLst/>
            <a:rect l="l" t="t" r="r" b="b"/>
            <a:pathLst>
              <a:path w="2084498" h="1269228">
                <a:moveTo>
                  <a:pt x="74110" y="0"/>
                </a:moveTo>
                <a:lnTo>
                  <a:pt x="2010388" y="0"/>
                </a:lnTo>
                <a:cubicBezTo>
                  <a:pt x="2051318" y="0"/>
                  <a:pt x="2084498" y="33180"/>
                  <a:pt x="2084498" y="74110"/>
                </a:cubicBezTo>
                <a:lnTo>
                  <a:pt x="2084498" y="1195118"/>
                </a:lnTo>
                <a:cubicBezTo>
                  <a:pt x="2084498" y="1236048"/>
                  <a:pt x="2051318" y="1269228"/>
                  <a:pt x="2010388" y="1269228"/>
                </a:cubicBezTo>
                <a:lnTo>
                  <a:pt x="74110" y="1269228"/>
                </a:lnTo>
                <a:cubicBezTo>
                  <a:pt x="33180" y="1269228"/>
                  <a:pt x="0" y="1236048"/>
                  <a:pt x="0" y="1195118"/>
                </a:cubicBezTo>
                <a:lnTo>
                  <a:pt x="0" y="74110"/>
                </a:lnTo>
                <a:cubicBezTo>
                  <a:pt x="0" y="33208"/>
                  <a:pt x="33208" y="0"/>
                  <a:pt x="74110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 w="12700">
            <a:solidFill>
              <a:srgbClr val="D4A373">
                <a:alpha val="30196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441081" y="1797301"/>
            <a:ext cx="1927003" cy="22234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65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广东2025年全年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7422552" y="2056705"/>
            <a:ext cx="1964061" cy="29646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750" b="1" dirty="0">
                <a:solidFill>
                  <a:srgbClr val="D4A373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0.38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7441081" y="2353167"/>
            <a:ext cx="1927003" cy="22234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65" dirty="0">
                <a:solidFill>
                  <a:srgbClr val="F0F0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元/kWh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7441081" y="2612571"/>
            <a:ext cx="1927003" cy="22234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65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均价（同比-14.2%）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9568861" y="1681495"/>
            <a:ext cx="2084498" cy="1269228"/>
          </a:xfrm>
          <a:custGeom>
            <a:avLst/>
            <a:gdLst/>
            <a:ahLst/>
            <a:cxnLst/>
            <a:rect l="l" t="t" r="r" b="b"/>
            <a:pathLst>
              <a:path w="2084498" h="1269228">
                <a:moveTo>
                  <a:pt x="74110" y="0"/>
                </a:moveTo>
                <a:lnTo>
                  <a:pt x="2010388" y="0"/>
                </a:lnTo>
                <a:cubicBezTo>
                  <a:pt x="2051318" y="0"/>
                  <a:pt x="2084498" y="33180"/>
                  <a:pt x="2084498" y="74110"/>
                </a:cubicBezTo>
                <a:lnTo>
                  <a:pt x="2084498" y="1195118"/>
                </a:lnTo>
                <a:cubicBezTo>
                  <a:pt x="2084498" y="1236048"/>
                  <a:pt x="2051318" y="1269228"/>
                  <a:pt x="2010388" y="1269228"/>
                </a:cubicBezTo>
                <a:lnTo>
                  <a:pt x="74110" y="1269228"/>
                </a:lnTo>
                <a:cubicBezTo>
                  <a:pt x="33180" y="1269228"/>
                  <a:pt x="0" y="1236048"/>
                  <a:pt x="0" y="1195118"/>
                </a:cubicBezTo>
                <a:lnTo>
                  <a:pt x="0" y="74110"/>
                </a:lnTo>
                <a:cubicBezTo>
                  <a:pt x="0" y="33208"/>
                  <a:pt x="33208" y="0"/>
                  <a:pt x="74110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 w="12700">
            <a:solidFill>
              <a:srgbClr val="8D99AE">
                <a:alpha val="30196"/>
              </a:srgbClr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9647609" y="1797301"/>
            <a:ext cx="1927003" cy="22234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65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负电价频现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9629080" y="2056705"/>
            <a:ext cx="1964061" cy="29646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750" b="1" dirty="0">
                <a:solidFill>
                  <a:srgbClr val="D4A373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午间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9647609" y="2353167"/>
            <a:ext cx="1927003" cy="22234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65" dirty="0">
                <a:solidFill>
                  <a:srgbClr val="F0F0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光伏大发时段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9647609" y="2612571"/>
            <a:ext cx="1927003" cy="22234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65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价格归零甚至为负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4998309" y="3228657"/>
            <a:ext cx="6818626" cy="3622395"/>
          </a:xfrm>
          <a:custGeom>
            <a:avLst/>
            <a:gdLst/>
            <a:ahLst/>
            <a:cxnLst/>
            <a:rect l="l" t="t" r="r" b="b"/>
            <a:pathLst>
              <a:path w="6818626" h="3622395">
                <a:moveTo>
                  <a:pt x="74114" y="0"/>
                </a:moveTo>
                <a:lnTo>
                  <a:pt x="6744512" y="0"/>
                </a:lnTo>
                <a:cubicBezTo>
                  <a:pt x="6785444" y="0"/>
                  <a:pt x="6818626" y="33182"/>
                  <a:pt x="6818626" y="74114"/>
                </a:cubicBezTo>
                <a:lnTo>
                  <a:pt x="6818626" y="3548281"/>
                </a:lnTo>
                <a:cubicBezTo>
                  <a:pt x="6818626" y="3589213"/>
                  <a:pt x="6785444" y="3622395"/>
                  <a:pt x="6744512" y="3622395"/>
                </a:cubicBezTo>
                <a:lnTo>
                  <a:pt x="74114" y="3622395"/>
                </a:lnTo>
                <a:cubicBezTo>
                  <a:pt x="33182" y="3622395"/>
                  <a:pt x="0" y="3589213"/>
                  <a:pt x="0" y="3548281"/>
                </a:cubicBezTo>
                <a:lnTo>
                  <a:pt x="0" y="74114"/>
                </a:lnTo>
                <a:cubicBezTo>
                  <a:pt x="0" y="33209"/>
                  <a:pt x="33209" y="0"/>
                  <a:pt x="74114" y="0"/>
                </a:cubicBezTo>
                <a:close/>
              </a:path>
            </a:pathLst>
          </a:custGeom>
          <a:gradFill flip="none" rotWithShape="1">
            <a:gsLst>
              <a:gs pos="0">
                <a:srgbClr val="D4A373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12700">
            <a:solidFill>
              <a:srgbClr val="D4A373">
                <a:alpha val="40000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5197494" y="3418578"/>
            <a:ext cx="138967" cy="185289"/>
          </a:xfrm>
          <a:custGeom>
            <a:avLst/>
            <a:gdLst/>
            <a:ahLst/>
            <a:cxnLst/>
            <a:rect l="l" t="t" r="r" b="b"/>
            <a:pathLst>
              <a:path w="138967" h="185289">
                <a:moveTo>
                  <a:pt x="105998" y="138967"/>
                </a:moveTo>
                <a:cubicBezTo>
                  <a:pt x="108640" y="130896"/>
                  <a:pt x="113924" y="123586"/>
                  <a:pt x="119895" y="117289"/>
                </a:cubicBezTo>
                <a:cubicBezTo>
                  <a:pt x="131729" y="104840"/>
                  <a:pt x="138967" y="88012"/>
                  <a:pt x="138967" y="69483"/>
                </a:cubicBezTo>
                <a:cubicBezTo>
                  <a:pt x="138967" y="31123"/>
                  <a:pt x="107844" y="0"/>
                  <a:pt x="69483" y="0"/>
                </a:cubicBezTo>
                <a:cubicBezTo>
                  <a:pt x="31123" y="0"/>
                  <a:pt x="0" y="31123"/>
                  <a:pt x="0" y="69483"/>
                </a:cubicBezTo>
                <a:cubicBezTo>
                  <a:pt x="0" y="88012"/>
                  <a:pt x="7238" y="104840"/>
                  <a:pt x="19072" y="117289"/>
                </a:cubicBezTo>
                <a:cubicBezTo>
                  <a:pt x="25043" y="123586"/>
                  <a:pt x="30363" y="130896"/>
                  <a:pt x="32968" y="138967"/>
                </a:cubicBezTo>
                <a:lnTo>
                  <a:pt x="105962" y="138967"/>
                </a:lnTo>
                <a:close/>
                <a:moveTo>
                  <a:pt x="104225" y="156337"/>
                </a:moveTo>
                <a:lnTo>
                  <a:pt x="34742" y="156337"/>
                </a:lnTo>
                <a:lnTo>
                  <a:pt x="34742" y="162128"/>
                </a:lnTo>
                <a:cubicBezTo>
                  <a:pt x="34742" y="178123"/>
                  <a:pt x="47697" y="191079"/>
                  <a:pt x="63693" y="191079"/>
                </a:cubicBezTo>
                <a:lnTo>
                  <a:pt x="75274" y="191079"/>
                </a:lnTo>
                <a:cubicBezTo>
                  <a:pt x="91269" y="191079"/>
                  <a:pt x="104225" y="178123"/>
                  <a:pt x="104225" y="162128"/>
                </a:cubicBezTo>
                <a:lnTo>
                  <a:pt x="104225" y="156337"/>
                </a:lnTo>
                <a:close/>
                <a:moveTo>
                  <a:pt x="66588" y="40532"/>
                </a:moveTo>
                <a:cubicBezTo>
                  <a:pt x="52185" y="40532"/>
                  <a:pt x="40532" y="52185"/>
                  <a:pt x="40532" y="66588"/>
                </a:cubicBezTo>
                <a:cubicBezTo>
                  <a:pt x="40532" y="71401"/>
                  <a:pt x="36660" y="75274"/>
                  <a:pt x="31847" y="75274"/>
                </a:cubicBezTo>
                <a:cubicBezTo>
                  <a:pt x="27033" y="75274"/>
                  <a:pt x="23161" y="71401"/>
                  <a:pt x="23161" y="66588"/>
                </a:cubicBezTo>
                <a:cubicBezTo>
                  <a:pt x="23161" y="42595"/>
                  <a:pt x="42595" y="23161"/>
                  <a:pt x="66588" y="23161"/>
                </a:cubicBezTo>
                <a:cubicBezTo>
                  <a:pt x="71401" y="23161"/>
                  <a:pt x="75274" y="27033"/>
                  <a:pt x="75274" y="31847"/>
                </a:cubicBezTo>
                <a:cubicBezTo>
                  <a:pt x="75274" y="36660"/>
                  <a:pt x="71401" y="40532"/>
                  <a:pt x="66588" y="40532"/>
                </a:cubicBezTo>
                <a:close/>
              </a:path>
            </a:pathLst>
          </a:custGeom>
          <a:solidFill>
            <a:srgbClr val="D4A373"/>
          </a:solidFill>
        </p:spPr>
      </p:sp>
      <p:sp>
        <p:nvSpPr>
          <p:cNvPr id="60" name="Text 58"/>
          <p:cNvSpPr/>
          <p:nvPr/>
        </p:nvSpPr>
        <p:spPr>
          <a:xfrm>
            <a:off x="5382783" y="3381520"/>
            <a:ext cx="6373933" cy="2594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60" b="1" dirty="0">
                <a:solidFill>
                  <a:srgbClr val="F0F0F0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核心洞察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5169701" y="3752097"/>
            <a:ext cx="6494371" cy="1389666"/>
          </a:xfrm>
          <a:custGeom>
            <a:avLst/>
            <a:gdLst/>
            <a:ahLst/>
            <a:cxnLst/>
            <a:rect l="l" t="t" r="r" b="b"/>
            <a:pathLst>
              <a:path w="6494371" h="1389666">
                <a:moveTo>
                  <a:pt x="37058" y="0"/>
                </a:moveTo>
                <a:lnTo>
                  <a:pt x="6420260" y="0"/>
                </a:lnTo>
                <a:cubicBezTo>
                  <a:pt x="6461190" y="0"/>
                  <a:pt x="6494371" y="33181"/>
                  <a:pt x="6494371" y="74111"/>
                </a:cubicBezTo>
                <a:lnTo>
                  <a:pt x="6494371" y="1315555"/>
                </a:lnTo>
                <a:cubicBezTo>
                  <a:pt x="6494371" y="1356485"/>
                  <a:pt x="6461190" y="1389666"/>
                  <a:pt x="6420260" y="1389666"/>
                </a:cubicBezTo>
                <a:lnTo>
                  <a:pt x="37058" y="1389666"/>
                </a:lnTo>
                <a:cubicBezTo>
                  <a:pt x="16591" y="1389666"/>
                  <a:pt x="0" y="1373074"/>
                  <a:pt x="0" y="1352608"/>
                </a:cubicBezTo>
                <a:lnTo>
                  <a:pt x="0" y="37058"/>
                </a:lnTo>
                <a:cubicBezTo>
                  <a:pt x="0" y="16591"/>
                  <a:pt x="16591" y="0"/>
                  <a:pt x="37058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</p:spPr>
      </p:sp>
      <p:sp>
        <p:nvSpPr>
          <p:cNvPr id="62" name="Shape 60"/>
          <p:cNvSpPr/>
          <p:nvPr/>
        </p:nvSpPr>
        <p:spPr>
          <a:xfrm>
            <a:off x="5169701" y="3752097"/>
            <a:ext cx="37058" cy="1389666"/>
          </a:xfrm>
          <a:custGeom>
            <a:avLst/>
            <a:gdLst/>
            <a:ahLst/>
            <a:cxnLst/>
            <a:rect l="l" t="t" r="r" b="b"/>
            <a:pathLst>
              <a:path w="37058" h="1389666">
                <a:moveTo>
                  <a:pt x="37058" y="0"/>
                </a:moveTo>
                <a:lnTo>
                  <a:pt x="37058" y="0"/>
                </a:lnTo>
                <a:lnTo>
                  <a:pt x="37058" y="1389666"/>
                </a:lnTo>
                <a:lnTo>
                  <a:pt x="37058" y="1389666"/>
                </a:lnTo>
                <a:cubicBezTo>
                  <a:pt x="16591" y="1389666"/>
                  <a:pt x="0" y="1373074"/>
                  <a:pt x="0" y="1352608"/>
                </a:cubicBezTo>
                <a:lnTo>
                  <a:pt x="0" y="37058"/>
                </a:lnTo>
                <a:cubicBezTo>
                  <a:pt x="0" y="16591"/>
                  <a:pt x="16591" y="0"/>
                  <a:pt x="37058" y="0"/>
                </a:cubicBezTo>
                <a:close/>
              </a:path>
            </a:pathLst>
          </a:custGeom>
          <a:solidFill>
            <a:srgbClr val="D4A373"/>
          </a:solidFill>
        </p:spPr>
      </p:sp>
      <p:sp>
        <p:nvSpPr>
          <p:cNvPr id="63" name="Text 61"/>
          <p:cNvSpPr/>
          <p:nvPr/>
        </p:nvSpPr>
        <p:spPr>
          <a:xfrm>
            <a:off x="5336461" y="3900328"/>
            <a:ext cx="6262760" cy="26866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15" dirty="0">
                <a:solidFill>
                  <a:srgbClr val="F0F0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市场化交易时代，</a:t>
            </a:r>
            <a:r>
              <a:rPr lang="en-US" sz="1315" b="1" dirty="0">
                <a:solidFill>
                  <a:srgbClr val="D4A373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『自发自用率』</a:t>
            </a:r>
            <a:r>
              <a:rPr lang="en-US" sz="1315" dirty="0">
                <a:solidFill>
                  <a:srgbClr val="F0F0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成为生死线</a:t>
            </a:r>
            <a:endParaRPr lang="en-US" sz="1600" dirty="0"/>
          </a:p>
        </p:txBody>
      </p:sp>
      <p:sp>
        <p:nvSpPr>
          <p:cNvPr id="64" name="Shape 62"/>
          <p:cNvSpPr/>
          <p:nvPr/>
        </p:nvSpPr>
        <p:spPr>
          <a:xfrm>
            <a:off x="5336461" y="4282486"/>
            <a:ext cx="6179380" cy="9264"/>
          </a:xfrm>
          <a:custGeom>
            <a:avLst/>
            <a:gdLst/>
            <a:ahLst/>
            <a:cxnLst/>
            <a:rect l="l" t="t" r="r" b="b"/>
            <a:pathLst>
              <a:path w="6179380" h="9264">
                <a:moveTo>
                  <a:pt x="0" y="0"/>
                </a:moveTo>
                <a:lnTo>
                  <a:pt x="6179380" y="0"/>
                </a:lnTo>
                <a:lnTo>
                  <a:pt x="6179380" y="9264"/>
                </a:lnTo>
                <a:lnTo>
                  <a:pt x="0" y="9264"/>
                </a:lnTo>
                <a:lnTo>
                  <a:pt x="0" y="0"/>
                </a:lnTo>
                <a:close/>
              </a:path>
            </a:pathLst>
          </a:custGeom>
          <a:solidFill>
            <a:srgbClr val="8D99AE">
              <a:alpha val="30196"/>
            </a:srgbClr>
          </a:solidFill>
        </p:spPr>
      </p:sp>
      <p:sp>
        <p:nvSpPr>
          <p:cNvPr id="65" name="Text 63"/>
          <p:cNvSpPr/>
          <p:nvPr/>
        </p:nvSpPr>
        <p:spPr>
          <a:xfrm>
            <a:off x="5336461" y="4402924"/>
            <a:ext cx="796742" cy="22234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5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最低要求</a:t>
            </a:r>
            <a:endParaRPr lang="en-US" sz="1600" dirty="0"/>
          </a:p>
        </p:txBody>
      </p:sp>
      <p:sp>
        <p:nvSpPr>
          <p:cNvPr id="66" name="Text 64"/>
          <p:cNvSpPr/>
          <p:nvPr/>
        </p:nvSpPr>
        <p:spPr>
          <a:xfrm>
            <a:off x="5336461" y="4662328"/>
            <a:ext cx="861593" cy="333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190" b="1" dirty="0">
                <a:solidFill>
                  <a:srgbClr val="D4A373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&gt;60%</a:t>
            </a:r>
            <a:endParaRPr lang="en-US" sz="1600" dirty="0"/>
          </a:p>
        </p:txBody>
      </p:sp>
      <p:sp>
        <p:nvSpPr>
          <p:cNvPr id="67" name="Text 65"/>
          <p:cNvSpPr/>
          <p:nvPr/>
        </p:nvSpPr>
        <p:spPr>
          <a:xfrm>
            <a:off x="10085788" y="4439982"/>
            <a:ext cx="1426723" cy="22234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165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目标</a:t>
            </a:r>
            <a:endParaRPr lang="en-US" sz="1600" dirty="0"/>
          </a:p>
        </p:txBody>
      </p:sp>
      <p:sp>
        <p:nvSpPr>
          <p:cNvPr id="68" name="Text 66"/>
          <p:cNvSpPr/>
          <p:nvPr/>
        </p:nvSpPr>
        <p:spPr>
          <a:xfrm>
            <a:off x="10067259" y="4699386"/>
            <a:ext cx="1445252" cy="2594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460" b="1" dirty="0">
                <a:solidFill>
                  <a:srgbClr val="F0F0F0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维持基准IRR 8%</a:t>
            </a:r>
            <a:endParaRPr lang="en-US" sz="1600" dirty="0"/>
          </a:p>
        </p:txBody>
      </p:sp>
      <p:sp>
        <p:nvSpPr>
          <p:cNvPr id="69" name="Shape 67"/>
          <p:cNvSpPr/>
          <p:nvPr/>
        </p:nvSpPr>
        <p:spPr>
          <a:xfrm>
            <a:off x="5155804" y="5259884"/>
            <a:ext cx="6503635" cy="472486"/>
          </a:xfrm>
          <a:custGeom>
            <a:avLst/>
            <a:gdLst/>
            <a:ahLst/>
            <a:cxnLst/>
            <a:rect l="l" t="t" r="r" b="b"/>
            <a:pathLst>
              <a:path w="6503635" h="472486">
                <a:moveTo>
                  <a:pt x="74114" y="0"/>
                </a:moveTo>
                <a:lnTo>
                  <a:pt x="6429521" y="0"/>
                </a:lnTo>
                <a:cubicBezTo>
                  <a:pt x="6470453" y="0"/>
                  <a:pt x="6503635" y="33182"/>
                  <a:pt x="6503635" y="74114"/>
                </a:cubicBezTo>
                <a:lnTo>
                  <a:pt x="6503635" y="398372"/>
                </a:lnTo>
                <a:cubicBezTo>
                  <a:pt x="6503635" y="439304"/>
                  <a:pt x="6470453" y="472486"/>
                  <a:pt x="6429521" y="472486"/>
                </a:cubicBezTo>
                <a:lnTo>
                  <a:pt x="74114" y="472486"/>
                </a:lnTo>
                <a:cubicBezTo>
                  <a:pt x="33209" y="472486"/>
                  <a:pt x="0" y="439277"/>
                  <a:pt x="0" y="398372"/>
                </a:cubicBezTo>
                <a:lnTo>
                  <a:pt x="0" y="74114"/>
                </a:lnTo>
                <a:cubicBezTo>
                  <a:pt x="0" y="33209"/>
                  <a:pt x="33209" y="0"/>
                  <a:pt x="74114" y="0"/>
                </a:cubicBezTo>
                <a:close/>
              </a:path>
            </a:pathLst>
          </a:custGeom>
          <a:gradFill flip="none" rotWithShape="1">
            <a:gsLst>
              <a:gs pos="0">
                <a:srgbClr val="4A6C8C">
                  <a:alpha val="30000"/>
                </a:srgbClr>
              </a:gs>
              <a:gs pos="100000">
                <a:srgbClr val="D4A373">
                  <a:alpha val="30000"/>
                </a:srgbClr>
              </a:gs>
            </a:gsLst>
            <a:lin ang="0" scaled="1"/>
          </a:gradFill>
          <a:ln w="12700">
            <a:solidFill>
              <a:srgbClr val="D4A373">
                <a:alpha val="50196"/>
              </a:srgbClr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5290139" y="5412748"/>
            <a:ext cx="148231" cy="148231"/>
          </a:xfrm>
          <a:custGeom>
            <a:avLst/>
            <a:gdLst/>
            <a:ahLst/>
            <a:cxnLst/>
            <a:rect l="l" t="t" r="r" b="b"/>
            <a:pathLst>
              <a:path w="148231" h="148231">
                <a:moveTo>
                  <a:pt x="74116" y="0"/>
                </a:moveTo>
                <a:cubicBezTo>
                  <a:pt x="78371" y="0"/>
                  <a:pt x="82280" y="2345"/>
                  <a:pt x="84306" y="6080"/>
                </a:cubicBezTo>
                <a:lnTo>
                  <a:pt x="146841" y="121885"/>
                </a:lnTo>
                <a:cubicBezTo>
                  <a:pt x="148781" y="125475"/>
                  <a:pt x="148694" y="129818"/>
                  <a:pt x="146610" y="133321"/>
                </a:cubicBezTo>
                <a:cubicBezTo>
                  <a:pt x="144525" y="136824"/>
                  <a:pt x="140733" y="138967"/>
                  <a:pt x="136650" y="138967"/>
                </a:cubicBezTo>
                <a:lnTo>
                  <a:pt x="11581" y="138967"/>
                </a:lnTo>
                <a:cubicBezTo>
                  <a:pt x="7498" y="138967"/>
                  <a:pt x="3735" y="136824"/>
                  <a:pt x="1621" y="133321"/>
                </a:cubicBezTo>
                <a:cubicBezTo>
                  <a:pt x="-492" y="129818"/>
                  <a:pt x="-550" y="125475"/>
                  <a:pt x="1390" y="121885"/>
                </a:cubicBezTo>
                <a:lnTo>
                  <a:pt x="63925" y="6080"/>
                </a:lnTo>
                <a:cubicBezTo>
                  <a:pt x="65951" y="2345"/>
                  <a:pt x="69860" y="0"/>
                  <a:pt x="74116" y="0"/>
                </a:cubicBezTo>
                <a:close/>
                <a:moveTo>
                  <a:pt x="74116" y="48638"/>
                </a:moveTo>
                <a:cubicBezTo>
                  <a:pt x="70265" y="48638"/>
                  <a:pt x="67167" y="51736"/>
                  <a:pt x="67167" y="55587"/>
                </a:cubicBezTo>
                <a:lnTo>
                  <a:pt x="67167" y="88012"/>
                </a:lnTo>
                <a:cubicBezTo>
                  <a:pt x="67167" y="91863"/>
                  <a:pt x="70265" y="94960"/>
                  <a:pt x="74116" y="94960"/>
                </a:cubicBezTo>
                <a:cubicBezTo>
                  <a:pt x="77966" y="94960"/>
                  <a:pt x="81064" y="91863"/>
                  <a:pt x="81064" y="88012"/>
                </a:cubicBezTo>
                <a:lnTo>
                  <a:pt x="81064" y="55587"/>
                </a:lnTo>
                <a:cubicBezTo>
                  <a:pt x="81064" y="51736"/>
                  <a:pt x="77966" y="48638"/>
                  <a:pt x="74116" y="48638"/>
                </a:cubicBezTo>
                <a:close/>
                <a:moveTo>
                  <a:pt x="81846" y="111173"/>
                </a:moveTo>
                <a:cubicBezTo>
                  <a:pt x="82021" y="108304"/>
                  <a:pt x="80590" y="105574"/>
                  <a:pt x="78131" y="104086"/>
                </a:cubicBezTo>
                <a:cubicBezTo>
                  <a:pt x="75671" y="102598"/>
                  <a:pt x="72589" y="102598"/>
                  <a:pt x="70129" y="104086"/>
                </a:cubicBezTo>
                <a:cubicBezTo>
                  <a:pt x="67670" y="105574"/>
                  <a:pt x="66239" y="108304"/>
                  <a:pt x="66414" y="111173"/>
                </a:cubicBezTo>
                <a:cubicBezTo>
                  <a:pt x="66239" y="114043"/>
                  <a:pt x="67670" y="116772"/>
                  <a:pt x="70129" y="118260"/>
                </a:cubicBezTo>
                <a:cubicBezTo>
                  <a:pt x="72589" y="119748"/>
                  <a:pt x="75671" y="119748"/>
                  <a:pt x="78131" y="118260"/>
                </a:cubicBezTo>
                <a:cubicBezTo>
                  <a:pt x="80590" y="116772"/>
                  <a:pt x="82021" y="114043"/>
                  <a:pt x="81846" y="111173"/>
                </a:cubicBezTo>
                <a:close/>
              </a:path>
            </a:pathLst>
          </a:custGeom>
          <a:solidFill>
            <a:srgbClr val="D4A373"/>
          </a:solidFill>
        </p:spPr>
      </p:sp>
      <p:sp>
        <p:nvSpPr>
          <p:cNvPr id="71" name="Text 69"/>
          <p:cNvSpPr/>
          <p:nvPr/>
        </p:nvSpPr>
        <p:spPr>
          <a:xfrm>
            <a:off x="5510965" y="5375690"/>
            <a:ext cx="6106785" cy="2408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65" dirty="0">
                <a:solidFill>
                  <a:srgbClr val="F0F0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优先高负荷园区，锁定长协，确保自发自用率达标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76878" y="414566"/>
            <a:ext cx="37688" cy="301502"/>
          </a:xfrm>
          <a:custGeom>
            <a:avLst/>
            <a:gdLst/>
            <a:ahLst/>
            <a:cxnLst/>
            <a:rect l="l" t="t" r="r" b="b"/>
            <a:pathLst>
              <a:path w="37688" h="301502">
                <a:moveTo>
                  <a:pt x="0" y="0"/>
                </a:moveTo>
                <a:lnTo>
                  <a:pt x="37688" y="0"/>
                </a:lnTo>
                <a:lnTo>
                  <a:pt x="37688" y="301502"/>
                </a:lnTo>
                <a:lnTo>
                  <a:pt x="0" y="301502"/>
                </a:lnTo>
                <a:lnTo>
                  <a:pt x="0" y="0"/>
                </a:lnTo>
                <a:close/>
              </a:path>
            </a:pathLst>
          </a:custGeom>
          <a:solidFill>
            <a:srgbClr val="D4A373"/>
          </a:solidFill>
        </p:spPr>
      </p:sp>
      <p:sp>
        <p:nvSpPr>
          <p:cNvPr id="3" name="Text 1"/>
          <p:cNvSpPr/>
          <p:nvPr/>
        </p:nvSpPr>
        <p:spPr>
          <a:xfrm>
            <a:off x="527629" y="376878"/>
            <a:ext cx="5690856" cy="37687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670" b="1" dirty="0">
                <a:solidFill>
                  <a:srgbClr val="F0F0F0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Scatec YieldCo模式详解（优化版）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65317" y="829131"/>
            <a:ext cx="11334603" cy="2638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dirty="0">
                <a:solidFill>
                  <a:srgbClr val="8D99AE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SCATEC YIELDCO MODEL (OPTIMIZED)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1589" y="1248408"/>
            <a:ext cx="5615481" cy="5606059"/>
          </a:xfrm>
          <a:custGeom>
            <a:avLst/>
            <a:gdLst/>
            <a:ahLst/>
            <a:cxnLst/>
            <a:rect l="l" t="t" r="r" b="b"/>
            <a:pathLst>
              <a:path w="5615481" h="5606059">
                <a:moveTo>
                  <a:pt x="75401" y="0"/>
                </a:moveTo>
                <a:lnTo>
                  <a:pt x="5540079" y="0"/>
                </a:lnTo>
                <a:cubicBezTo>
                  <a:pt x="5581722" y="0"/>
                  <a:pt x="5615481" y="33758"/>
                  <a:pt x="5615481" y="75401"/>
                </a:cubicBezTo>
                <a:lnTo>
                  <a:pt x="5615481" y="5530657"/>
                </a:lnTo>
                <a:cubicBezTo>
                  <a:pt x="5615481" y="5572300"/>
                  <a:pt x="5581722" y="5606059"/>
                  <a:pt x="5540079" y="5606059"/>
                </a:cubicBezTo>
                <a:lnTo>
                  <a:pt x="75401" y="5606059"/>
                </a:lnTo>
                <a:cubicBezTo>
                  <a:pt x="33758" y="5606059"/>
                  <a:pt x="0" y="5572300"/>
                  <a:pt x="0" y="5530657"/>
                </a:cubicBezTo>
                <a:lnTo>
                  <a:pt x="0" y="75401"/>
                </a:lnTo>
                <a:cubicBezTo>
                  <a:pt x="0" y="33786"/>
                  <a:pt x="33786" y="0"/>
                  <a:pt x="75401" y="0"/>
                </a:cubicBezTo>
                <a:close/>
              </a:path>
            </a:pathLst>
          </a:custGeom>
          <a:gradFill flip="none" rotWithShape="1">
            <a:gsLst>
              <a:gs pos="0">
                <a:srgbClr val="4A6C8C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12700">
            <a:solidFill>
              <a:srgbClr val="4A6C8C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03005" y="1479246"/>
            <a:ext cx="226127" cy="226127"/>
          </a:xfrm>
          <a:custGeom>
            <a:avLst/>
            <a:gdLst/>
            <a:ahLst/>
            <a:cxnLst/>
            <a:rect l="l" t="t" r="r" b="b"/>
            <a:pathLst>
              <a:path w="226127" h="226127">
                <a:moveTo>
                  <a:pt x="102685" y="2297"/>
                </a:moveTo>
                <a:cubicBezTo>
                  <a:pt x="109265" y="-751"/>
                  <a:pt x="116862" y="-751"/>
                  <a:pt x="123442" y="2297"/>
                </a:cubicBezTo>
                <a:lnTo>
                  <a:pt x="219988" y="46904"/>
                </a:lnTo>
                <a:cubicBezTo>
                  <a:pt x="223742" y="48626"/>
                  <a:pt x="226127" y="52380"/>
                  <a:pt x="226127" y="56532"/>
                </a:cubicBezTo>
                <a:cubicBezTo>
                  <a:pt x="226127" y="60683"/>
                  <a:pt x="223742" y="64437"/>
                  <a:pt x="219988" y="66160"/>
                </a:cubicBezTo>
                <a:lnTo>
                  <a:pt x="123442" y="110767"/>
                </a:lnTo>
                <a:cubicBezTo>
                  <a:pt x="116862" y="113814"/>
                  <a:pt x="109265" y="113814"/>
                  <a:pt x="102685" y="110767"/>
                </a:cubicBezTo>
                <a:lnTo>
                  <a:pt x="6139" y="66160"/>
                </a:lnTo>
                <a:cubicBezTo>
                  <a:pt x="2385" y="64393"/>
                  <a:pt x="0" y="60639"/>
                  <a:pt x="0" y="56532"/>
                </a:cubicBezTo>
                <a:cubicBezTo>
                  <a:pt x="0" y="52424"/>
                  <a:pt x="2385" y="48626"/>
                  <a:pt x="6139" y="46904"/>
                </a:cubicBezTo>
                <a:lnTo>
                  <a:pt x="102685" y="2297"/>
                </a:lnTo>
                <a:close/>
                <a:moveTo>
                  <a:pt x="21244" y="96457"/>
                </a:moveTo>
                <a:lnTo>
                  <a:pt x="93807" y="129979"/>
                </a:lnTo>
                <a:cubicBezTo>
                  <a:pt x="106041" y="135632"/>
                  <a:pt x="120130" y="135632"/>
                  <a:pt x="132364" y="129979"/>
                </a:cubicBezTo>
                <a:lnTo>
                  <a:pt x="204927" y="96457"/>
                </a:lnTo>
                <a:lnTo>
                  <a:pt x="219988" y="103435"/>
                </a:lnTo>
                <a:cubicBezTo>
                  <a:pt x="223742" y="105158"/>
                  <a:pt x="226127" y="108912"/>
                  <a:pt x="226127" y="113063"/>
                </a:cubicBezTo>
                <a:cubicBezTo>
                  <a:pt x="226127" y="117215"/>
                  <a:pt x="223742" y="120969"/>
                  <a:pt x="219988" y="122691"/>
                </a:cubicBezTo>
                <a:lnTo>
                  <a:pt x="123442" y="167298"/>
                </a:lnTo>
                <a:cubicBezTo>
                  <a:pt x="116862" y="170346"/>
                  <a:pt x="109265" y="170346"/>
                  <a:pt x="102685" y="167298"/>
                </a:cubicBezTo>
                <a:lnTo>
                  <a:pt x="6139" y="122691"/>
                </a:lnTo>
                <a:cubicBezTo>
                  <a:pt x="2385" y="120925"/>
                  <a:pt x="0" y="117171"/>
                  <a:pt x="0" y="113063"/>
                </a:cubicBezTo>
                <a:cubicBezTo>
                  <a:pt x="0" y="108956"/>
                  <a:pt x="2385" y="105158"/>
                  <a:pt x="6139" y="103435"/>
                </a:cubicBezTo>
                <a:lnTo>
                  <a:pt x="21199" y="96457"/>
                </a:lnTo>
                <a:close/>
                <a:moveTo>
                  <a:pt x="6139" y="159967"/>
                </a:moveTo>
                <a:lnTo>
                  <a:pt x="21199" y="152989"/>
                </a:lnTo>
                <a:lnTo>
                  <a:pt x="93763" y="186510"/>
                </a:lnTo>
                <a:cubicBezTo>
                  <a:pt x="105997" y="192164"/>
                  <a:pt x="120086" y="192164"/>
                  <a:pt x="132319" y="186510"/>
                </a:cubicBezTo>
                <a:lnTo>
                  <a:pt x="204883" y="152989"/>
                </a:lnTo>
                <a:lnTo>
                  <a:pt x="219944" y="159967"/>
                </a:lnTo>
                <a:cubicBezTo>
                  <a:pt x="223698" y="161689"/>
                  <a:pt x="226083" y="165444"/>
                  <a:pt x="226083" y="169595"/>
                </a:cubicBezTo>
                <a:cubicBezTo>
                  <a:pt x="226083" y="173747"/>
                  <a:pt x="223698" y="177501"/>
                  <a:pt x="219944" y="179223"/>
                </a:cubicBezTo>
                <a:lnTo>
                  <a:pt x="123398" y="223830"/>
                </a:lnTo>
                <a:cubicBezTo>
                  <a:pt x="116817" y="226878"/>
                  <a:pt x="109221" y="226878"/>
                  <a:pt x="102640" y="223830"/>
                </a:cubicBezTo>
                <a:lnTo>
                  <a:pt x="6139" y="179223"/>
                </a:lnTo>
                <a:cubicBezTo>
                  <a:pt x="2385" y="177456"/>
                  <a:pt x="0" y="173702"/>
                  <a:pt x="0" y="169595"/>
                </a:cubicBezTo>
                <a:cubicBezTo>
                  <a:pt x="0" y="165488"/>
                  <a:pt x="2385" y="161689"/>
                  <a:pt x="6139" y="159967"/>
                </a:cubicBezTo>
                <a:close/>
              </a:path>
            </a:pathLst>
          </a:custGeom>
          <a:solidFill>
            <a:srgbClr val="D4A373"/>
          </a:solidFill>
        </p:spPr>
      </p:sp>
      <p:sp>
        <p:nvSpPr>
          <p:cNvPr id="7" name="Text 5"/>
          <p:cNvSpPr/>
          <p:nvPr/>
        </p:nvSpPr>
        <p:spPr>
          <a:xfrm>
            <a:off x="857397" y="1441558"/>
            <a:ext cx="5059586" cy="301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80" b="1" dirty="0">
                <a:solidFill>
                  <a:srgbClr val="F0F0F0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三层股权架构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93583" y="1893811"/>
            <a:ext cx="5210337" cy="1432136"/>
          </a:xfrm>
          <a:custGeom>
            <a:avLst/>
            <a:gdLst/>
            <a:ahLst/>
            <a:cxnLst/>
            <a:rect l="l" t="t" r="r" b="b"/>
            <a:pathLst>
              <a:path w="5210337" h="1432136">
                <a:moveTo>
                  <a:pt x="37688" y="0"/>
                </a:moveTo>
                <a:lnTo>
                  <a:pt x="5134964" y="0"/>
                </a:lnTo>
                <a:cubicBezTo>
                  <a:pt x="5176591" y="0"/>
                  <a:pt x="5210337" y="33746"/>
                  <a:pt x="5210337" y="75373"/>
                </a:cubicBezTo>
                <a:lnTo>
                  <a:pt x="5210337" y="1356763"/>
                </a:lnTo>
                <a:cubicBezTo>
                  <a:pt x="5210337" y="1398390"/>
                  <a:pt x="5176591" y="1432136"/>
                  <a:pt x="5134964" y="1432136"/>
                </a:cubicBezTo>
                <a:lnTo>
                  <a:pt x="37688" y="1432136"/>
                </a:lnTo>
                <a:cubicBezTo>
                  <a:pt x="16873" y="1432136"/>
                  <a:pt x="0" y="1415263"/>
                  <a:pt x="0" y="1394448"/>
                </a:cubicBezTo>
                <a:lnTo>
                  <a:pt x="0" y="37688"/>
                </a:lnTo>
                <a:cubicBezTo>
                  <a:pt x="0" y="16887"/>
                  <a:pt x="16887" y="0"/>
                  <a:pt x="37688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</p:spPr>
      </p:sp>
      <p:sp>
        <p:nvSpPr>
          <p:cNvPr id="9" name="Shape 7"/>
          <p:cNvSpPr/>
          <p:nvPr/>
        </p:nvSpPr>
        <p:spPr>
          <a:xfrm>
            <a:off x="593583" y="1893811"/>
            <a:ext cx="37688" cy="1432136"/>
          </a:xfrm>
          <a:custGeom>
            <a:avLst/>
            <a:gdLst/>
            <a:ahLst/>
            <a:cxnLst/>
            <a:rect l="l" t="t" r="r" b="b"/>
            <a:pathLst>
              <a:path w="37688" h="1432136">
                <a:moveTo>
                  <a:pt x="37688" y="0"/>
                </a:moveTo>
                <a:lnTo>
                  <a:pt x="37688" y="0"/>
                </a:lnTo>
                <a:lnTo>
                  <a:pt x="37688" y="1432136"/>
                </a:lnTo>
                <a:lnTo>
                  <a:pt x="37688" y="1432136"/>
                </a:lnTo>
                <a:cubicBezTo>
                  <a:pt x="16873" y="1432136"/>
                  <a:pt x="0" y="1415263"/>
                  <a:pt x="0" y="1394448"/>
                </a:cubicBezTo>
                <a:lnTo>
                  <a:pt x="0" y="37688"/>
                </a:lnTo>
                <a:cubicBezTo>
                  <a:pt x="0" y="16887"/>
                  <a:pt x="16887" y="0"/>
                  <a:pt x="37688" y="0"/>
                </a:cubicBezTo>
                <a:close/>
              </a:path>
            </a:pathLst>
          </a:custGeom>
          <a:solidFill>
            <a:srgbClr val="D4A373"/>
          </a:solidFill>
        </p:spPr>
      </p:sp>
      <p:sp>
        <p:nvSpPr>
          <p:cNvPr id="10" name="Text 8"/>
          <p:cNvSpPr/>
          <p:nvPr/>
        </p:nvSpPr>
        <p:spPr>
          <a:xfrm>
            <a:off x="763178" y="2044563"/>
            <a:ext cx="2110516" cy="301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0" b="1" dirty="0">
                <a:solidFill>
                  <a:srgbClr val="FFFFFF"/>
                </a:solidFill>
                <a:highlight>
                  <a:srgbClr val="D4A373">
                    <a:alpha val="100000"/>
                  </a:srgbClr>
                </a:highlight>
                <a:latin typeface="MiSans" pitchFamily="34" charset="-122"/>
                <a:ea typeface="MiSans" pitchFamily="34" charset="-122"/>
                <a:cs typeface="MiSans" pitchFamily="34" charset="-120"/>
              </a:rPr>
              <a:t>L1 </a:t>
            </a:r>
            <a:r>
              <a:rPr lang="en-US" sz="1335" b="1" dirty="0">
                <a:solidFill>
                  <a:srgbClr val="F0F0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Layer 1: 控股层（您）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199148" y="2044563"/>
            <a:ext cx="565317" cy="301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80" b="1" dirty="0">
                <a:solidFill>
                  <a:srgbClr val="D4A373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51%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91444" y="2449706"/>
            <a:ext cx="131907" cy="150751"/>
          </a:xfrm>
          <a:custGeom>
            <a:avLst/>
            <a:gdLst/>
            <a:ahLst/>
            <a:cxnLst/>
            <a:rect l="l" t="t" r="r" b="b"/>
            <a:pathLst>
              <a:path w="131907" h="150751">
                <a:moveTo>
                  <a:pt x="128021" y="20640"/>
                </a:moveTo>
                <a:cubicBezTo>
                  <a:pt x="132231" y="23702"/>
                  <a:pt x="133173" y="29591"/>
                  <a:pt x="130111" y="33801"/>
                </a:cubicBezTo>
                <a:lnTo>
                  <a:pt x="54736" y="137443"/>
                </a:lnTo>
                <a:cubicBezTo>
                  <a:pt x="53116" y="139680"/>
                  <a:pt x="50614" y="141064"/>
                  <a:pt x="47846" y="141300"/>
                </a:cubicBezTo>
                <a:cubicBezTo>
                  <a:pt x="45078" y="141535"/>
                  <a:pt x="42399" y="140505"/>
                  <a:pt x="40455" y="138562"/>
                </a:cubicBezTo>
                <a:lnTo>
                  <a:pt x="2768" y="100874"/>
                </a:lnTo>
                <a:cubicBezTo>
                  <a:pt x="-913" y="97193"/>
                  <a:pt x="-913" y="91216"/>
                  <a:pt x="2768" y="87536"/>
                </a:cubicBezTo>
                <a:cubicBezTo>
                  <a:pt x="6448" y="83855"/>
                  <a:pt x="12425" y="83855"/>
                  <a:pt x="16106" y="87536"/>
                </a:cubicBezTo>
                <a:lnTo>
                  <a:pt x="45991" y="117421"/>
                </a:lnTo>
                <a:lnTo>
                  <a:pt x="114889" y="22701"/>
                </a:lnTo>
                <a:cubicBezTo>
                  <a:pt x="117951" y="18491"/>
                  <a:pt x="123840" y="17548"/>
                  <a:pt x="128050" y="20611"/>
                </a:cubicBezTo>
                <a:close/>
              </a:path>
            </a:pathLst>
          </a:custGeom>
          <a:solidFill>
            <a:srgbClr val="D4A373"/>
          </a:solidFill>
        </p:spPr>
      </p:sp>
      <p:sp>
        <p:nvSpPr>
          <p:cNvPr id="13" name="Text 11"/>
          <p:cNvSpPr/>
          <p:nvPr/>
        </p:nvSpPr>
        <p:spPr>
          <a:xfrm>
            <a:off x="1007537" y="2421440"/>
            <a:ext cx="4721007" cy="22612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5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并表控制权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91444" y="2713521"/>
            <a:ext cx="131907" cy="150751"/>
          </a:xfrm>
          <a:custGeom>
            <a:avLst/>
            <a:gdLst/>
            <a:ahLst/>
            <a:cxnLst/>
            <a:rect l="l" t="t" r="r" b="b"/>
            <a:pathLst>
              <a:path w="131907" h="150751">
                <a:moveTo>
                  <a:pt x="128021" y="20640"/>
                </a:moveTo>
                <a:cubicBezTo>
                  <a:pt x="132231" y="23702"/>
                  <a:pt x="133173" y="29591"/>
                  <a:pt x="130111" y="33801"/>
                </a:cubicBezTo>
                <a:lnTo>
                  <a:pt x="54736" y="137443"/>
                </a:lnTo>
                <a:cubicBezTo>
                  <a:pt x="53116" y="139680"/>
                  <a:pt x="50614" y="141064"/>
                  <a:pt x="47846" y="141300"/>
                </a:cubicBezTo>
                <a:cubicBezTo>
                  <a:pt x="45078" y="141535"/>
                  <a:pt x="42399" y="140505"/>
                  <a:pt x="40455" y="138562"/>
                </a:cubicBezTo>
                <a:lnTo>
                  <a:pt x="2768" y="100874"/>
                </a:lnTo>
                <a:cubicBezTo>
                  <a:pt x="-913" y="97193"/>
                  <a:pt x="-913" y="91216"/>
                  <a:pt x="2768" y="87536"/>
                </a:cubicBezTo>
                <a:cubicBezTo>
                  <a:pt x="6448" y="83855"/>
                  <a:pt x="12425" y="83855"/>
                  <a:pt x="16106" y="87536"/>
                </a:cubicBezTo>
                <a:lnTo>
                  <a:pt x="45991" y="117421"/>
                </a:lnTo>
                <a:lnTo>
                  <a:pt x="114889" y="22701"/>
                </a:lnTo>
                <a:cubicBezTo>
                  <a:pt x="117951" y="18491"/>
                  <a:pt x="123840" y="17548"/>
                  <a:pt x="128050" y="20611"/>
                </a:cubicBezTo>
                <a:close/>
              </a:path>
            </a:pathLst>
          </a:custGeom>
          <a:solidFill>
            <a:srgbClr val="D4A373"/>
          </a:solidFill>
        </p:spPr>
      </p:sp>
      <p:sp>
        <p:nvSpPr>
          <p:cNvPr id="15" name="Text 13"/>
          <p:cNvSpPr/>
          <p:nvPr/>
        </p:nvSpPr>
        <p:spPr>
          <a:xfrm>
            <a:off x="1007537" y="2685255"/>
            <a:ext cx="4721007" cy="22612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5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D&amp;C利润覆盖资本金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91444" y="2977335"/>
            <a:ext cx="131907" cy="150751"/>
          </a:xfrm>
          <a:custGeom>
            <a:avLst/>
            <a:gdLst/>
            <a:ahLst/>
            <a:cxnLst/>
            <a:rect l="l" t="t" r="r" b="b"/>
            <a:pathLst>
              <a:path w="131907" h="150751">
                <a:moveTo>
                  <a:pt x="128021" y="20640"/>
                </a:moveTo>
                <a:cubicBezTo>
                  <a:pt x="132231" y="23702"/>
                  <a:pt x="133173" y="29591"/>
                  <a:pt x="130111" y="33801"/>
                </a:cubicBezTo>
                <a:lnTo>
                  <a:pt x="54736" y="137443"/>
                </a:lnTo>
                <a:cubicBezTo>
                  <a:pt x="53116" y="139680"/>
                  <a:pt x="50614" y="141064"/>
                  <a:pt x="47846" y="141300"/>
                </a:cubicBezTo>
                <a:cubicBezTo>
                  <a:pt x="45078" y="141535"/>
                  <a:pt x="42399" y="140505"/>
                  <a:pt x="40455" y="138562"/>
                </a:cubicBezTo>
                <a:lnTo>
                  <a:pt x="2768" y="100874"/>
                </a:lnTo>
                <a:cubicBezTo>
                  <a:pt x="-913" y="97193"/>
                  <a:pt x="-913" y="91216"/>
                  <a:pt x="2768" y="87536"/>
                </a:cubicBezTo>
                <a:cubicBezTo>
                  <a:pt x="6448" y="83855"/>
                  <a:pt x="12425" y="83855"/>
                  <a:pt x="16106" y="87536"/>
                </a:cubicBezTo>
                <a:lnTo>
                  <a:pt x="45991" y="117421"/>
                </a:lnTo>
                <a:lnTo>
                  <a:pt x="114889" y="22701"/>
                </a:lnTo>
                <a:cubicBezTo>
                  <a:pt x="117951" y="18491"/>
                  <a:pt x="123840" y="17548"/>
                  <a:pt x="128050" y="20611"/>
                </a:cubicBezTo>
                <a:close/>
              </a:path>
            </a:pathLst>
          </a:custGeom>
          <a:solidFill>
            <a:srgbClr val="D4A373"/>
          </a:solidFill>
        </p:spPr>
      </p:sp>
      <p:sp>
        <p:nvSpPr>
          <p:cNvPr id="17" name="Text 15"/>
          <p:cNvSpPr/>
          <p:nvPr/>
        </p:nvSpPr>
        <p:spPr>
          <a:xfrm>
            <a:off x="1007537" y="2949070"/>
            <a:ext cx="4721007" cy="22612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5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AI平台运营管理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93583" y="3439011"/>
            <a:ext cx="5210337" cy="1432136"/>
          </a:xfrm>
          <a:custGeom>
            <a:avLst/>
            <a:gdLst/>
            <a:ahLst/>
            <a:cxnLst/>
            <a:rect l="l" t="t" r="r" b="b"/>
            <a:pathLst>
              <a:path w="5210337" h="1432136">
                <a:moveTo>
                  <a:pt x="37688" y="0"/>
                </a:moveTo>
                <a:lnTo>
                  <a:pt x="5134964" y="0"/>
                </a:lnTo>
                <a:cubicBezTo>
                  <a:pt x="5176591" y="0"/>
                  <a:pt x="5210337" y="33746"/>
                  <a:pt x="5210337" y="75373"/>
                </a:cubicBezTo>
                <a:lnTo>
                  <a:pt x="5210337" y="1356763"/>
                </a:lnTo>
                <a:cubicBezTo>
                  <a:pt x="5210337" y="1398390"/>
                  <a:pt x="5176591" y="1432136"/>
                  <a:pt x="5134964" y="1432136"/>
                </a:cubicBezTo>
                <a:lnTo>
                  <a:pt x="37688" y="1432136"/>
                </a:lnTo>
                <a:cubicBezTo>
                  <a:pt x="16873" y="1432136"/>
                  <a:pt x="0" y="1415263"/>
                  <a:pt x="0" y="1394448"/>
                </a:cubicBezTo>
                <a:lnTo>
                  <a:pt x="0" y="37688"/>
                </a:lnTo>
                <a:cubicBezTo>
                  <a:pt x="0" y="16887"/>
                  <a:pt x="16887" y="0"/>
                  <a:pt x="37688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</p:spPr>
      </p:sp>
      <p:sp>
        <p:nvSpPr>
          <p:cNvPr id="19" name="Shape 17"/>
          <p:cNvSpPr/>
          <p:nvPr/>
        </p:nvSpPr>
        <p:spPr>
          <a:xfrm>
            <a:off x="593583" y="3439011"/>
            <a:ext cx="37688" cy="1432136"/>
          </a:xfrm>
          <a:custGeom>
            <a:avLst/>
            <a:gdLst/>
            <a:ahLst/>
            <a:cxnLst/>
            <a:rect l="l" t="t" r="r" b="b"/>
            <a:pathLst>
              <a:path w="37688" h="1432136">
                <a:moveTo>
                  <a:pt x="37688" y="0"/>
                </a:moveTo>
                <a:lnTo>
                  <a:pt x="37688" y="0"/>
                </a:lnTo>
                <a:lnTo>
                  <a:pt x="37688" y="1432136"/>
                </a:lnTo>
                <a:lnTo>
                  <a:pt x="37688" y="1432136"/>
                </a:lnTo>
                <a:cubicBezTo>
                  <a:pt x="16873" y="1432136"/>
                  <a:pt x="0" y="1415263"/>
                  <a:pt x="0" y="1394448"/>
                </a:cubicBezTo>
                <a:lnTo>
                  <a:pt x="0" y="37688"/>
                </a:lnTo>
                <a:cubicBezTo>
                  <a:pt x="0" y="16887"/>
                  <a:pt x="16887" y="0"/>
                  <a:pt x="37688" y="0"/>
                </a:cubicBezTo>
                <a:close/>
              </a:path>
            </a:pathLst>
          </a:custGeom>
          <a:solidFill>
            <a:srgbClr val="4A6C8C"/>
          </a:solidFill>
        </p:spPr>
      </p:sp>
      <p:sp>
        <p:nvSpPr>
          <p:cNvPr id="20" name="Text 18"/>
          <p:cNvSpPr/>
          <p:nvPr/>
        </p:nvSpPr>
        <p:spPr>
          <a:xfrm>
            <a:off x="763178" y="3589762"/>
            <a:ext cx="1667685" cy="301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0" b="1" dirty="0">
                <a:solidFill>
                  <a:srgbClr val="FFFFFF"/>
                </a:solidFill>
                <a:highlight>
                  <a:srgbClr val="4A6C8C">
                    <a:alpha val="100000"/>
                  </a:srgbClr>
                </a:highlight>
                <a:latin typeface="MiSans" pitchFamily="34" charset="-122"/>
                <a:ea typeface="MiSans" pitchFamily="34" charset="-122"/>
                <a:cs typeface="MiSans" pitchFamily="34" charset="-120"/>
              </a:rPr>
              <a:t>L2 </a:t>
            </a:r>
            <a:r>
              <a:rPr lang="en-US" sz="1335" b="1" dirty="0">
                <a:solidFill>
                  <a:srgbClr val="F0F0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Layer 2: 财务LP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199148" y="3589762"/>
            <a:ext cx="565317" cy="301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80" b="1" dirty="0">
                <a:solidFill>
                  <a:srgbClr val="4A6C8C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49%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91444" y="3994906"/>
            <a:ext cx="131907" cy="150751"/>
          </a:xfrm>
          <a:custGeom>
            <a:avLst/>
            <a:gdLst/>
            <a:ahLst/>
            <a:cxnLst/>
            <a:rect l="l" t="t" r="r" b="b"/>
            <a:pathLst>
              <a:path w="131907" h="150751">
                <a:moveTo>
                  <a:pt x="37688" y="0"/>
                </a:moveTo>
                <a:cubicBezTo>
                  <a:pt x="32476" y="0"/>
                  <a:pt x="28266" y="4210"/>
                  <a:pt x="28266" y="9422"/>
                </a:cubicBezTo>
                <a:lnTo>
                  <a:pt x="28266" y="18844"/>
                </a:lnTo>
                <a:lnTo>
                  <a:pt x="18844" y="18844"/>
                </a:lnTo>
                <a:cubicBezTo>
                  <a:pt x="8450" y="18844"/>
                  <a:pt x="0" y="27294"/>
                  <a:pt x="0" y="37688"/>
                </a:cubicBezTo>
                <a:lnTo>
                  <a:pt x="0" y="51821"/>
                </a:lnTo>
                <a:lnTo>
                  <a:pt x="131907" y="51821"/>
                </a:lnTo>
                <a:lnTo>
                  <a:pt x="131907" y="37688"/>
                </a:lnTo>
                <a:cubicBezTo>
                  <a:pt x="131907" y="27294"/>
                  <a:pt x="123457" y="18844"/>
                  <a:pt x="113063" y="18844"/>
                </a:cubicBezTo>
                <a:lnTo>
                  <a:pt x="103641" y="18844"/>
                </a:lnTo>
                <a:lnTo>
                  <a:pt x="103641" y="9422"/>
                </a:lnTo>
                <a:cubicBezTo>
                  <a:pt x="103641" y="4210"/>
                  <a:pt x="99431" y="0"/>
                  <a:pt x="94219" y="0"/>
                </a:cubicBezTo>
                <a:cubicBezTo>
                  <a:pt x="89008" y="0"/>
                  <a:pt x="84798" y="4210"/>
                  <a:pt x="84798" y="9422"/>
                </a:cubicBezTo>
                <a:lnTo>
                  <a:pt x="84798" y="18844"/>
                </a:lnTo>
                <a:lnTo>
                  <a:pt x="47110" y="18844"/>
                </a:lnTo>
                <a:lnTo>
                  <a:pt x="47110" y="9422"/>
                </a:lnTo>
                <a:cubicBezTo>
                  <a:pt x="47110" y="4210"/>
                  <a:pt x="42899" y="0"/>
                  <a:pt x="37688" y="0"/>
                </a:cubicBezTo>
                <a:close/>
                <a:moveTo>
                  <a:pt x="0" y="65954"/>
                </a:moveTo>
                <a:lnTo>
                  <a:pt x="0" y="122485"/>
                </a:lnTo>
                <a:cubicBezTo>
                  <a:pt x="0" y="132879"/>
                  <a:pt x="8450" y="141329"/>
                  <a:pt x="18844" y="141329"/>
                </a:cubicBezTo>
                <a:lnTo>
                  <a:pt x="113063" y="141329"/>
                </a:lnTo>
                <a:cubicBezTo>
                  <a:pt x="123457" y="141329"/>
                  <a:pt x="131907" y="132879"/>
                  <a:pt x="131907" y="122485"/>
                </a:cubicBezTo>
                <a:lnTo>
                  <a:pt x="131907" y="65954"/>
                </a:lnTo>
                <a:lnTo>
                  <a:pt x="0" y="65954"/>
                </a:lnTo>
                <a:close/>
              </a:path>
            </a:pathLst>
          </a:custGeom>
          <a:solidFill>
            <a:srgbClr val="4A6C8C"/>
          </a:solidFill>
        </p:spPr>
      </p:sp>
      <p:sp>
        <p:nvSpPr>
          <p:cNvPr id="23" name="Text 21"/>
          <p:cNvSpPr/>
          <p:nvPr/>
        </p:nvSpPr>
        <p:spPr>
          <a:xfrm>
            <a:off x="1007537" y="3966640"/>
            <a:ext cx="4721007" cy="22612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5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进入时点：Year 3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791444" y="4258720"/>
            <a:ext cx="131907" cy="150751"/>
          </a:xfrm>
          <a:custGeom>
            <a:avLst/>
            <a:gdLst/>
            <a:ahLst/>
            <a:cxnLst/>
            <a:rect l="l" t="t" r="r" b="b"/>
            <a:pathLst>
              <a:path w="131907" h="150751">
                <a:moveTo>
                  <a:pt x="37688" y="0"/>
                </a:moveTo>
                <a:cubicBezTo>
                  <a:pt x="42899" y="0"/>
                  <a:pt x="47110" y="4210"/>
                  <a:pt x="47110" y="9422"/>
                </a:cubicBezTo>
                <a:lnTo>
                  <a:pt x="47110" y="18844"/>
                </a:lnTo>
                <a:lnTo>
                  <a:pt x="84798" y="18844"/>
                </a:lnTo>
                <a:lnTo>
                  <a:pt x="84798" y="9422"/>
                </a:lnTo>
                <a:cubicBezTo>
                  <a:pt x="84798" y="4210"/>
                  <a:pt x="89008" y="0"/>
                  <a:pt x="94219" y="0"/>
                </a:cubicBezTo>
                <a:cubicBezTo>
                  <a:pt x="99431" y="0"/>
                  <a:pt x="103641" y="4210"/>
                  <a:pt x="103641" y="9422"/>
                </a:cubicBezTo>
                <a:lnTo>
                  <a:pt x="103641" y="18844"/>
                </a:lnTo>
                <a:lnTo>
                  <a:pt x="113063" y="18844"/>
                </a:lnTo>
                <a:cubicBezTo>
                  <a:pt x="123457" y="18844"/>
                  <a:pt x="131907" y="27294"/>
                  <a:pt x="131907" y="37688"/>
                </a:cubicBezTo>
                <a:lnTo>
                  <a:pt x="131907" y="122485"/>
                </a:lnTo>
                <a:cubicBezTo>
                  <a:pt x="131907" y="132879"/>
                  <a:pt x="123457" y="141329"/>
                  <a:pt x="113063" y="141329"/>
                </a:cubicBezTo>
                <a:lnTo>
                  <a:pt x="18844" y="141329"/>
                </a:lnTo>
                <a:cubicBezTo>
                  <a:pt x="8450" y="141329"/>
                  <a:pt x="0" y="132879"/>
                  <a:pt x="0" y="122485"/>
                </a:cubicBezTo>
                <a:lnTo>
                  <a:pt x="0" y="37688"/>
                </a:lnTo>
                <a:cubicBezTo>
                  <a:pt x="0" y="27294"/>
                  <a:pt x="8450" y="18844"/>
                  <a:pt x="18844" y="18844"/>
                </a:cubicBezTo>
                <a:lnTo>
                  <a:pt x="28266" y="18844"/>
                </a:lnTo>
                <a:lnTo>
                  <a:pt x="28266" y="9422"/>
                </a:lnTo>
                <a:cubicBezTo>
                  <a:pt x="28266" y="4210"/>
                  <a:pt x="32476" y="0"/>
                  <a:pt x="37688" y="0"/>
                </a:cubicBezTo>
                <a:close/>
                <a:moveTo>
                  <a:pt x="90804" y="67337"/>
                </a:moveTo>
                <a:cubicBezTo>
                  <a:pt x="92865" y="64040"/>
                  <a:pt x="91864" y="59682"/>
                  <a:pt x="88566" y="57592"/>
                </a:cubicBezTo>
                <a:cubicBezTo>
                  <a:pt x="85269" y="55501"/>
                  <a:pt x="80911" y="56532"/>
                  <a:pt x="78820" y="59829"/>
                </a:cubicBezTo>
                <a:lnTo>
                  <a:pt x="60742" y="88772"/>
                </a:lnTo>
                <a:lnTo>
                  <a:pt x="52792" y="78173"/>
                </a:lnTo>
                <a:cubicBezTo>
                  <a:pt x="50437" y="75052"/>
                  <a:pt x="46020" y="74404"/>
                  <a:pt x="42899" y="76759"/>
                </a:cubicBezTo>
                <a:cubicBezTo>
                  <a:pt x="39778" y="79115"/>
                  <a:pt x="39131" y="83531"/>
                  <a:pt x="41486" y="86652"/>
                </a:cubicBezTo>
                <a:lnTo>
                  <a:pt x="55619" y="105496"/>
                </a:lnTo>
                <a:cubicBezTo>
                  <a:pt x="57003" y="107351"/>
                  <a:pt x="59240" y="108411"/>
                  <a:pt x="61567" y="108323"/>
                </a:cubicBezTo>
                <a:cubicBezTo>
                  <a:pt x="63893" y="108235"/>
                  <a:pt x="66013" y="106998"/>
                  <a:pt x="67249" y="104996"/>
                </a:cubicBezTo>
                <a:lnTo>
                  <a:pt x="90804" y="67308"/>
                </a:lnTo>
                <a:close/>
              </a:path>
            </a:pathLst>
          </a:custGeom>
          <a:solidFill>
            <a:srgbClr val="4A6C8C"/>
          </a:solidFill>
        </p:spPr>
      </p:sp>
      <p:sp>
        <p:nvSpPr>
          <p:cNvPr id="25" name="Text 23"/>
          <p:cNvSpPr/>
          <p:nvPr/>
        </p:nvSpPr>
        <p:spPr>
          <a:xfrm>
            <a:off x="1007537" y="4230454"/>
            <a:ext cx="4721007" cy="22612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5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退出时点：Year 5-7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782022" y="4522535"/>
            <a:ext cx="150751" cy="150751"/>
          </a:xfrm>
          <a:custGeom>
            <a:avLst/>
            <a:gdLst/>
            <a:ahLst/>
            <a:cxnLst/>
            <a:rect l="l" t="t" r="r" b="b"/>
            <a:pathLst>
              <a:path w="150751" h="150751">
                <a:moveTo>
                  <a:pt x="37688" y="28266"/>
                </a:moveTo>
                <a:lnTo>
                  <a:pt x="37688" y="23555"/>
                </a:lnTo>
                <a:cubicBezTo>
                  <a:pt x="37688" y="10541"/>
                  <a:pt x="63009" y="0"/>
                  <a:pt x="94219" y="0"/>
                </a:cubicBezTo>
                <a:cubicBezTo>
                  <a:pt x="125430" y="0"/>
                  <a:pt x="150751" y="10541"/>
                  <a:pt x="150751" y="23555"/>
                </a:cubicBezTo>
                <a:lnTo>
                  <a:pt x="150751" y="28266"/>
                </a:lnTo>
                <a:cubicBezTo>
                  <a:pt x="150751" y="37276"/>
                  <a:pt x="138591" y="45108"/>
                  <a:pt x="120719" y="49082"/>
                </a:cubicBezTo>
                <a:cubicBezTo>
                  <a:pt x="120012" y="48258"/>
                  <a:pt x="119276" y="47463"/>
                  <a:pt x="118540" y="46727"/>
                </a:cubicBezTo>
                <a:cubicBezTo>
                  <a:pt x="113976" y="42222"/>
                  <a:pt x="108087" y="38807"/>
                  <a:pt x="101934" y="36274"/>
                </a:cubicBezTo>
                <a:cubicBezTo>
                  <a:pt x="89597" y="31122"/>
                  <a:pt x="73521" y="28295"/>
                  <a:pt x="56532" y="28295"/>
                </a:cubicBezTo>
                <a:cubicBezTo>
                  <a:pt x="50084" y="28295"/>
                  <a:pt x="43783" y="28707"/>
                  <a:pt x="37747" y="29502"/>
                </a:cubicBezTo>
                <a:cubicBezTo>
                  <a:pt x="37688" y="29120"/>
                  <a:pt x="37688" y="28707"/>
                  <a:pt x="37688" y="28295"/>
                </a:cubicBezTo>
                <a:close/>
                <a:moveTo>
                  <a:pt x="127196" y="103936"/>
                </a:moveTo>
                <a:lnTo>
                  <a:pt x="127196" y="90333"/>
                </a:lnTo>
                <a:cubicBezTo>
                  <a:pt x="131642" y="89185"/>
                  <a:pt x="135823" y="87830"/>
                  <a:pt x="139621" y="86240"/>
                </a:cubicBezTo>
                <a:cubicBezTo>
                  <a:pt x="143508" y="84621"/>
                  <a:pt x="147306" y="82648"/>
                  <a:pt x="150751" y="80263"/>
                </a:cubicBezTo>
                <a:lnTo>
                  <a:pt x="150751" y="84798"/>
                </a:lnTo>
                <a:cubicBezTo>
                  <a:pt x="150751" y="92688"/>
                  <a:pt x="141476" y="99667"/>
                  <a:pt x="127196" y="103936"/>
                </a:cubicBezTo>
                <a:close/>
                <a:moveTo>
                  <a:pt x="127196" y="75670"/>
                </a:moveTo>
                <a:lnTo>
                  <a:pt x="127196" y="65954"/>
                </a:lnTo>
                <a:cubicBezTo>
                  <a:pt x="127196" y="64629"/>
                  <a:pt x="127079" y="63363"/>
                  <a:pt x="126902" y="62126"/>
                </a:cubicBezTo>
                <a:cubicBezTo>
                  <a:pt x="131466" y="60978"/>
                  <a:pt x="135735" y="59594"/>
                  <a:pt x="139621" y="57945"/>
                </a:cubicBezTo>
                <a:cubicBezTo>
                  <a:pt x="143508" y="56296"/>
                  <a:pt x="147306" y="54353"/>
                  <a:pt x="150751" y="51968"/>
                </a:cubicBezTo>
                <a:lnTo>
                  <a:pt x="150751" y="56502"/>
                </a:lnTo>
                <a:cubicBezTo>
                  <a:pt x="150751" y="64393"/>
                  <a:pt x="141476" y="71371"/>
                  <a:pt x="127196" y="75641"/>
                </a:cubicBezTo>
                <a:close/>
                <a:moveTo>
                  <a:pt x="0" y="70665"/>
                </a:moveTo>
                <a:lnTo>
                  <a:pt x="0" y="65954"/>
                </a:lnTo>
                <a:cubicBezTo>
                  <a:pt x="0" y="52940"/>
                  <a:pt x="25321" y="42399"/>
                  <a:pt x="56532" y="42399"/>
                </a:cubicBezTo>
                <a:cubicBezTo>
                  <a:pt x="87742" y="42399"/>
                  <a:pt x="113063" y="52940"/>
                  <a:pt x="113063" y="65954"/>
                </a:cubicBezTo>
                <a:lnTo>
                  <a:pt x="113063" y="70665"/>
                </a:lnTo>
                <a:cubicBezTo>
                  <a:pt x="113063" y="83679"/>
                  <a:pt x="87742" y="94219"/>
                  <a:pt x="56532" y="94219"/>
                </a:cubicBezTo>
                <a:cubicBezTo>
                  <a:pt x="25321" y="94219"/>
                  <a:pt x="0" y="83679"/>
                  <a:pt x="0" y="70665"/>
                </a:cubicBezTo>
                <a:close/>
                <a:moveTo>
                  <a:pt x="113063" y="98930"/>
                </a:moveTo>
                <a:cubicBezTo>
                  <a:pt x="113063" y="111945"/>
                  <a:pt x="87742" y="122485"/>
                  <a:pt x="56532" y="122485"/>
                </a:cubicBezTo>
                <a:cubicBezTo>
                  <a:pt x="25321" y="122485"/>
                  <a:pt x="0" y="111945"/>
                  <a:pt x="0" y="98930"/>
                </a:cubicBezTo>
                <a:lnTo>
                  <a:pt x="0" y="94396"/>
                </a:lnTo>
                <a:cubicBezTo>
                  <a:pt x="3415" y="96781"/>
                  <a:pt x="7214" y="98724"/>
                  <a:pt x="11130" y="100373"/>
                </a:cubicBezTo>
                <a:cubicBezTo>
                  <a:pt x="23467" y="105526"/>
                  <a:pt x="39543" y="108352"/>
                  <a:pt x="56532" y="108352"/>
                </a:cubicBezTo>
                <a:cubicBezTo>
                  <a:pt x="73521" y="108352"/>
                  <a:pt x="89597" y="105496"/>
                  <a:pt x="101934" y="100373"/>
                </a:cubicBezTo>
                <a:cubicBezTo>
                  <a:pt x="105820" y="98754"/>
                  <a:pt x="109618" y="96781"/>
                  <a:pt x="113063" y="94396"/>
                </a:cubicBezTo>
                <a:lnTo>
                  <a:pt x="113063" y="98930"/>
                </a:lnTo>
                <a:close/>
                <a:moveTo>
                  <a:pt x="113063" y="122662"/>
                </a:moveTo>
                <a:lnTo>
                  <a:pt x="113063" y="127196"/>
                </a:lnTo>
                <a:cubicBezTo>
                  <a:pt x="113063" y="140210"/>
                  <a:pt x="87742" y="150751"/>
                  <a:pt x="56532" y="150751"/>
                </a:cubicBezTo>
                <a:cubicBezTo>
                  <a:pt x="25321" y="150751"/>
                  <a:pt x="0" y="140210"/>
                  <a:pt x="0" y="127196"/>
                </a:cubicBezTo>
                <a:lnTo>
                  <a:pt x="0" y="122662"/>
                </a:lnTo>
                <a:cubicBezTo>
                  <a:pt x="3415" y="125047"/>
                  <a:pt x="7214" y="126990"/>
                  <a:pt x="11130" y="128639"/>
                </a:cubicBezTo>
                <a:cubicBezTo>
                  <a:pt x="23467" y="133792"/>
                  <a:pt x="39543" y="136618"/>
                  <a:pt x="56532" y="136618"/>
                </a:cubicBezTo>
                <a:cubicBezTo>
                  <a:pt x="73521" y="136618"/>
                  <a:pt x="89597" y="133762"/>
                  <a:pt x="101934" y="128639"/>
                </a:cubicBezTo>
                <a:cubicBezTo>
                  <a:pt x="105820" y="127020"/>
                  <a:pt x="109618" y="125047"/>
                  <a:pt x="113063" y="122662"/>
                </a:cubicBezTo>
                <a:close/>
              </a:path>
            </a:pathLst>
          </a:custGeom>
          <a:solidFill>
            <a:srgbClr val="4A6C8C"/>
          </a:solidFill>
        </p:spPr>
      </p:sp>
      <p:sp>
        <p:nvSpPr>
          <p:cNvPr id="27" name="Text 25"/>
          <p:cNvSpPr/>
          <p:nvPr/>
        </p:nvSpPr>
        <p:spPr>
          <a:xfrm>
            <a:off x="1007537" y="4494269"/>
            <a:ext cx="4721007" cy="22612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5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预期回报：稳定分红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93583" y="4984210"/>
            <a:ext cx="5210337" cy="1168321"/>
          </a:xfrm>
          <a:custGeom>
            <a:avLst/>
            <a:gdLst/>
            <a:ahLst/>
            <a:cxnLst/>
            <a:rect l="l" t="t" r="r" b="b"/>
            <a:pathLst>
              <a:path w="5210337" h="1168321">
                <a:moveTo>
                  <a:pt x="37688" y="0"/>
                </a:moveTo>
                <a:lnTo>
                  <a:pt x="5134957" y="0"/>
                </a:lnTo>
                <a:cubicBezTo>
                  <a:pt x="5176588" y="0"/>
                  <a:pt x="5210337" y="33749"/>
                  <a:pt x="5210337" y="75380"/>
                </a:cubicBezTo>
                <a:lnTo>
                  <a:pt x="5210337" y="1092941"/>
                </a:lnTo>
                <a:cubicBezTo>
                  <a:pt x="5210337" y="1134573"/>
                  <a:pt x="5176588" y="1168321"/>
                  <a:pt x="5134957" y="1168321"/>
                </a:cubicBezTo>
                <a:lnTo>
                  <a:pt x="37688" y="1168321"/>
                </a:lnTo>
                <a:cubicBezTo>
                  <a:pt x="16873" y="1168321"/>
                  <a:pt x="0" y="1151448"/>
                  <a:pt x="0" y="1130634"/>
                </a:cubicBezTo>
                <a:lnTo>
                  <a:pt x="0" y="37688"/>
                </a:lnTo>
                <a:cubicBezTo>
                  <a:pt x="0" y="16887"/>
                  <a:pt x="16887" y="0"/>
                  <a:pt x="37688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</p:spPr>
      </p:sp>
      <p:sp>
        <p:nvSpPr>
          <p:cNvPr id="29" name="Shape 27"/>
          <p:cNvSpPr/>
          <p:nvPr/>
        </p:nvSpPr>
        <p:spPr>
          <a:xfrm>
            <a:off x="593583" y="4984210"/>
            <a:ext cx="37688" cy="1168321"/>
          </a:xfrm>
          <a:custGeom>
            <a:avLst/>
            <a:gdLst/>
            <a:ahLst/>
            <a:cxnLst/>
            <a:rect l="l" t="t" r="r" b="b"/>
            <a:pathLst>
              <a:path w="37688" h="1168321">
                <a:moveTo>
                  <a:pt x="37688" y="0"/>
                </a:moveTo>
                <a:lnTo>
                  <a:pt x="37688" y="0"/>
                </a:lnTo>
                <a:lnTo>
                  <a:pt x="37688" y="1168321"/>
                </a:lnTo>
                <a:lnTo>
                  <a:pt x="37688" y="1168321"/>
                </a:lnTo>
                <a:cubicBezTo>
                  <a:pt x="16873" y="1168321"/>
                  <a:pt x="0" y="1151448"/>
                  <a:pt x="0" y="1130634"/>
                </a:cubicBezTo>
                <a:lnTo>
                  <a:pt x="0" y="37688"/>
                </a:lnTo>
                <a:cubicBezTo>
                  <a:pt x="0" y="16887"/>
                  <a:pt x="16887" y="0"/>
                  <a:pt x="37688" y="0"/>
                </a:cubicBezTo>
                <a:close/>
              </a:path>
            </a:pathLst>
          </a:custGeom>
          <a:solidFill>
            <a:srgbClr val="8D99AE"/>
          </a:solidFill>
        </p:spPr>
      </p:sp>
      <p:sp>
        <p:nvSpPr>
          <p:cNvPr id="30" name="Text 28"/>
          <p:cNvSpPr/>
          <p:nvPr/>
        </p:nvSpPr>
        <p:spPr>
          <a:xfrm>
            <a:off x="763178" y="5134961"/>
            <a:ext cx="1809014" cy="301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0" b="1" dirty="0">
                <a:solidFill>
                  <a:srgbClr val="FFFFFF"/>
                </a:solidFill>
                <a:highlight>
                  <a:srgbClr val="8D99AE">
                    <a:alpha val="100000"/>
                  </a:srgbClr>
                </a:highlight>
                <a:latin typeface="MiSans" pitchFamily="34" charset="-122"/>
                <a:ea typeface="MiSans" pitchFamily="34" charset="-122"/>
                <a:cs typeface="MiSans" pitchFamily="34" charset="-120"/>
              </a:rPr>
              <a:t>L3 </a:t>
            </a:r>
            <a:r>
              <a:rPr lang="en-US" sz="1335" b="1" dirty="0">
                <a:solidFill>
                  <a:srgbClr val="F0F0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Layer 3: 项目融资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5199148" y="5134961"/>
            <a:ext cx="565317" cy="301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80" b="1" dirty="0">
                <a:solidFill>
                  <a:srgbClr val="8D99AE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70%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791444" y="5540105"/>
            <a:ext cx="131907" cy="150751"/>
          </a:xfrm>
          <a:custGeom>
            <a:avLst/>
            <a:gdLst/>
            <a:ahLst/>
            <a:cxnLst/>
            <a:rect l="l" t="t" r="r" b="b"/>
            <a:pathLst>
              <a:path w="131907" h="150751">
                <a:moveTo>
                  <a:pt x="56532" y="37688"/>
                </a:moveTo>
                <a:cubicBezTo>
                  <a:pt x="56532" y="22087"/>
                  <a:pt x="43866" y="9422"/>
                  <a:pt x="28266" y="9422"/>
                </a:cubicBezTo>
                <a:cubicBezTo>
                  <a:pt x="12665" y="9422"/>
                  <a:pt x="0" y="22087"/>
                  <a:pt x="0" y="37688"/>
                </a:cubicBezTo>
                <a:cubicBezTo>
                  <a:pt x="0" y="53288"/>
                  <a:pt x="12665" y="65954"/>
                  <a:pt x="28266" y="65954"/>
                </a:cubicBezTo>
                <a:cubicBezTo>
                  <a:pt x="43866" y="65954"/>
                  <a:pt x="56532" y="53288"/>
                  <a:pt x="56532" y="37688"/>
                </a:cubicBezTo>
                <a:close/>
                <a:moveTo>
                  <a:pt x="131907" y="113063"/>
                </a:moveTo>
                <a:cubicBezTo>
                  <a:pt x="131907" y="97463"/>
                  <a:pt x="119242" y="84798"/>
                  <a:pt x="103641" y="84798"/>
                </a:cubicBezTo>
                <a:cubicBezTo>
                  <a:pt x="88041" y="84798"/>
                  <a:pt x="75376" y="97463"/>
                  <a:pt x="75376" y="113063"/>
                </a:cubicBezTo>
                <a:cubicBezTo>
                  <a:pt x="75376" y="128664"/>
                  <a:pt x="88041" y="141329"/>
                  <a:pt x="103641" y="141329"/>
                </a:cubicBezTo>
                <a:cubicBezTo>
                  <a:pt x="119242" y="141329"/>
                  <a:pt x="131907" y="128664"/>
                  <a:pt x="131907" y="113063"/>
                </a:cubicBezTo>
                <a:close/>
                <a:moveTo>
                  <a:pt x="129140" y="25498"/>
                </a:moveTo>
                <a:cubicBezTo>
                  <a:pt x="132820" y="21818"/>
                  <a:pt x="132820" y="15841"/>
                  <a:pt x="129140" y="12160"/>
                </a:cubicBezTo>
                <a:cubicBezTo>
                  <a:pt x="125459" y="8480"/>
                  <a:pt x="119482" y="8480"/>
                  <a:pt x="115802" y="12160"/>
                </a:cubicBezTo>
                <a:lnTo>
                  <a:pt x="2738" y="125224"/>
                </a:lnTo>
                <a:cubicBezTo>
                  <a:pt x="-942" y="128904"/>
                  <a:pt x="-942" y="134881"/>
                  <a:pt x="2738" y="138562"/>
                </a:cubicBezTo>
                <a:cubicBezTo>
                  <a:pt x="6419" y="142242"/>
                  <a:pt x="12396" y="142242"/>
                  <a:pt x="16076" y="138562"/>
                </a:cubicBezTo>
                <a:lnTo>
                  <a:pt x="129140" y="25498"/>
                </a:lnTo>
                <a:close/>
              </a:path>
            </a:pathLst>
          </a:custGeom>
          <a:solidFill>
            <a:srgbClr val="8D99AE"/>
          </a:solidFill>
        </p:spPr>
      </p:sp>
      <p:sp>
        <p:nvSpPr>
          <p:cNvPr id="33" name="Text 31"/>
          <p:cNvSpPr/>
          <p:nvPr/>
        </p:nvSpPr>
        <p:spPr>
          <a:xfrm>
            <a:off x="1007537" y="5511839"/>
            <a:ext cx="4721007" cy="22612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5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融资比例：70%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791444" y="5803920"/>
            <a:ext cx="131907" cy="150751"/>
          </a:xfrm>
          <a:custGeom>
            <a:avLst/>
            <a:gdLst/>
            <a:ahLst/>
            <a:cxnLst/>
            <a:rect l="l" t="t" r="r" b="b"/>
            <a:pathLst>
              <a:path w="131907" h="150751">
                <a:moveTo>
                  <a:pt x="56532" y="37688"/>
                </a:moveTo>
                <a:cubicBezTo>
                  <a:pt x="56532" y="22087"/>
                  <a:pt x="43866" y="9422"/>
                  <a:pt x="28266" y="9422"/>
                </a:cubicBezTo>
                <a:cubicBezTo>
                  <a:pt x="12665" y="9422"/>
                  <a:pt x="0" y="22087"/>
                  <a:pt x="0" y="37688"/>
                </a:cubicBezTo>
                <a:cubicBezTo>
                  <a:pt x="0" y="53288"/>
                  <a:pt x="12665" y="65954"/>
                  <a:pt x="28266" y="65954"/>
                </a:cubicBezTo>
                <a:cubicBezTo>
                  <a:pt x="43866" y="65954"/>
                  <a:pt x="56532" y="53288"/>
                  <a:pt x="56532" y="37688"/>
                </a:cubicBezTo>
                <a:close/>
                <a:moveTo>
                  <a:pt x="131907" y="113063"/>
                </a:moveTo>
                <a:cubicBezTo>
                  <a:pt x="131907" y="97463"/>
                  <a:pt x="119242" y="84798"/>
                  <a:pt x="103641" y="84798"/>
                </a:cubicBezTo>
                <a:cubicBezTo>
                  <a:pt x="88041" y="84798"/>
                  <a:pt x="75376" y="97463"/>
                  <a:pt x="75376" y="113063"/>
                </a:cubicBezTo>
                <a:cubicBezTo>
                  <a:pt x="75376" y="128664"/>
                  <a:pt x="88041" y="141329"/>
                  <a:pt x="103641" y="141329"/>
                </a:cubicBezTo>
                <a:cubicBezTo>
                  <a:pt x="119242" y="141329"/>
                  <a:pt x="131907" y="128664"/>
                  <a:pt x="131907" y="113063"/>
                </a:cubicBezTo>
                <a:close/>
                <a:moveTo>
                  <a:pt x="129140" y="25498"/>
                </a:moveTo>
                <a:cubicBezTo>
                  <a:pt x="132820" y="21818"/>
                  <a:pt x="132820" y="15841"/>
                  <a:pt x="129140" y="12160"/>
                </a:cubicBezTo>
                <a:cubicBezTo>
                  <a:pt x="125459" y="8480"/>
                  <a:pt x="119482" y="8480"/>
                  <a:pt x="115802" y="12160"/>
                </a:cubicBezTo>
                <a:lnTo>
                  <a:pt x="2738" y="125224"/>
                </a:lnTo>
                <a:cubicBezTo>
                  <a:pt x="-942" y="128904"/>
                  <a:pt x="-942" y="134881"/>
                  <a:pt x="2738" y="138562"/>
                </a:cubicBezTo>
                <a:cubicBezTo>
                  <a:pt x="6419" y="142242"/>
                  <a:pt x="12396" y="142242"/>
                  <a:pt x="16076" y="138562"/>
                </a:cubicBezTo>
                <a:lnTo>
                  <a:pt x="129140" y="25498"/>
                </a:lnTo>
                <a:close/>
              </a:path>
            </a:pathLst>
          </a:custGeom>
          <a:solidFill>
            <a:srgbClr val="8D99AE"/>
          </a:solidFill>
        </p:spPr>
      </p:sp>
      <p:sp>
        <p:nvSpPr>
          <p:cNvPr id="35" name="Text 33"/>
          <p:cNvSpPr/>
          <p:nvPr/>
        </p:nvSpPr>
        <p:spPr>
          <a:xfrm>
            <a:off x="1007537" y="5775654"/>
            <a:ext cx="4721007" cy="22612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5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利率：4.5%（绿色信贷）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195961" y="1248408"/>
            <a:ext cx="5615481" cy="4569645"/>
          </a:xfrm>
          <a:custGeom>
            <a:avLst/>
            <a:gdLst/>
            <a:ahLst/>
            <a:cxnLst/>
            <a:rect l="l" t="t" r="r" b="b"/>
            <a:pathLst>
              <a:path w="5615481" h="4569645">
                <a:moveTo>
                  <a:pt x="75353" y="0"/>
                </a:moveTo>
                <a:lnTo>
                  <a:pt x="5540127" y="0"/>
                </a:lnTo>
                <a:cubicBezTo>
                  <a:pt x="5581744" y="0"/>
                  <a:pt x="5615481" y="33737"/>
                  <a:pt x="5615481" y="75353"/>
                </a:cubicBezTo>
                <a:lnTo>
                  <a:pt x="5615481" y="4494291"/>
                </a:lnTo>
                <a:cubicBezTo>
                  <a:pt x="5615481" y="4535908"/>
                  <a:pt x="5581744" y="4569645"/>
                  <a:pt x="5540127" y="4569645"/>
                </a:cubicBezTo>
                <a:lnTo>
                  <a:pt x="75353" y="4569645"/>
                </a:lnTo>
                <a:cubicBezTo>
                  <a:pt x="33737" y="4569645"/>
                  <a:pt x="0" y="4535908"/>
                  <a:pt x="0" y="4494291"/>
                </a:cubicBezTo>
                <a:lnTo>
                  <a:pt x="0" y="75353"/>
                </a:lnTo>
                <a:cubicBezTo>
                  <a:pt x="0" y="33765"/>
                  <a:pt x="33765" y="0"/>
                  <a:pt x="75353" y="0"/>
                </a:cubicBezTo>
                <a:close/>
              </a:path>
            </a:pathLst>
          </a:custGeom>
          <a:gradFill flip="none" rotWithShape="1">
            <a:gsLst>
              <a:gs pos="0">
                <a:srgbClr val="D4A373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12700">
            <a:solidFill>
              <a:srgbClr val="D4A373">
                <a:alpha val="40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431510" y="1479246"/>
            <a:ext cx="197861" cy="226127"/>
          </a:xfrm>
          <a:custGeom>
            <a:avLst/>
            <a:gdLst/>
            <a:ahLst/>
            <a:cxnLst/>
            <a:rect l="l" t="t" r="r" b="b"/>
            <a:pathLst>
              <a:path w="197861" h="226127">
                <a:moveTo>
                  <a:pt x="127196" y="28266"/>
                </a:moveTo>
                <a:lnTo>
                  <a:pt x="155462" y="28266"/>
                </a:lnTo>
                <a:lnTo>
                  <a:pt x="155462" y="211994"/>
                </a:lnTo>
                <a:cubicBezTo>
                  <a:pt x="155462" y="219811"/>
                  <a:pt x="161778" y="226127"/>
                  <a:pt x="169595" y="226127"/>
                </a:cubicBezTo>
                <a:lnTo>
                  <a:pt x="183728" y="226127"/>
                </a:lnTo>
                <a:cubicBezTo>
                  <a:pt x="191545" y="226127"/>
                  <a:pt x="197861" y="219811"/>
                  <a:pt x="197861" y="211994"/>
                </a:cubicBezTo>
                <a:cubicBezTo>
                  <a:pt x="197861" y="204177"/>
                  <a:pt x="191545" y="197861"/>
                  <a:pt x="183728" y="197861"/>
                </a:cubicBezTo>
                <a:lnTo>
                  <a:pt x="183728" y="28266"/>
                </a:lnTo>
                <a:cubicBezTo>
                  <a:pt x="183728" y="12675"/>
                  <a:pt x="171053" y="0"/>
                  <a:pt x="155462" y="0"/>
                </a:cubicBezTo>
                <a:lnTo>
                  <a:pt x="113063" y="0"/>
                </a:lnTo>
                <a:lnTo>
                  <a:pt x="113063" y="0"/>
                </a:lnTo>
                <a:lnTo>
                  <a:pt x="42399" y="0"/>
                </a:lnTo>
                <a:cubicBezTo>
                  <a:pt x="26808" y="0"/>
                  <a:pt x="14133" y="12675"/>
                  <a:pt x="14133" y="28266"/>
                </a:cubicBezTo>
                <a:lnTo>
                  <a:pt x="14133" y="197861"/>
                </a:lnTo>
                <a:cubicBezTo>
                  <a:pt x="6316" y="197861"/>
                  <a:pt x="0" y="204177"/>
                  <a:pt x="0" y="211994"/>
                </a:cubicBezTo>
                <a:cubicBezTo>
                  <a:pt x="0" y="219811"/>
                  <a:pt x="6316" y="226127"/>
                  <a:pt x="14133" y="226127"/>
                </a:cubicBezTo>
                <a:lnTo>
                  <a:pt x="113063" y="226127"/>
                </a:lnTo>
                <a:cubicBezTo>
                  <a:pt x="120881" y="226127"/>
                  <a:pt x="127196" y="219811"/>
                  <a:pt x="127196" y="211994"/>
                </a:cubicBezTo>
                <a:lnTo>
                  <a:pt x="127196" y="28266"/>
                </a:lnTo>
                <a:close/>
                <a:moveTo>
                  <a:pt x="70665" y="113063"/>
                </a:moveTo>
                <a:cubicBezTo>
                  <a:pt x="70665" y="105263"/>
                  <a:pt x="76997" y="98930"/>
                  <a:pt x="84798" y="98930"/>
                </a:cubicBezTo>
                <a:cubicBezTo>
                  <a:pt x="92598" y="98930"/>
                  <a:pt x="98930" y="105263"/>
                  <a:pt x="98930" y="113063"/>
                </a:cubicBezTo>
                <a:cubicBezTo>
                  <a:pt x="98930" y="120864"/>
                  <a:pt x="92598" y="127196"/>
                  <a:pt x="84798" y="127196"/>
                </a:cubicBezTo>
                <a:cubicBezTo>
                  <a:pt x="76997" y="127196"/>
                  <a:pt x="70665" y="120864"/>
                  <a:pt x="70665" y="113063"/>
                </a:cubicBezTo>
                <a:close/>
              </a:path>
            </a:pathLst>
          </a:custGeom>
          <a:solidFill>
            <a:srgbClr val="D4A373"/>
          </a:solidFill>
        </p:spPr>
      </p:sp>
      <p:sp>
        <p:nvSpPr>
          <p:cNvPr id="38" name="Text 36"/>
          <p:cNvSpPr/>
          <p:nvPr/>
        </p:nvSpPr>
        <p:spPr>
          <a:xfrm>
            <a:off x="6671769" y="1441558"/>
            <a:ext cx="5059586" cy="301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80" b="1" dirty="0">
                <a:solidFill>
                  <a:srgbClr val="F0F0F0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多元化退出路径（2026年更新）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6407955" y="1893811"/>
            <a:ext cx="5210337" cy="1168321"/>
          </a:xfrm>
          <a:custGeom>
            <a:avLst/>
            <a:gdLst/>
            <a:ahLst/>
            <a:cxnLst/>
            <a:rect l="l" t="t" r="r" b="b"/>
            <a:pathLst>
              <a:path w="5210337" h="1168321">
                <a:moveTo>
                  <a:pt x="37688" y="0"/>
                </a:moveTo>
                <a:lnTo>
                  <a:pt x="5134957" y="0"/>
                </a:lnTo>
                <a:cubicBezTo>
                  <a:pt x="5176588" y="0"/>
                  <a:pt x="5210337" y="33749"/>
                  <a:pt x="5210337" y="75380"/>
                </a:cubicBezTo>
                <a:lnTo>
                  <a:pt x="5210337" y="1092941"/>
                </a:lnTo>
                <a:cubicBezTo>
                  <a:pt x="5210337" y="1134573"/>
                  <a:pt x="5176588" y="1168321"/>
                  <a:pt x="5134957" y="1168321"/>
                </a:cubicBezTo>
                <a:lnTo>
                  <a:pt x="37688" y="1168321"/>
                </a:lnTo>
                <a:cubicBezTo>
                  <a:pt x="16873" y="1168321"/>
                  <a:pt x="0" y="1151448"/>
                  <a:pt x="0" y="1130634"/>
                </a:cubicBezTo>
                <a:lnTo>
                  <a:pt x="0" y="37688"/>
                </a:lnTo>
                <a:cubicBezTo>
                  <a:pt x="0" y="16887"/>
                  <a:pt x="16887" y="0"/>
                  <a:pt x="37688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</p:spPr>
      </p:sp>
      <p:sp>
        <p:nvSpPr>
          <p:cNvPr id="40" name="Shape 38"/>
          <p:cNvSpPr/>
          <p:nvPr/>
        </p:nvSpPr>
        <p:spPr>
          <a:xfrm>
            <a:off x="6407955" y="1893811"/>
            <a:ext cx="37688" cy="1168321"/>
          </a:xfrm>
          <a:custGeom>
            <a:avLst/>
            <a:gdLst/>
            <a:ahLst/>
            <a:cxnLst/>
            <a:rect l="l" t="t" r="r" b="b"/>
            <a:pathLst>
              <a:path w="37688" h="1168321">
                <a:moveTo>
                  <a:pt x="37688" y="0"/>
                </a:moveTo>
                <a:lnTo>
                  <a:pt x="37688" y="0"/>
                </a:lnTo>
                <a:lnTo>
                  <a:pt x="37688" y="1168321"/>
                </a:lnTo>
                <a:lnTo>
                  <a:pt x="37688" y="1168321"/>
                </a:lnTo>
                <a:cubicBezTo>
                  <a:pt x="16873" y="1168321"/>
                  <a:pt x="0" y="1151448"/>
                  <a:pt x="0" y="1130634"/>
                </a:cubicBezTo>
                <a:lnTo>
                  <a:pt x="0" y="37688"/>
                </a:lnTo>
                <a:cubicBezTo>
                  <a:pt x="0" y="16887"/>
                  <a:pt x="16887" y="0"/>
                  <a:pt x="37688" y="0"/>
                </a:cubicBezTo>
                <a:close/>
              </a:path>
            </a:pathLst>
          </a:custGeom>
          <a:solidFill>
            <a:srgbClr val="D4A373"/>
          </a:solidFill>
        </p:spPr>
      </p:sp>
      <p:sp>
        <p:nvSpPr>
          <p:cNvPr id="41" name="Shape 39"/>
          <p:cNvSpPr/>
          <p:nvPr/>
        </p:nvSpPr>
        <p:spPr>
          <a:xfrm>
            <a:off x="6577550" y="2044563"/>
            <a:ext cx="678380" cy="263815"/>
          </a:xfrm>
          <a:custGeom>
            <a:avLst/>
            <a:gdLst/>
            <a:ahLst/>
            <a:cxnLst/>
            <a:rect l="l" t="t" r="r" b="b"/>
            <a:pathLst>
              <a:path w="678380" h="263815">
                <a:moveTo>
                  <a:pt x="37689" y="0"/>
                </a:moveTo>
                <a:lnTo>
                  <a:pt x="640692" y="0"/>
                </a:lnTo>
                <a:cubicBezTo>
                  <a:pt x="661506" y="0"/>
                  <a:pt x="678380" y="16874"/>
                  <a:pt x="678380" y="37689"/>
                </a:cubicBezTo>
                <a:lnTo>
                  <a:pt x="678380" y="226126"/>
                </a:lnTo>
                <a:cubicBezTo>
                  <a:pt x="678380" y="246941"/>
                  <a:pt x="661506" y="263815"/>
                  <a:pt x="640692" y="263815"/>
                </a:cubicBezTo>
                <a:lnTo>
                  <a:pt x="37689" y="263815"/>
                </a:lnTo>
                <a:cubicBezTo>
                  <a:pt x="16888" y="263815"/>
                  <a:pt x="0" y="246927"/>
                  <a:pt x="0" y="226126"/>
                </a:cubicBezTo>
                <a:lnTo>
                  <a:pt x="0" y="37689"/>
                </a:lnTo>
                <a:cubicBezTo>
                  <a:pt x="0" y="16888"/>
                  <a:pt x="16888" y="0"/>
                  <a:pt x="37689" y="0"/>
                </a:cubicBezTo>
                <a:close/>
              </a:path>
            </a:pathLst>
          </a:custGeom>
          <a:solidFill>
            <a:srgbClr val="D4A373"/>
          </a:solidFill>
        </p:spPr>
      </p:sp>
      <p:sp>
        <p:nvSpPr>
          <p:cNvPr id="42" name="Text 40"/>
          <p:cNvSpPr/>
          <p:nvPr/>
        </p:nvSpPr>
        <p:spPr>
          <a:xfrm>
            <a:off x="6577550" y="2044563"/>
            <a:ext cx="744334" cy="263815"/>
          </a:xfrm>
          <a:prstGeom prst="rect">
            <a:avLst/>
          </a:prstGeom>
          <a:noFill/>
        </p:spPr>
        <p:txBody>
          <a:bodyPr wrap="square" lIns="113063" tIns="37688" rIns="113063" bIns="37688" rtlCol="0" anchor="ctr"/>
          <a:lstStyle/>
          <a:p>
            <a:pPr>
              <a:lnSpc>
                <a:spcPct val="120000"/>
              </a:lnSpc>
            </a:pPr>
            <a:r>
              <a:rPr lang="en-US" sz="104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优先级1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7326742" y="2044563"/>
            <a:ext cx="1026992" cy="2638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b="1" dirty="0">
                <a:solidFill>
                  <a:srgbClr val="F0F0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机构间REITs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6577550" y="2383753"/>
            <a:ext cx="4965366" cy="22612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5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参考案例：天合富家30.45亿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6596394" y="2713521"/>
            <a:ext cx="150751" cy="150751"/>
          </a:xfrm>
          <a:custGeom>
            <a:avLst/>
            <a:gdLst/>
            <a:ahLst/>
            <a:cxnLst/>
            <a:rect l="l" t="t" r="r" b="b"/>
            <a:pathLst>
              <a:path w="150751" h="150751">
                <a:moveTo>
                  <a:pt x="75376" y="150751"/>
                </a:moveTo>
                <a:cubicBezTo>
                  <a:pt x="116976" y="150751"/>
                  <a:pt x="150751" y="116976"/>
                  <a:pt x="150751" y="75376"/>
                </a:cubicBezTo>
                <a:cubicBezTo>
                  <a:pt x="150751" y="33775"/>
                  <a:pt x="116976" y="0"/>
                  <a:pt x="75376" y="0"/>
                </a:cubicBezTo>
                <a:cubicBezTo>
                  <a:pt x="33775" y="0"/>
                  <a:pt x="0" y="33775"/>
                  <a:pt x="0" y="75376"/>
                </a:cubicBezTo>
                <a:cubicBezTo>
                  <a:pt x="0" y="116976"/>
                  <a:pt x="33775" y="150751"/>
                  <a:pt x="75376" y="150751"/>
                </a:cubicBezTo>
                <a:close/>
                <a:moveTo>
                  <a:pt x="100226" y="62627"/>
                </a:moveTo>
                <a:lnTo>
                  <a:pt x="76671" y="100314"/>
                </a:lnTo>
                <a:cubicBezTo>
                  <a:pt x="75434" y="102287"/>
                  <a:pt x="73315" y="103524"/>
                  <a:pt x="70988" y="103641"/>
                </a:cubicBezTo>
                <a:cubicBezTo>
                  <a:pt x="68662" y="103759"/>
                  <a:pt x="66425" y="102699"/>
                  <a:pt x="65041" y="100815"/>
                </a:cubicBezTo>
                <a:lnTo>
                  <a:pt x="50908" y="81971"/>
                </a:lnTo>
                <a:cubicBezTo>
                  <a:pt x="48552" y="78850"/>
                  <a:pt x="49200" y="74433"/>
                  <a:pt x="52321" y="72078"/>
                </a:cubicBezTo>
                <a:cubicBezTo>
                  <a:pt x="55442" y="69722"/>
                  <a:pt x="59859" y="70370"/>
                  <a:pt x="62214" y="73491"/>
                </a:cubicBezTo>
                <a:lnTo>
                  <a:pt x="70164" y="84091"/>
                </a:lnTo>
                <a:lnTo>
                  <a:pt x="88242" y="55148"/>
                </a:lnTo>
                <a:cubicBezTo>
                  <a:pt x="90303" y="51850"/>
                  <a:pt x="94661" y="50820"/>
                  <a:pt x="97988" y="52910"/>
                </a:cubicBezTo>
                <a:cubicBezTo>
                  <a:pt x="101315" y="55001"/>
                  <a:pt x="102316" y="59329"/>
                  <a:pt x="100226" y="62656"/>
                </a:cubicBezTo>
                <a:close/>
              </a:path>
            </a:pathLst>
          </a:custGeom>
          <a:solidFill>
            <a:srgbClr val="D4A373"/>
          </a:solidFill>
        </p:spPr>
      </p:sp>
      <p:sp>
        <p:nvSpPr>
          <p:cNvPr id="46" name="Text 44"/>
          <p:cNvSpPr/>
          <p:nvPr/>
        </p:nvSpPr>
        <p:spPr>
          <a:xfrm>
            <a:off x="6793949" y="2685255"/>
            <a:ext cx="989610" cy="22612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5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审核相对宽松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10875136" y="2685255"/>
            <a:ext cx="668958" cy="22612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5" b="1" dirty="0">
                <a:solidFill>
                  <a:srgbClr val="D4A373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Year 5-7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6407955" y="3175196"/>
            <a:ext cx="5210337" cy="1168321"/>
          </a:xfrm>
          <a:custGeom>
            <a:avLst/>
            <a:gdLst/>
            <a:ahLst/>
            <a:cxnLst/>
            <a:rect l="l" t="t" r="r" b="b"/>
            <a:pathLst>
              <a:path w="5210337" h="1168321">
                <a:moveTo>
                  <a:pt x="37688" y="0"/>
                </a:moveTo>
                <a:lnTo>
                  <a:pt x="5134957" y="0"/>
                </a:lnTo>
                <a:cubicBezTo>
                  <a:pt x="5176588" y="0"/>
                  <a:pt x="5210337" y="33749"/>
                  <a:pt x="5210337" y="75380"/>
                </a:cubicBezTo>
                <a:lnTo>
                  <a:pt x="5210337" y="1092941"/>
                </a:lnTo>
                <a:cubicBezTo>
                  <a:pt x="5210337" y="1134573"/>
                  <a:pt x="5176588" y="1168321"/>
                  <a:pt x="5134957" y="1168321"/>
                </a:cubicBezTo>
                <a:lnTo>
                  <a:pt x="37688" y="1168321"/>
                </a:lnTo>
                <a:cubicBezTo>
                  <a:pt x="16873" y="1168321"/>
                  <a:pt x="0" y="1151448"/>
                  <a:pt x="0" y="1130634"/>
                </a:cubicBezTo>
                <a:lnTo>
                  <a:pt x="0" y="37688"/>
                </a:lnTo>
                <a:cubicBezTo>
                  <a:pt x="0" y="16887"/>
                  <a:pt x="16887" y="0"/>
                  <a:pt x="37688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</p:spPr>
      </p:sp>
      <p:sp>
        <p:nvSpPr>
          <p:cNvPr id="49" name="Shape 47"/>
          <p:cNvSpPr/>
          <p:nvPr/>
        </p:nvSpPr>
        <p:spPr>
          <a:xfrm>
            <a:off x="6407955" y="3175196"/>
            <a:ext cx="37688" cy="1168321"/>
          </a:xfrm>
          <a:custGeom>
            <a:avLst/>
            <a:gdLst/>
            <a:ahLst/>
            <a:cxnLst/>
            <a:rect l="l" t="t" r="r" b="b"/>
            <a:pathLst>
              <a:path w="37688" h="1168321">
                <a:moveTo>
                  <a:pt x="37688" y="0"/>
                </a:moveTo>
                <a:lnTo>
                  <a:pt x="37688" y="0"/>
                </a:lnTo>
                <a:lnTo>
                  <a:pt x="37688" y="1168321"/>
                </a:lnTo>
                <a:lnTo>
                  <a:pt x="37688" y="1168321"/>
                </a:lnTo>
                <a:cubicBezTo>
                  <a:pt x="16873" y="1168321"/>
                  <a:pt x="0" y="1151448"/>
                  <a:pt x="0" y="1130634"/>
                </a:cubicBezTo>
                <a:lnTo>
                  <a:pt x="0" y="37688"/>
                </a:lnTo>
                <a:cubicBezTo>
                  <a:pt x="0" y="16887"/>
                  <a:pt x="16887" y="0"/>
                  <a:pt x="37688" y="0"/>
                </a:cubicBezTo>
                <a:close/>
              </a:path>
            </a:pathLst>
          </a:custGeom>
          <a:solidFill>
            <a:srgbClr val="4A6C8C"/>
          </a:solidFill>
        </p:spPr>
      </p:sp>
      <p:sp>
        <p:nvSpPr>
          <p:cNvPr id="50" name="Shape 48"/>
          <p:cNvSpPr/>
          <p:nvPr/>
        </p:nvSpPr>
        <p:spPr>
          <a:xfrm>
            <a:off x="6577550" y="3325947"/>
            <a:ext cx="697224" cy="263815"/>
          </a:xfrm>
          <a:custGeom>
            <a:avLst/>
            <a:gdLst/>
            <a:ahLst/>
            <a:cxnLst/>
            <a:rect l="l" t="t" r="r" b="b"/>
            <a:pathLst>
              <a:path w="697224" h="263815">
                <a:moveTo>
                  <a:pt x="37689" y="0"/>
                </a:moveTo>
                <a:lnTo>
                  <a:pt x="659536" y="0"/>
                </a:lnTo>
                <a:cubicBezTo>
                  <a:pt x="680350" y="0"/>
                  <a:pt x="697224" y="16874"/>
                  <a:pt x="697224" y="37689"/>
                </a:cubicBezTo>
                <a:lnTo>
                  <a:pt x="697224" y="226126"/>
                </a:lnTo>
                <a:cubicBezTo>
                  <a:pt x="697224" y="246941"/>
                  <a:pt x="680350" y="263815"/>
                  <a:pt x="659536" y="263815"/>
                </a:cubicBezTo>
                <a:lnTo>
                  <a:pt x="37689" y="263815"/>
                </a:lnTo>
                <a:cubicBezTo>
                  <a:pt x="16888" y="263815"/>
                  <a:pt x="0" y="246927"/>
                  <a:pt x="0" y="226126"/>
                </a:cubicBezTo>
                <a:lnTo>
                  <a:pt x="0" y="37689"/>
                </a:lnTo>
                <a:cubicBezTo>
                  <a:pt x="0" y="16888"/>
                  <a:pt x="16888" y="0"/>
                  <a:pt x="37689" y="0"/>
                </a:cubicBezTo>
                <a:close/>
              </a:path>
            </a:pathLst>
          </a:custGeom>
          <a:solidFill>
            <a:srgbClr val="4A6C8C"/>
          </a:solidFill>
        </p:spPr>
      </p:sp>
      <p:sp>
        <p:nvSpPr>
          <p:cNvPr id="51" name="Text 49"/>
          <p:cNvSpPr/>
          <p:nvPr/>
        </p:nvSpPr>
        <p:spPr>
          <a:xfrm>
            <a:off x="6577550" y="3325947"/>
            <a:ext cx="763178" cy="263815"/>
          </a:xfrm>
          <a:prstGeom prst="rect">
            <a:avLst/>
          </a:prstGeom>
          <a:noFill/>
        </p:spPr>
        <p:txBody>
          <a:bodyPr wrap="square" lIns="113063" tIns="37688" rIns="113063" bIns="37688" rtlCol="0" anchor="ctr"/>
          <a:lstStyle/>
          <a:p>
            <a:pPr>
              <a:lnSpc>
                <a:spcPct val="120000"/>
              </a:lnSpc>
            </a:pPr>
            <a:r>
              <a:rPr lang="en-US" sz="104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优先级2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7348972" y="3325947"/>
            <a:ext cx="961039" cy="2638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b="1" dirty="0">
                <a:solidFill>
                  <a:srgbClr val="F0F0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LP股权收购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6577550" y="3665138"/>
            <a:ext cx="4965366" cy="22612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5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险资/产业资本接盘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6615238" y="3994906"/>
            <a:ext cx="113063" cy="150751"/>
          </a:xfrm>
          <a:custGeom>
            <a:avLst/>
            <a:gdLst/>
            <a:ahLst/>
            <a:cxnLst/>
            <a:rect l="l" t="t" r="r" b="b"/>
            <a:pathLst>
              <a:path w="113063" h="150751">
                <a:moveTo>
                  <a:pt x="18844" y="0"/>
                </a:moveTo>
                <a:cubicBezTo>
                  <a:pt x="8450" y="0"/>
                  <a:pt x="0" y="8450"/>
                  <a:pt x="0" y="18844"/>
                </a:cubicBezTo>
                <a:lnTo>
                  <a:pt x="0" y="131907"/>
                </a:lnTo>
                <a:cubicBezTo>
                  <a:pt x="0" y="142301"/>
                  <a:pt x="8450" y="150751"/>
                  <a:pt x="18844" y="150751"/>
                </a:cubicBezTo>
                <a:lnTo>
                  <a:pt x="94219" y="150751"/>
                </a:lnTo>
                <a:cubicBezTo>
                  <a:pt x="104613" y="150751"/>
                  <a:pt x="113063" y="142301"/>
                  <a:pt x="113063" y="131907"/>
                </a:cubicBezTo>
                <a:lnTo>
                  <a:pt x="113063" y="18844"/>
                </a:lnTo>
                <a:cubicBezTo>
                  <a:pt x="113063" y="8450"/>
                  <a:pt x="104613" y="0"/>
                  <a:pt x="94219" y="0"/>
                </a:cubicBezTo>
                <a:lnTo>
                  <a:pt x="18844" y="0"/>
                </a:lnTo>
                <a:close/>
                <a:moveTo>
                  <a:pt x="28266" y="18844"/>
                </a:moveTo>
                <a:lnTo>
                  <a:pt x="84798" y="18844"/>
                </a:lnTo>
                <a:cubicBezTo>
                  <a:pt x="90009" y="18844"/>
                  <a:pt x="94219" y="23054"/>
                  <a:pt x="94219" y="28266"/>
                </a:cubicBezTo>
                <a:lnTo>
                  <a:pt x="94219" y="37688"/>
                </a:lnTo>
                <a:cubicBezTo>
                  <a:pt x="94219" y="42899"/>
                  <a:pt x="90009" y="47110"/>
                  <a:pt x="84798" y="47110"/>
                </a:cubicBezTo>
                <a:lnTo>
                  <a:pt x="28266" y="47110"/>
                </a:lnTo>
                <a:cubicBezTo>
                  <a:pt x="23054" y="47110"/>
                  <a:pt x="18844" y="42899"/>
                  <a:pt x="18844" y="37688"/>
                </a:cubicBezTo>
                <a:lnTo>
                  <a:pt x="18844" y="28266"/>
                </a:lnTo>
                <a:cubicBezTo>
                  <a:pt x="18844" y="23054"/>
                  <a:pt x="23054" y="18844"/>
                  <a:pt x="28266" y="18844"/>
                </a:cubicBezTo>
                <a:close/>
                <a:moveTo>
                  <a:pt x="32977" y="68309"/>
                </a:moveTo>
                <a:cubicBezTo>
                  <a:pt x="32977" y="72209"/>
                  <a:pt x="29810" y="75376"/>
                  <a:pt x="25910" y="75376"/>
                </a:cubicBezTo>
                <a:cubicBezTo>
                  <a:pt x="22010" y="75376"/>
                  <a:pt x="18844" y="72209"/>
                  <a:pt x="18844" y="68309"/>
                </a:cubicBezTo>
                <a:cubicBezTo>
                  <a:pt x="18844" y="64409"/>
                  <a:pt x="22010" y="61243"/>
                  <a:pt x="25910" y="61243"/>
                </a:cubicBezTo>
                <a:cubicBezTo>
                  <a:pt x="29810" y="61243"/>
                  <a:pt x="32977" y="64409"/>
                  <a:pt x="32977" y="68309"/>
                </a:cubicBezTo>
                <a:close/>
                <a:moveTo>
                  <a:pt x="56532" y="75376"/>
                </a:moveTo>
                <a:cubicBezTo>
                  <a:pt x="52632" y="75376"/>
                  <a:pt x="49465" y="72209"/>
                  <a:pt x="49465" y="68309"/>
                </a:cubicBezTo>
                <a:cubicBezTo>
                  <a:pt x="49465" y="64409"/>
                  <a:pt x="52632" y="61243"/>
                  <a:pt x="56532" y="61243"/>
                </a:cubicBezTo>
                <a:cubicBezTo>
                  <a:pt x="60432" y="61243"/>
                  <a:pt x="63598" y="64409"/>
                  <a:pt x="63598" y="68309"/>
                </a:cubicBezTo>
                <a:cubicBezTo>
                  <a:pt x="63598" y="72209"/>
                  <a:pt x="60432" y="75376"/>
                  <a:pt x="56532" y="75376"/>
                </a:cubicBezTo>
                <a:close/>
                <a:moveTo>
                  <a:pt x="94219" y="68309"/>
                </a:moveTo>
                <a:cubicBezTo>
                  <a:pt x="94219" y="72209"/>
                  <a:pt x="91053" y="75376"/>
                  <a:pt x="87153" y="75376"/>
                </a:cubicBezTo>
                <a:cubicBezTo>
                  <a:pt x="83253" y="75376"/>
                  <a:pt x="80087" y="72209"/>
                  <a:pt x="80087" y="68309"/>
                </a:cubicBezTo>
                <a:cubicBezTo>
                  <a:pt x="80087" y="64409"/>
                  <a:pt x="83253" y="61243"/>
                  <a:pt x="87153" y="61243"/>
                </a:cubicBezTo>
                <a:cubicBezTo>
                  <a:pt x="91053" y="61243"/>
                  <a:pt x="94219" y="64409"/>
                  <a:pt x="94219" y="68309"/>
                </a:cubicBezTo>
                <a:close/>
                <a:moveTo>
                  <a:pt x="25910" y="103641"/>
                </a:moveTo>
                <a:cubicBezTo>
                  <a:pt x="22010" y="103641"/>
                  <a:pt x="18844" y="100475"/>
                  <a:pt x="18844" y="96575"/>
                </a:cubicBezTo>
                <a:cubicBezTo>
                  <a:pt x="18844" y="92675"/>
                  <a:pt x="22010" y="89509"/>
                  <a:pt x="25910" y="89509"/>
                </a:cubicBezTo>
                <a:cubicBezTo>
                  <a:pt x="29810" y="89509"/>
                  <a:pt x="32977" y="92675"/>
                  <a:pt x="32977" y="96575"/>
                </a:cubicBezTo>
                <a:cubicBezTo>
                  <a:pt x="32977" y="100475"/>
                  <a:pt x="29810" y="103641"/>
                  <a:pt x="25910" y="103641"/>
                </a:cubicBezTo>
                <a:close/>
                <a:moveTo>
                  <a:pt x="63598" y="96575"/>
                </a:moveTo>
                <a:cubicBezTo>
                  <a:pt x="63598" y="100475"/>
                  <a:pt x="60432" y="103641"/>
                  <a:pt x="56532" y="103641"/>
                </a:cubicBezTo>
                <a:cubicBezTo>
                  <a:pt x="52632" y="103641"/>
                  <a:pt x="49465" y="100475"/>
                  <a:pt x="49465" y="96575"/>
                </a:cubicBezTo>
                <a:cubicBezTo>
                  <a:pt x="49465" y="92675"/>
                  <a:pt x="52632" y="89509"/>
                  <a:pt x="56532" y="89509"/>
                </a:cubicBezTo>
                <a:cubicBezTo>
                  <a:pt x="60432" y="89509"/>
                  <a:pt x="63598" y="92675"/>
                  <a:pt x="63598" y="96575"/>
                </a:cubicBezTo>
                <a:close/>
                <a:moveTo>
                  <a:pt x="87153" y="103641"/>
                </a:moveTo>
                <a:cubicBezTo>
                  <a:pt x="83253" y="103641"/>
                  <a:pt x="80087" y="100475"/>
                  <a:pt x="80087" y="96575"/>
                </a:cubicBezTo>
                <a:cubicBezTo>
                  <a:pt x="80087" y="92675"/>
                  <a:pt x="83253" y="89509"/>
                  <a:pt x="87153" y="89509"/>
                </a:cubicBezTo>
                <a:cubicBezTo>
                  <a:pt x="91053" y="89509"/>
                  <a:pt x="94219" y="92675"/>
                  <a:pt x="94219" y="96575"/>
                </a:cubicBezTo>
                <a:cubicBezTo>
                  <a:pt x="94219" y="100475"/>
                  <a:pt x="91053" y="103641"/>
                  <a:pt x="87153" y="103641"/>
                </a:cubicBezTo>
                <a:close/>
                <a:moveTo>
                  <a:pt x="18844" y="124841"/>
                </a:moveTo>
                <a:cubicBezTo>
                  <a:pt x="18844" y="120925"/>
                  <a:pt x="21994" y="117774"/>
                  <a:pt x="25910" y="117774"/>
                </a:cubicBezTo>
                <a:lnTo>
                  <a:pt x="58887" y="117774"/>
                </a:lnTo>
                <a:cubicBezTo>
                  <a:pt x="62803" y="117774"/>
                  <a:pt x="65954" y="120925"/>
                  <a:pt x="65954" y="124841"/>
                </a:cubicBezTo>
                <a:cubicBezTo>
                  <a:pt x="65954" y="128757"/>
                  <a:pt x="62803" y="131907"/>
                  <a:pt x="58887" y="131907"/>
                </a:cubicBezTo>
                <a:lnTo>
                  <a:pt x="25910" y="131907"/>
                </a:lnTo>
                <a:cubicBezTo>
                  <a:pt x="21994" y="131907"/>
                  <a:pt x="18844" y="128757"/>
                  <a:pt x="18844" y="124841"/>
                </a:cubicBezTo>
                <a:close/>
                <a:moveTo>
                  <a:pt x="87153" y="117774"/>
                </a:moveTo>
                <a:cubicBezTo>
                  <a:pt x="91069" y="117774"/>
                  <a:pt x="94219" y="120925"/>
                  <a:pt x="94219" y="124841"/>
                </a:cubicBezTo>
                <a:cubicBezTo>
                  <a:pt x="94219" y="128757"/>
                  <a:pt x="91069" y="131907"/>
                  <a:pt x="87153" y="131907"/>
                </a:cubicBezTo>
                <a:cubicBezTo>
                  <a:pt x="83237" y="131907"/>
                  <a:pt x="80087" y="128757"/>
                  <a:pt x="80087" y="124841"/>
                </a:cubicBezTo>
                <a:cubicBezTo>
                  <a:pt x="80087" y="120925"/>
                  <a:pt x="83237" y="117774"/>
                  <a:pt x="87153" y="117774"/>
                </a:cubicBezTo>
                <a:close/>
              </a:path>
            </a:pathLst>
          </a:custGeom>
          <a:solidFill>
            <a:srgbClr val="4A6C8C"/>
          </a:solidFill>
        </p:spPr>
      </p:sp>
      <p:sp>
        <p:nvSpPr>
          <p:cNvPr id="55" name="Text 53"/>
          <p:cNvSpPr/>
          <p:nvPr/>
        </p:nvSpPr>
        <p:spPr>
          <a:xfrm>
            <a:off x="6793949" y="3966640"/>
            <a:ext cx="1394754" cy="22612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5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估值：EBITDA×8倍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10864536" y="3966640"/>
            <a:ext cx="678380" cy="22612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5" b="1" dirty="0">
                <a:solidFill>
                  <a:srgbClr val="4A6C8C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Year 3-5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6407955" y="4456581"/>
            <a:ext cx="5210337" cy="1168321"/>
          </a:xfrm>
          <a:custGeom>
            <a:avLst/>
            <a:gdLst/>
            <a:ahLst/>
            <a:cxnLst/>
            <a:rect l="l" t="t" r="r" b="b"/>
            <a:pathLst>
              <a:path w="5210337" h="1168321">
                <a:moveTo>
                  <a:pt x="37688" y="0"/>
                </a:moveTo>
                <a:lnTo>
                  <a:pt x="5134957" y="0"/>
                </a:lnTo>
                <a:cubicBezTo>
                  <a:pt x="5176588" y="0"/>
                  <a:pt x="5210337" y="33749"/>
                  <a:pt x="5210337" y="75380"/>
                </a:cubicBezTo>
                <a:lnTo>
                  <a:pt x="5210337" y="1092941"/>
                </a:lnTo>
                <a:cubicBezTo>
                  <a:pt x="5210337" y="1134573"/>
                  <a:pt x="5176588" y="1168321"/>
                  <a:pt x="5134957" y="1168321"/>
                </a:cubicBezTo>
                <a:lnTo>
                  <a:pt x="37688" y="1168321"/>
                </a:lnTo>
                <a:cubicBezTo>
                  <a:pt x="16873" y="1168321"/>
                  <a:pt x="0" y="1151448"/>
                  <a:pt x="0" y="1130634"/>
                </a:cubicBezTo>
                <a:lnTo>
                  <a:pt x="0" y="37688"/>
                </a:lnTo>
                <a:cubicBezTo>
                  <a:pt x="0" y="16887"/>
                  <a:pt x="16887" y="0"/>
                  <a:pt x="37688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</p:spPr>
      </p:sp>
      <p:sp>
        <p:nvSpPr>
          <p:cNvPr id="58" name="Shape 56"/>
          <p:cNvSpPr/>
          <p:nvPr/>
        </p:nvSpPr>
        <p:spPr>
          <a:xfrm>
            <a:off x="6407955" y="4456581"/>
            <a:ext cx="37688" cy="1168321"/>
          </a:xfrm>
          <a:custGeom>
            <a:avLst/>
            <a:gdLst/>
            <a:ahLst/>
            <a:cxnLst/>
            <a:rect l="l" t="t" r="r" b="b"/>
            <a:pathLst>
              <a:path w="37688" h="1168321">
                <a:moveTo>
                  <a:pt x="37688" y="0"/>
                </a:moveTo>
                <a:lnTo>
                  <a:pt x="37688" y="0"/>
                </a:lnTo>
                <a:lnTo>
                  <a:pt x="37688" y="1168321"/>
                </a:lnTo>
                <a:lnTo>
                  <a:pt x="37688" y="1168321"/>
                </a:lnTo>
                <a:cubicBezTo>
                  <a:pt x="16873" y="1168321"/>
                  <a:pt x="0" y="1151448"/>
                  <a:pt x="0" y="1130634"/>
                </a:cubicBezTo>
                <a:lnTo>
                  <a:pt x="0" y="37688"/>
                </a:lnTo>
                <a:cubicBezTo>
                  <a:pt x="0" y="16887"/>
                  <a:pt x="16887" y="0"/>
                  <a:pt x="37688" y="0"/>
                </a:cubicBezTo>
                <a:close/>
              </a:path>
            </a:pathLst>
          </a:custGeom>
          <a:solidFill>
            <a:srgbClr val="8D99AE"/>
          </a:solidFill>
        </p:spPr>
      </p:sp>
      <p:sp>
        <p:nvSpPr>
          <p:cNvPr id="59" name="Shape 57"/>
          <p:cNvSpPr/>
          <p:nvPr/>
        </p:nvSpPr>
        <p:spPr>
          <a:xfrm>
            <a:off x="6577550" y="4607332"/>
            <a:ext cx="697224" cy="263815"/>
          </a:xfrm>
          <a:custGeom>
            <a:avLst/>
            <a:gdLst/>
            <a:ahLst/>
            <a:cxnLst/>
            <a:rect l="l" t="t" r="r" b="b"/>
            <a:pathLst>
              <a:path w="697224" h="263815">
                <a:moveTo>
                  <a:pt x="37689" y="0"/>
                </a:moveTo>
                <a:lnTo>
                  <a:pt x="659536" y="0"/>
                </a:lnTo>
                <a:cubicBezTo>
                  <a:pt x="680350" y="0"/>
                  <a:pt x="697224" y="16874"/>
                  <a:pt x="697224" y="37689"/>
                </a:cubicBezTo>
                <a:lnTo>
                  <a:pt x="697224" y="226126"/>
                </a:lnTo>
                <a:cubicBezTo>
                  <a:pt x="697224" y="246941"/>
                  <a:pt x="680350" y="263815"/>
                  <a:pt x="659536" y="263815"/>
                </a:cubicBezTo>
                <a:lnTo>
                  <a:pt x="37689" y="263815"/>
                </a:lnTo>
                <a:cubicBezTo>
                  <a:pt x="16888" y="263815"/>
                  <a:pt x="0" y="246927"/>
                  <a:pt x="0" y="226126"/>
                </a:cubicBezTo>
                <a:lnTo>
                  <a:pt x="0" y="37689"/>
                </a:lnTo>
                <a:cubicBezTo>
                  <a:pt x="0" y="16888"/>
                  <a:pt x="16888" y="0"/>
                  <a:pt x="37689" y="0"/>
                </a:cubicBezTo>
                <a:close/>
              </a:path>
            </a:pathLst>
          </a:custGeom>
          <a:solidFill>
            <a:srgbClr val="8D99AE"/>
          </a:solidFill>
        </p:spPr>
      </p:sp>
      <p:sp>
        <p:nvSpPr>
          <p:cNvPr id="60" name="Text 58"/>
          <p:cNvSpPr/>
          <p:nvPr/>
        </p:nvSpPr>
        <p:spPr>
          <a:xfrm>
            <a:off x="6577550" y="4607332"/>
            <a:ext cx="763178" cy="263815"/>
          </a:xfrm>
          <a:prstGeom prst="rect">
            <a:avLst/>
          </a:prstGeom>
          <a:noFill/>
        </p:spPr>
        <p:txBody>
          <a:bodyPr wrap="square" lIns="113063" tIns="37688" rIns="113063" bIns="37688" rtlCol="0" anchor="ctr"/>
          <a:lstStyle/>
          <a:p>
            <a:pPr>
              <a:lnSpc>
                <a:spcPct val="120000"/>
              </a:lnSpc>
            </a:pPr>
            <a:r>
              <a:rPr lang="en-US" sz="104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优先级3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7352358" y="4607332"/>
            <a:ext cx="857397" cy="2638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b="1" dirty="0">
                <a:solidFill>
                  <a:srgbClr val="F0F0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公募REITs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6577550" y="4946522"/>
            <a:ext cx="4965366" cy="22612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5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现状：监管趋严，门槛提高</a:t>
            </a:r>
            <a:endParaRPr lang="en-US" sz="1600" dirty="0"/>
          </a:p>
        </p:txBody>
      </p:sp>
      <p:sp>
        <p:nvSpPr>
          <p:cNvPr id="63" name="Shape 61"/>
          <p:cNvSpPr/>
          <p:nvPr/>
        </p:nvSpPr>
        <p:spPr>
          <a:xfrm>
            <a:off x="6596394" y="5276291"/>
            <a:ext cx="150751" cy="150751"/>
          </a:xfrm>
          <a:custGeom>
            <a:avLst/>
            <a:gdLst/>
            <a:ahLst/>
            <a:cxnLst/>
            <a:rect l="l" t="t" r="r" b="b"/>
            <a:pathLst>
              <a:path w="150751" h="150751">
                <a:moveTo>
                  <a:pt x="75376" y="0"/>
                </a:moveTo>
                <a:cubicBezTo>
                  <a:pt x="116976" y="0"/>
                  <a:pt x="150751" y="33775"/>
                  <a:pt x="150751" y="75376"/>
                </a:cubicBezTo>
                <a:cubicBezTo>
                  <a:pt x="150751" y="116976"/>
                  <a:pt x="116976" y="150751"/>
                  <a:pt x="75376" y="150751"/>
                </a:cubicBezTo>
                <a:cubicBezTo>
                  <a:pt x="33775" y="150751"/>
                  <a:pt x="0" y="116976"/>
                  <a:pt x="0" y="75376"/>
                </a:cubicBezTo>
                <a:cubicBezTo>
                  <a:pt x="0" y="33775"/>
                  <a:pt x="33775" y="0"/>
                  <a:pt x="75376" y="0"/>
                </a:cubicBezTo>
                <a:close/>
                <a:moveTo>
                  <a:pt x="68309" y="35332"/>
                </a:moveTo>
                <a:lnTo>
                  <a:pt x="68309" y="75376"/>
                </a:lnTo>
                <a:cubicBezTo>
                  <a:pt x="68309" y="77731"/>
                  <a:pt x="69487" y="79939"/>
                  <a:pt x="71460" y="81264"/>
                </a:cubicBezTo>
                <a:lnTo>
                  <a:pt x="99725" y="100108"/>
                </a:lnTo>
                <a:cubicBezTo>
                  <a:pt x="102964" y="102287"/>
                  <a:pt x="107351" y="101404"/>
                  <a:pt x="109530" y="98135"/>
                </a:cubicBezTo>
                <a:cubicBezTo>
                  <a:pt x="111709" y="94867"/>
                  <a:pt x="110826" y="90510"/>
                  <a:pt x="107557" y="88331"/>
                </a:cubicBezTo>
                <a:lnTo>
                  <a:pt x="82442" y="71607"/>
                </a:lnTo>
                <a:lnTo>
                  <a:pt x="82442" y="35332"/>
                </a:lnTo>
                <a:cubicBezTo>
                  <a:pt x="82442" y="31416"/>
                  <a:pt x="79292" y="28266"/>
                  <a:pt x="75376" y="28266"/>
                </a:cubicBezTo>
                <a:cubicBezTo>
                  <a:pt x="71460" y="28266"/>
                  <a:pt x="68309" y="31416"/>
                  <a:pt x="68309" y="35332"/>
                </a:cubicBezTo>
                <a:close/>
              </a:path>
            </a:pathLst>
          </a:custGeom>
          <a:solidFill>
            <a:srgbClr val="8D99AE"/>
          </a:solidFill>
        </p:spPr>
      </p:sp>
      <p:sp>
        <p:nvSpPr>
          <p:cNvPr id="64" name="Text 62"/>
          <p:cNvSpPr/>
          <p:nvPr/>
        </p:nvSpPr>
        <p:spPr>
          <a:xfrm>
            <a:off x="6793949" y="5248025"/>
            <a:ext cx="1291113" cy="22612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5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作为长期选项保留</a:t>
            </a:r>
            <a:endParaRPr lang="en-US" sz="1600" dirty="0"/>
          </a:p>
        </p:txBody>
      </p:sp>
      <p:sp>
        <p:nvSpPr>
          <p:cNvPr id="65" name="Text 63"/>
          <p:cNvSpPr/>
          <p:nvPr/>
        </p:nvSpPr>
        <p:spPr>
          <a:xfrm>
            <a:off x="10811390" y="5248025"/>
            <a:ext cx="734912" cy="22612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5" b="1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Year 7-10</a:t>
            </a:r>
            <a:endParaRPr lang="en-US" sz="1600" dirty="0"/>
          </a:p>
        </p:txBody>
      </p:sp>
      <p:sp>
        <p:nvSpPr>
          <p:cNvPr id="66" name="Shape 64"/>
          <p:cNvSpPr/>
          <p:nvPr/>
        </p:nvSpPr>
        <p:spPr>
          <a:xfrm>
            <a:off x="6195961" y="5978226"/>
            <a:ext cx="5615481" cy="876241"/>
          </a:xfrm>
          <a:custGeom>
            <a:avLst/>
            <a:gdLst/>
            <a:ahLst/>
            <a:cxnLst/>
            <a:rect l="l" t="t" r="r" b="b"/>
            <a:pathLst>
              <a:path w="5615481" h="876241">
                <a:moveTo>
                  <a:pt x="75374" y="0"/>
                </a:moveTo>
                <a:lnTo>
                  <a:pt x="5540106" y="0"/>
                </a:lnTo>
                <a:cubicBezTo>
                  <a:pt x="5581734" y="0"/>
                  <a:pt x="5615481" y="33746"/>
                  <a:pt x="5615481" y="75374"/>
                </a:cubicBezTo>
                <a:lnTo>
                  <a:pt x="5615481" y="800867"/>
                </a:lnTo>
                <a:cubicBezTo>
                  <a:pt x="5615481" y="842495"/>
                  <a:pt x="5581734" y="876241"/>
                  <a:pt x="5540106" y="876241"/>
                </a:cubicBezTo>
                <a:lnTo>
                  <a:pt x="75374" y="876241"/>
                </a:lnTo>
                <a:cubicBezTo>
                  <a:pt x="33746" y="876241"/>
                  <a:pt x="0" y="842495"/>
                  <a:pt x="0" y="800867"/>
                </a:cubicBezTo>
                <a:lnTo>
                  <a:pt x="0" y="75374"/>
                </a:lnTo>
                <a:cubicBezTo>
                  <a:pt x="0" y="33774"/>
                  <a:pt x="33774" y="0"/>
                  <a:pt x="75374" y="0"/>
                </a:cubicBezTo>
                <a:close/>
              </a:path>
            </a:pathLst>
          </a:custGeom>
          <a:gradFill flip="none" rotWithShape="1">
            <a:gsLst>
              <a:gs pos="0">
                <a:srgbClr val="4A6C8C">
                  <a:alpha val="30000"/>
                </a:srgbClr>
              </a:gs>
              <a:gs pos="100000">
                <a:srgbClr val="D4A373">
                  <a:alpha val="30000"/>
                </a:srgbClr>
              </a:gs>
            </a:gsLst>
            <a:lin ang="0" scaled="1"/>
          </a:gradFill>
          <a:ln w="12700">
            <a:solidFill>
              <a:srgbClr val="D4A373">
                <a:alpha val="50196"/>
              </a:srgbClr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313735" y="6133688"/>
            <a:ext cx="989304" cy="22612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85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降低初始出资</a:t>
            </a:r>
            <a:endParaRPr lang="en-US" sz="1600" dirty="0"/>
          </a:p>
        </p:txBody>
      </p:sp>
      <p:sp>
        <p:nvSpPr>
          <p:cNvPr id="68" name="Text 66"/>
          <p:cNvSpPr/>
          <p:nvPr/>
        </p:nvSpPr>
        <p:spPr>
          <a:xfrm>
            <a:off x="6294891" y="6397502"/>
            <a:ext cx="1026992" cy="301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780" b="1" dirty="0">
                <a:solidFill>
                  <a:srgbClr val="D4A373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D&amp;C覆盖</a:t>
            </a:r>
            <a:endParaRPr lang="en-US" sz="1600" dirty="0"/>
          </a:p>
        </p:txBody>
      </p:sp>
      <p:sp>
        <p:nvSpPr>
          <p:cNvPr id="69" name="Shape 67"/>
          <p:cNvSpPr/>
          <p:nvPr/>
        </p:nvSpPr>
        <p:spPr>
          <a:xfrm>
            <a:off x="7906339" y="6190219"/>
            <a:ext cx="9422" cy="452253"/>
          </a:xfrm>
          <a:custGeom>
            <a:avLst/>
            <a:gdLst/>
            <a:ahLst/>
            <a:cxnLst/>
            <a:rect l="l" t="t" r="r" b="b"/>
            <a:pathLst>
              <a:path w="9422" h="452253">
                <a:moveTo>
                  <a:pt x="0" y="0"/>
                </a:moveTo>
                <a:lnTo>
                  <a:pt x="9422" y="0"/>
                </a:lnTo>
                <a:lnTo>
                  <a:pt x="9422" y="452253"/>
                </a:lnTo>
                <a:lnTo>
                  <a:pt x="0" y="452253"/>
                </a:lnTo>
                <a:lnTo>
                  <a:pt x="0" y="0"/>
                </a:lnTo>
                <a:close/>
              </a:path>
            </a:pathLst>
          </a:custGeom>
          <a:solidFill>
            <a:srgbClr val="8D99AE">
              <a:alpha val="30196"/>
            </a:srgbClr>
          </a:solidFill>
        </p:spPr>
      </p:sp>
      <p:sp>
        <p:nvSpPr>
          <p:cNvPr id="70" name="Text 68"/>
          <p:cNvSpPr/>
          <p:nvPr/>
        </p:nvSpPr>
        <p:spPr>
          <a:xfrm>
            <a:off x="8518177" y="6133688"/>
            <a:ext cx="979883" cy="22612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85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保留运营权</a:t>
            </a:r>
            <a:endParaRPr lang="en-US" sz="1600" dirty="0"/>
          </a:p>
        </p:txBody>
      </p:sp>
      <p:sp>
        <p:nvSpPr>
          <p:cNvPr id="71" name="Text 69"/>
          <p:cNvSpPr/>
          <p:nvPr/>
        </p:nvSpPr>
        <p:spPr>
          <a:xfrm>
            <a:off x="8499333" y="6397502"/>
            <a:ext cx="1017570" cy="301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780" b="1" dirty="0">
                <a:solidFill>
                  <a:srgbClr val="D4A373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51%控股</a:t>
            </a:r>
            <a:endParaRPr lang="en-US" sz="1600" dirty="0"/>
          </a:p>
        </p:txBody>
      </p:sp>
      <p:sp>
        <p:nvSpPr>
          <p:cNvPr id="72" name="Shape 70"/>
          <p:cNvSpPr/>
          <p:nvPr/>
        </p:nvSpPr>
        <p:spPr>
          <a:xfrm>
            <a:off x="10103125" y="6190219"/>
            <a:ext cx="9422" cy="452253"/>
          </a:xfrm>
          <a:custGeom>
            <a:avLst/>
            <a:gdLst/>
            <a:ahLst/>
            <a:cxnLst/>
            <a:rect l="l" t="t" r="r" b="b"/>
            <a:pathLst>
              <a:path w="9422" h="452253">
                <a:moveTo>
                  <a:pt x="0" y="0"/>
                </a:moveTo>
                <a:lnTo>
                  <a:pt x="9422" y="0"/>
                </a:lnTo>
                <a:lnTo>
                  <a:pt x="9422" y="452253"/>
                </a:lnTo>
                <a:lnTo>
                  <a:pt x="0" y="452253"/>
                </a:lnTo>
                <a:lnTo>
                  <a:pt x="0" y="0"/>
                </a:lnTo>
                <a:close/>
              </a:path>
            </a:pathLst>
          </a:custGeom>
          <a:solidFill>
            <a:srgbClr val="8D99AE">
              <a:alpha val="30196"/>
            </a:srgbClr>
          </a:solidFill>
        </p:spPr>
      </p:sp>
      <p:sp>
        <p:nvSpPr>
          <p:cNvPr id="73" name="Text 71"/>
          <p:cNvSpPr/>
          <p:nvPr/>
        </p:nvSpPr>
        <p:spPr>
          <a:xfrm>
            <a:off x="10714815" y="6133688"/>
            <a:ext cx="979883" cy="22612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85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灵活退出</a:t>
            </a:r>
            <a:endParaRPr lang="en-US" sz="1600" dirty="0"/>
          </a:p>
        </p:txBody>
      </p:sp>
      <p:sp>
        <p:nvSpPr>
          <p:cNvPr id="74" name="Text 72"/>
          <p:cNvSpPr/>
          <p:nvPr/>
        </p:nvSpPr>
        <p:spPr>
          <a:xfrm>
            <a:off x="10695971" y="6397502"/>
            <a:ext cx="1017570" cy="301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780" b="1" dirty="0">
                <a:solidFill>
                  <a:srgbClr val="D4A373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多元路径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419100"/>
            <a:ext cx="38100" cy="304800"/>
          </a:xfrm>
          <a:custGeom>
            <a:avLst/>
            <a:gdLst/>
            <a:ahLst/>
            <a:cxnLst/>
            <a:rect l="l" t="t" r="r" b="b"/>
            <a:pathLst>
              <a:path w="38100" h="304800">
                <a:moveTo>
                  <a:pt x="0" y="0"/>
                </a:moveTo>
                <a:lnTo>
                  <a:pt x="38100" y="0"/>
                </a:lnTo>
                <a:lnTo>
                  <a:pt x="38100" y="304800"/>
                </a:lnTo>
                <a:lnTo>
                  <a:pt x="0" y="304800"/>
                </a:lnTo>
                <a:lnTo>
                  <a:pt x="0" y="0"/>
                </a:lnTo>
                <a:close/>
              </a:path>
            </a:pathLst>
          </a:custGeom>
          <a:solidFill>
            <a:srgbClr val="D4A373"/>
          </a:solidFill>
        </p:spPr>
      </p:sp>
      <p:sp>
        <p:nvSpPr>
          <p:cNvPr id="3" name="Text 1"/>
          <p:cNvSpPr/>
          <p:nvPr/>
        </p:nvSpPr>
        <p:spPr>
          <a:xfrm>
            <a:off x="533400" y="381000"/>
            <a:ext cx="3600450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F0F0F0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中国市场双轮驱动策略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71500" y="838200"/>
            <a:ext cx="113252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8D99AE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CHINA MARKET DUAL-WHEEL DRIVE STRATEGY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5763" y="1223963"/>
            <a:ext cx="11420475" cy="3686175"/>
          </a:xfrm>
          <a:custGeom>
            <a:avLst/>
            <a:gdLst/>
            <a:ahLst/>
            <a:cxnLst/>
            <a:rect l="l" t="t" r="r" b="b"/>
            <a:pathLst>
              <a:path w="11420475" h="3686175">
                <a:moveTo>
                  <a:pt x="76193" y="0"/>
                </a:moveTo>
                <a:lnTo>
                  <a:pt x="11344282" y="0"/>
                </a:lnTo>
                <a:cubicBezTo>
                  <a:pt x="11386362" y="0"/>
                  <a:pt x="11420475" y="34113"/>
                  <a:pt x="11420475" y="76193"/>
                </a:cubicBezTo>
                <a:lnTo>
                  <a:pt x="11420475" y="3609982"/>
                </a:lnTo>
                <a:cubicBezTo>
                  <a:pt x="11420475" y="3652062"/>
                  <a:pt x="11386362" y="3686175"/>
                  <a:pt x="11344282" y="3686175"/>
                </a:cubicBezTo>
                <a:lnTo>
                  <a:pt x="76193" y="3686175"/>
                </a:lnTo>
                <a:cubicBezTo>
                  <a:pt x="34113" y="3686175"/>
                  <a:pt x="0" y="3652062"/>
                  <a:pt x="0" y="3609982"/>
                </a:cubicBezTo>
                <a:lnTo>
                  <a:pt x="0" y="76193"/>
                </a:lnTo>
                <a:cubicBezTo>
                  <a:pt x="0" y="34141"/>
                  <a:pt x="34141" y="0"/>
                  <a:pt x="76193" y="0"/>
                </a:cubicBezTo>
                <a:close/>
              </a:path>
            </a:pathLst>
          </a:custGeom>
          <a:gradFill flip="none" rotWithShape="1">
            <a:gsLst>
              <a:gs pos="0">
                <a:srgbClr val="4A6C8C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12700">
            <a:solidFill>
              <a:srgbClr val="4A6C8C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2925" y="141922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4A6C8C"/>
          </a:solidFill>
        </p:spPr>
      </p:sp>
      <p:sp>
        <p:nvSpPr>
          <p:cNvPr id="7" name="Shape 5"/>
          <p:cNvSpPr/>
          <p:nvPr/>
        </p:nvSpPr>
        <p:spPr>
          <a:xfrm>
            <a:off x="676275" y="155257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1906" y="11906"/>
                </a:moveTo>
                <a:cubicBezTo>
                  <a:pt x="5321" y="11906"/>
                  <a:pt x="0" y="17227"/>
                  <a:pt x="0" y="23812"/>
                </a:cubicBezTo>
                <a:lnTo>
                  <a:pt x="0" y="160734"/>
                </a:lnTo>
                <a:cubicBezTo>
                  <a:pt x="0" y="170594"/>
                  <a:pt x="8000" y="178594"/>
                  <a:pt x="17859" y="178594"/>
                </a:cubicBezTo>
                <a:lnTo>
                  <a:pt x="172641" y="178594"/>
                </a:lnTo>
                <a:cubicBezTo>
                  <a:pt x="182500" y="178594"/>
                  <a:pt x="190500" y="170594"/>
                  <a:pt x="190500" y="160734"/>
                </a:cubicBezTo>
                <a:lnTo>
                  <a:pt x="190500" y="56629"/>
                </a:lnTo>
                <a:cubicBezTo>
                  <a:pt x="190500" y="49857"/>
                  <a:pt x="183282" y="45579"/>
                  <a:pt x="177329" y="48778"/>
                </a:cubicBezTo>
                <a:lnTo>
                  <a:pt x="119063" y="80144"/>
                </a:lnTo>
                <a:lnTo>
                  <a:pt x="119063" y="56629"/>
                </a:lnTo>
                <a:cubicBezTo>
                  <a:pt x="119063" y="49857"/>
                  <a:pt x="111844" y="45579"/>
                  <a:pt x="105891" y="48778"/>
                </a:cubicBezTo>
                <a:lnTo>
                  <a:pt x="47625" y="80144"/>
                </a:lnTo>
                <a:lnTo>
                  <a:pt x="47625" y="23812"/>
                </a:lnTo>
                <a:cubicBezTo>
                  <a:pt x="47625" y="17227"/>
                  <a:pt x="42304" y="11906"/>
                  <a:pt x="35719" y="11906"/>
                </a:cubicBezTo>
                <a:lnTo>
                  <a:pt x="11906" y="11906"/>
                </a:lnTo>
                <a:close/>
              </a:path>
            </a:pathLst>
          </a:custGeom>
          <a:solidFill>
            <a:srgbClr val="FFFFFF"/>
          </a:solidFill>
        </p:spPr>
      </p:sp>
      <p:sp>
        <p:nvSpPr>
          <p:cNvPr id="8" name="Text 6"/>
          <p:cNvSpPr/>
          <p:nvPr/>
        </p:nvSpPr>
        <p:spPr>
          <a:xfrm>
            <a:off x="1114425" y="1381125"/>
            <a:ext cx="8001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0F0F0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长三角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14425" y="1685925"/>
            <a:ext cx="7620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上海/浙江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42925" y="2028825"/>
            <a:ext cx="3810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D4A373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场景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23925" y="2028825"/>
            <a:ext cx="1295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0F0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数据中心、半导体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42925" y="2333625"/>
            <a:ext cx="3810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D4A373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政策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23925" y="2333625"/>
            <a:ext cx="23241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0F0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上海机制电价上限</a:t>
            </a:r>
            <a:r>
              <a:rPr lang="en-US" sz="1200" b="1" dirty="0">
                <a:solidFill>
                  <a:srgbClr val="D4A373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0.4155</a:t>
            </a:r>
            <a:r>
              <a:rPr lang="en-US" sz="1200" dirty="0">
                <a:solidFill>
                  <a:srgbClr val="F0F0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元/kWh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42925" y="2638425"/>
            <a:ext cx="533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D4A373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自用率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76325" y="2638425"/>
            <a:ext cx="16192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0F0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≥</a:t>
            </a:r>
            <a:r>
              <a:rPr lang="en-US" sz="1200" b="1" dirty="0">
                <a:solidFill>
                  <a:srgbClr val="D4A373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60%</a:t>
            </a:r>
            <a:r>
              <a:rPr lang="en-US" sz="1200" dirty="0">
                <a:solidFill>
                  <a:srgbClr val="F0F0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（维持IRR底线）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42925" y="2943225"/>
            <a:ext cx="3810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D4A373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储能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23925" y="2943225"/>
            <a:ext cx="1295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0F0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0.3-0.5MWh/MW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42925" y="3248025"/>
            <a:ext cx="3810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D4A373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收益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23925" y="3248025"/>
            <a:ext cx="13906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0F0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自发自用+需量管理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42925" y="3552825"/>
            <a:ext cx="3810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D4A373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退出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23925" y="3552825"/>
            <a:ext cx="159067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0F0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机构间REITs/险资收购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47688" y="3900488"/>
            <a:ext cx="5429250" cy="847725"/>
          </a:xfrm>
          <a:custGeom>
            <a:avLst/>
            <a:gdLst/>
            <a:ahLst/>
            <a:cxnLst/>
            <a:rect l="l" t="t" r="r" b="b"/>
            <a:pathLst>
              <a:path w="5429250" h="847725">
                <a:moveTo>
                  <a:pt x="76202" y="0"/>
                </a:moveTo>
                <a:lnTo>
                  <a:pt x="5353048" y="0"/>
                </a:lnTo>
                <a:cubicBezTo>
                  <a:pt x="5395105" y="0"/>
                  <a:pt x="5429250" y="34145"/>
                  <a:pt x="5429250" y="76202"/>
                </a:cubicBezTo>
                <a:lnTo>
                  <a:pt x="5429250" y="771523"/>
                </a:lnTo>
                <a:cubicBezTo>
                  <a:pt x="5429250" y="813580"/>
                  <a:pt x="5395105" y="847725"/>
                  <a:pt x="5353048" y="847725"/>
                </a:cubicBezTo>
                <a:lnTo>
                  <a:pt x="76202" y="847725"/>
                </a:lnTo>
                <a:cubicBezTo>
                  <a:pt x="34145" y="847725"/>
                  <a:pt x="0" y="813580"/>
                  <a:pt x="0" y="771523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 w="12700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6750" y="4076700"/>
            <a:ext cx="609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IRR预期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819948" y="4019550"/>
            <a:ext cx="1181100" cy="342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D4A373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10-13%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66750" y="4400550"/>
            <a:ext cx="52673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保守估计（乐观15%）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210300" y="141922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D4A373"/>
          </a:solidFill>
        </p:spPr>
      </p:sp>
      <p:sp>
        <p:nvSpPr>
          <p:cNvPr id="27" name="Shape 25"/>
          <p:cNvSpPr/>
          <p:nvPr/>
        </p:nvSpPr>
        <p:spPr>
          <a:xfrm>
            <a:off x="6355556" y="1552575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126057" y="-3683"/>
                </a:moveTo>
                <a:cubicBezTo>
                  <a:pt x="130485" y="-484"/>
                  <a:pt x="132122" y="5321"/>
                  <a:pt x="130113" y="10381"/>
                </a:cubicBezTo>
                <a:lnTo>
                  <a:pt x="100943" y="83344"/>
                </a:lnTo>
                <a:lnTo>
                  <a:pt x="154781" y="83344"/>
                </a:lnTo>
                <a:cubicBezTo>
                  <a:pt x="159804" y="83344"/>
                  <a:pt x="164269" y="86469"/>
                  <a:pt x="165981" y="91194"/>
                </a:cubicBezTo>
                <a:cubicBezTo>
                  <a:pt x="167692" y="95920"/>
                  <a:pt x="166241" y="101203"/>
                  <a:pt x="162409" y="104403"/>
                </a:cubicBezTo>
                <a:lnTo>
                  <a:pt x="55252" y="193700"/>
                </a:lnTo>
                <a:cubicBezTo>
                  <a:pt x="51048" y="197197"/>
                  <a:pt x="45058" y="197383"/>
                  <a:pt x="40630" y="194183"/>
                </a:cubicBezTo>
                <a:cubicBezTo>
                  <a:pt x="36202" y="190984"/>
                  <a:pt x="34565" y="185179"/>
                  <a:pt x="36575" y="180119"/>
                </a:cubicBezTo>
                <a:lnTo>
                  <a:pt x="65745" y="107156"/>
                </a:lnTo>
                <a:lnTo>
                  <a:pt x="11906" y="107156"/>
                </a:lnTo>
                <a:cubicBezTo>
                  <a:pt x="6883" y="107156"/>
                  <a:pt x="2418" y="104031"/>
                  <a:pt x="707" y="99306"/>
                </a:cubicBezTo>
                <a:cubicBezTo>
                  <a:pt x="-1005" y="94580"/>
                  <a:pt x="446" y="89297"/>
                  <a:pt x="4279" y="86097"/>
                </a:cubicBezTo>
                <a:lnTo>
                  <a:pt x="111435" y="-3200"/>
                </a:lnTo>
                <a:cubicBezTo>
                  <a:pt x="115639" y="-6697"/>
                  <a:pt x="121630" y="-6883"/>
                  <a:pt x="126057" y="-3683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28" name="Text 26"/>
          <p:cNvSpPr/>
          <p:nvPr/>
        </p:nvSpPr>
        <p:spPr>
          <a:xfrm>
            <a:off x="6781800" y="1381125"/>
            <a:ext cx="8001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0F0F0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珠三角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781800" y="1685925"/>
            <a:ext cx="7620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广东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210300" y="2028825"/>
            <a:ext cx="3810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D4A373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场景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591300" y="2028825"/>
            <a:ext cx="1295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0F0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电子信息、物流园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210300" y="2333625"/>
            <a:ext cx="3810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D4A373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政策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591300" y="2333625"/>
            <a:ext cx="19050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0F0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全面现货市场，负电价频现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210300" y="2638425"/>
            <a:ext cx="533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D4A373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自用率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743700" y="2638425"/>
            <a:ext cx="18478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0F0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≥</a:t>
            </a:r>
            <a:r>
              <a:rPr lang="en-US" sz="1200" b="1" dirty="0">
                <a:solidFill>
                  <a:srgbClr val="D4A373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50%</a:t>
            </a:r>
            <a:r>
              <a:rPr lang="en-US" sz="1200" dirty="0">
                <a:solidFill>
                  <a:srgbClr val="F0F0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（广东无强制要求）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210300" y="2943225"/>
            <a:ext cx="3810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D4A373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储能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591300" y="2943225"/>
            <a:ext cx="19050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0F0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1-2MWh/MW（现货套利）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210300" y="3248025"/>
            <a:ext cx="3810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D4A373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收益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591300" y="3248025"/>
            <a:ext cx="178117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0F0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现货套利+需求响应+调频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210300" y="3552825"/>
            <a:ext cx="3810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D4A373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退出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6591300" y="3552825"/>
            <a:ext cx="16097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0F0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资产轮调+AI SaaS输出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6215063" y="3900488"/>
            <a:ext cx="5429250" cy="847725"/>
          </a:xfrm>
          <a:custGeom>
            <a:avLst/>
            <a:gdLst/>
            <a:ahLst/>
            <a:cxnLst/>
            <a:rect l="l" t="t" r="r" b="b"/>
            <a:pathLst>
              <a:path w="5429250" h="847725">
                <a:moveTo>
                  <a:pt x="76202" y="0"/>
                </a:moveTo>
                <a:lnTo>
                  <a:pt x="5353048" y="0"/>
                </a:lnTo>
                <a:cubicBezTo>
                  <a:pt x="5395105" y="0"/>
                  <a:pt x="5429250" y="34145"/>
                  <a:pt x="5429250" y="76202"/>
                </a:cubicBezTo>
                <a:lnTo>
                  <a:pt x="5429250" y="771523"/>
                </a:lnTo>
                <a:cubicBezTo>
                  <a:pt x="5429250" y="813580"/>
                  <a:pt x="5395105" y="847725"/>
                  <a:pt x="5353048" y="847725"/>
                </a:cubicBezTo>
                <a:lnTo>
                  <a:pt x="76202" y="847725"/>
                </a:lnTo>
                <a:cubicBezTo>
                  <a:pt x="34145" y="847725"/>
                  <a:pt x="0" y="813580"/>
                  <a:pt x="0" y="771523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 w="12700">
            <a:solidFill>
              <a:srgbClr val="D4A373">
                <a:alpha val="30196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334125" y="4076700"/>
            <a:ext cx="609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IRR预期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10487323" y="4019550"/>
            <a:ext cx="1181100" cy="342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D4A373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12-16%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6334125" y="4400550"/>
            <a:ext cx="52673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保守估计（乐观18%）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385763" y="5033963"/>
            <a:ext cx="3724275" cy="1076325"/>
          </a:xfrm>
          <a:custGeom>
            <a:avLst/>
            <a:gdLst/>
            <a:ahLst/>
            <a:cxnLst/>
            <a:rect l="l" t="t" r="r" b="b"/>
            <a:pathLst>
              <a:path w="3724275" h="1076325">
                <a:moveTo>
                  <a:pt x="76204" y="0"/>
                </a:moveTo>
                <a:lnTo>
                  <a:pt x="3648071" y="0"/>
                </a:lnTo>
                <a:cubicBezTo>
                  <a:pt x="3690157" y="0"/>
                  <a:pt x="3724275" y="34118"/>
                  <a:pt x="3724275" y="76204"/>
                </a:cubicBezTo>
                <a:lnTo>
                  <a:pt x="3724275" y="1000121"/>
                </a:lnTo>
                <a:cubicBezTo>
                  <a:pt x="3724275" y="1042207"/>
                  <a:pt x="3690157" y="1076325"/>
                  <a:pt x="3648071" y="1076325"/>
                </a:cubicBezTo>
                <a:lnTo>
                  <a:pt x="76204" y="1076325"/>
                </a:lnTo>
                <a:cubicBezTo>
                  <a:pt x="34118" y="1076325"/>
                  <a:pt x="0" y="1042207"/>
                  <a:pt x="0" y="1000121"/>
                </a:cubicBezTo>
                <a:lnTo>
                  <a:pt x="0" y="76204"/>
                </a:lnTo>
                <a:cubicBezTo>
                  <a:pt x="0" y="34146"/>
                  <a:pt x="34146" y="0"/>
                  <a:pt x="76204" y="0"/>
                </a:cubicBezTo>
                <a:close/>
              </a:path>
            </a:pathLst>
          </a:custGeom>
          <a:gradFill flip="none" rotWithShape="1">
            <a:gsLst>
              <a:gs pos="0">
                <a:srgbClr val="4A6C8C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12700">
            <a:solidFill>
              <a:srgbClr val="4A6C8C">
                <a:alpha val="40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50069" y="5200650"/>
            <a:ext cx="128588" cy="171450"/>
          </a:xfrm>
          <a:custGeom>
            <a:avLst/>
            <a:gdLst/>
            <a:ahLst/>
            <a:cxnLst/>
            <a:rect l="l" t="t" r="r" b="b"/>
            <a:pathLst>
              <a:path w="128588" h="171450">
                <a:moveTo>
                  <a:pt x="0" y="63155"/>
                </a:moveTo>
                <a:cubicBezTo>
                  <a:pt x="0" y="28262"/>
                  <a:pt x="28798" y="0"/>
                  <a:pt x="64294" y="0"/>
                </a:cubicBezTo>
                <a:cubicBezTo>
                  <a:pt x="99789" y="0"/>
                  <a:pt x="128588" y="28262"/>
                  <a:pt x="128588" y="63155"/>
                </a:cubicBezTo>
                <a:cubicBezTo>
                  <a:pt x="128588" y="103104"/>
                  <a:pt x="88337" y="150990"/>
                  <a:pt x="71527" y="169240"/>
                </a:cubicBezTo>
                <a:cubicBezTo>
                  <a:pt x="67575" y="173526"/>
                  <a:pt x="60979" y="173526"/>
                  <a:pt x="57027" y="169240"/>
                </a:cubicBezTo>
                <a:cubicBezTo>
                  <a:pt x="40217" y="150990"/>
                  <a:pt x="-33" y="103104"/>
                  <a:pt x="-33" y="63155"/>
                </a:cubicBezTo>
                <a:close/>
                <a:moveTo>
                  <a:pt x="64294" y="85725"/>
                </a:moveTo>
                <a:cubicBezTo>
                  <a:pt x="76122" y="85725"/>
                  <a:pt x="85725" y="76122"/>
                  <a:pt x="85725" y="64294"/>
                </a:cubicBezTo>
                <a:cubicBezTo>
                  <a:pt x="85725" y="52466"/>
                  <a:pt x="76122" y="42863"/>
                  <a:pt x="64294" y="42863"/>
                </a:cubicBezTo>
                <a:cubicBezTo>
                  <a:pt x="52466" y="42863"/>
                  <a:pt x="42863" y="52466"/>
                  <a:pt x="42863" y="64294"/>
                </a:cubicBezTo>
                <a:cubicBezTo>
                  <a:pt x="42863" y="76122"/>
                  <a:pt x="52466" y="85725"/>
                  <a:pt x="64294" y="85725"/>
                </a:cubicBezTo>
                <a:close/>
              </a:path>
            </a:pathLst>
          </a:custGeom>
          <a:solidFill>
            <a:srgbClr val="4A6C8C"/>
          </a:solidFill>
        </p:spPr>
      </p:sp>
      <p:sp>
        <p:nvSpPr>
          <p:cNvPr id="48" name="Text 46"/>
          <p:cNvSpPr/>
          <p:nvPr/>
        </p:nvSpPr>
        <p:spPr>
          <a:xfrm>
            <a:off x="795338" y="5153025"/>
            <a:ext cx="94297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0F0F0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长三角标杆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504825" y="5495925"/>
            <a:ext cx="35623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0F0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上海浦东数据中心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504825" y="5724525"/>
            <a:ext cx="35623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5MW光伏 + 0.5MWh储能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4233863" y="5033963"/>
            <a:ext cx="3724275" cy="1076325"/>
          </a:xfrm>
          <a:custGeom>
            <a:avLst/>
            <a:gdLst/>
            <a:ahLst/>
            <a:cxnLst/>
            <a:rect l="l" t="t" r="r" b="b"/>
            <a:pathLst>
              <a:path w="3724275" h="1076325">
                <a:moveTo>
                  <a:pt x="76204" y="0"/>
                </a:moveTo>
                <a:lnTo>
                  <a:pt x="3648071" y="0"/>
                </a:lnTo>
                <a:cubicBezTo>
                  <a:pt x="3690157" y="0"/>
                  <a:pt x="3724275" y="34118"/>
                  <a:pt x="3724275" y="76204"/>
                </a:cubicBezTo>
                <a:lnTo>
                  <a:pt x="3724275" y="1000121"/>
                </a:lnTo>
                <a:cubicBezTo>
                  <a:pt x="3724275" y="1042207"/>
                  <a:pt x="3690157" y="1076325"/>
                  <a:pt x="3648071" y="1076325"/>
                </a:cubicBezTo>
                <a:lnTo>
                  <a:pt x="76204" y="1076325"/>
                </a:lnTo>
                <a:cubicBezTo>
                  <a:pt x="34118" y="1076325"/>
                  <a:pt x="0" y="1042207"/>
                  <a:pt x="0" y="1000121"/>
                </a:cubicBezTo>
                <a:lnTo>
                  <a:pt x="0" y="76204"/>
                </a:lnTo>
                <a:cubicBezTo>
                  <a:pt x="0" y="34146"/>
                  <a:pt x="34146" y="0"/>
                  <a:pt x="76204" y="0"/>
                </a:cubicBezTo>
                <a:close/>
              </a:path>
            </a:pathLst>
          </a:custGeom>
          <a:gradFill flip="none" rotWithShape="1">
            <a:gsLst>
              <a:gs pos="0">
                <a:srgbClr val="D4A373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12700">
            <a:solidFill>
              <a:srgbClr val="D4A373">
                <a:alpha val="4000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4398169" y="5200650"/>
            <a:ext cx="128588" cy="171450"/>
          </a:xfrm>
          <a:custGeom>
            <a:avLst/>
            <a:gdLst/>
            <a:ahLst/>
            <a:cxnLst/>
            <a:rect l="l" t="t" r="r" b="b"/>
            <a:pathLst>
              <a:path w="128588" h="171450">
                <a:moveTo>
                  <a:pt x="0" y="63155"/>
                </a:moveTo>
                <a:cubicBezTo>
                  <a:pt x="0" y="28262"/>
                  <a:pt x="28798" y="0"/>
                  <a:pt x="64294" y="0"/>
                </a:cubicBezTo>
                <a:cubicBezTo>
                  <a:pt x="99789" y="0"/>
                  <a:pt x="128588" y="28262"/>
                  <a:pt x="128588" y="63155"/>
                </a:cubicBezTo>
                <a:cubicBezTo>
                  <a:pt x="128588" y="103104"/>
                  <a:pt x="88337" y="150990"/>
                  <a:pt x="71527" y="169240"/>
                </a:cubicBezTo>
                <a:cubicBezTo>
                  <a:pt x="67575" y="173526"/>
                  <a:pt x="60979" y="173526"/>
                  <a:pt x="57027" y="169240"/>
                </a:cubicBezTo>
                <a:cubicBezTo>
                  <a:pt x="40217" y="150990"/>
                  <a:pt x="-33" y="103104"/>
                  <a:pt x="-33" y="63155"/>
                </a:cubicBezTo>
                <a:close/>
                <a:moveTo>
                  <a:pt x="64294" y="85725"/>
                </a:moveTo>
                <a:cubicBezTo>
                  <a:pt x="76122" y="85725"/>
                  <a:pt x="85725" y="76122"/>
                  <a:pt x="85725" y="64294"/>
                </a:cubicBezTo>
                <a:cubicBezTo>
                  <a:pt x="85725" y="52466"/>
                  <a:pt x="76122" y="42863"/>
                  <a:pt x="64294" y="42863"/>
                </a:cubicBezTo>
                <a:cubicBezTo>
                  <a:pt x="52466" y="42863"/>
                  <a:pt x="42863" y="52466"/>
                  <a:pt x="42863" y="64294"/>
                </a:cubicBezTo>
                <a:cubicBezTo>
                  <a:pt x="42863" y="76122"/>
                  <a:pt x="52466" y="85725"/>
                  <a:pt x="64294" y="85725"/>
                </a:cubicBezTo>
                <a:close/>
              </a:path>
            </a:pathLst>
          </a:custGeom>
          <a:solidFill>
            <a:srgbClr val="D4A373"/>
          </a:solidFill>
        </p:spPr>
      </p:sp>
      <p:sp>
        <p:nvSpPr>
          <p:cNvPr id="53" name="Text 51"/>
          <p:cNvSpPr/>
          <p:nvPr/>
        </p:nvSpPr>
        <p:spPr>
          <a:xfrm>
            <a:off x="4643438" y="5153025"/>
            <a:ext cx="94297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0F0F0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珠三角标杆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4352925" y="5495925"/>
            <a:ext cx="35623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0F0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东莞松山湖电子厂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4352925" y="5724525"/>
            <a:ext cx="35623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5MW光伏 + 2MWh储能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8081962" y="5033963"/>
            <a:ext cx="3724275" cy="1076325"/>
          </a:xfrm>
          <a:custGeom>
            <a:avLst/>
            <a:gdLst/>
            <a:ahLst/>
            <a:cxnLst/>
            <a:rect l="l" t="t" r="r" b="b"/>
            <a:pathLst>
              <a:path w="3724275" h="1076325">
                <a:moveTo>
                  <a:pt x="76204" y="0"/>
                </a:moveTo>
                <a:lnTo>
                  <a:pt x="3648071" y="0"/>
                </a:lnTo>
                <a:cubicBezTo>
                  <a:pt x="3690157" y="0"/>
                  <a:pt x="3724275" y="34118"/>
                  <a:pt x="3724275" y="76204"/>
                </a:cubicBezTo>
                <a:lnTo>
                  <a:pt x="3724275" y="1000121"/>
                </a:lnTo>
                <a:cubicBezTo>
                  <a:pt x="3724275" y="1042207"/>
                  <a:pt x="3690157" y="1076325"/>
                  <a:pt x="3648071" y="1076325"/>
                </a:cubicBezTo>
                <a:lnTo>
                  <a:pt x="76204" y="1076325"/>
                </a:lnTo>
                <a:cubicBezTo>
                  <a:pt x="34118" y="1076325"/>
                  <a:pt x="0" y="1042207"/>
                  <a:pt x="0" y="1000121"/>
                </a:cubicBezTo>
                <a:lnTo>
                  <a:pt x="0" y="76204"/>
                </a:lnTo>
                <a:cubicBezTo>
                  <a:pt x="0" y="34146"/>
                  <a:pt x="34146" y="0"/>
                  <a:pt x="76204" y="0"/>
                </a:cubicBezTo>
                <a:close/>
              </a:path>
            </a:pathLst>
          </a:custGeom>
          <a:gradFill flip="none" rotWithShape="1">
            <a:gsLst>
              <a:gs pos="0">
                <a:srgbClr val="4A6C8C">
                  <a:alpha val="30000"/>
                </a:srgbClr>
              </a:gs>
              <a:gs pos="100000">
                <a:srgbClr val="D4A373">
                  <a:alpha val="30000"/>
                </a:srgbClr>
              </a:gs>
            </a:gsLst>
            <a:lin ang="0" scaled="1"/>
          </a:gradFill>
          <a:ln w="12700">
            <a:solidFill>
              <a:srgbClr val="D4A373">
                <a:alpha val="50196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8214122" y="5200650"/>
            <a:ext cx="192881" cy="171450"/>
          </a:xfrm>
          <a:custGeom>
            <a:avLst/>
            <a:gdLst/>
            <a:ahLst/>
            <a:cxnLst/>
            <a:rect l="l" t="t" r="r" b="b"/>
            <a:pathLst>
              <a:path w="192881" h="171450">
                <a:moveTo>
                  <a:pt x="171584" y="80367"/>
                </a:moveTo>
                <a:lnTo>
                  <a:pt x="112648" y="80367"/>
                </a:lnTo>
                <a:cubicBezTo>
                  <a:pt x="106721" y="80367"/>
                  <a:pt x="101932" y="75579"/>
                  <a:pt x="101932" y="69652"/>
                </a:cubicBezTo>
                <a:lnTo>
                  <a:pt x="101932" y="10716"/>
                </a:lnTo>
                <a:cubicBezTo>
                  <a:pt x="101932" y="4789"/>
                  <a:pt x="106754" y="-67"/>
                  <a:pt x="112615" y="703"/>
                </a:cubicBezTo>
                <a:cubicBezTo>
                  <a:pt x="148445" y="5458"/>
                  <a:pt x="176841" y="33855"/>
                  <a:pt x="181596" y="69685"/>
                </a:cubicBezTo>
                <a:cubicBezTo>
                  <a:pt x="182367" y="75545"/>
                  <a:pt x="177511" y="80367"/>
                  <a:pt x="171584" y="80367"/>
                </a:cubicBezTo>
                <a:close/>
                <a:moveTo>
                  <a:pt x="74541" y="12457"/>
                </a:moveTo>
                <a:cubicBezTo>
                  <a:pt x="80602" y="11184"/>
                  <a:pt x="85859" y="16140"/>
                  <a:pt x="85859" y="22335"/>
                </a:cubicBezTo>
                <a:lnTo>
                  <a:pt x="85859" y="88404"/>
                </a:lnTo>
                <a:cubicBezTo>
                  <a:pt x="85859" y="90279"/>
                  <a:pt x="86529" y="92087"/>
                  <a:pt x="87701" y="93527"/>
                </a:cubicBezTo>
                <a:lnTo>
                  <a:pt x="131936" y="146905"/>
                </a:lnTo>
                <a:cubicBezTo>
                  <a:pt x="135854" y="151626"/>
                  <a:pt x="135017" y="158759"/>
                  <a:pt x="129626" y="161672"/>
                </a:cubicBezTo>
                <a:cubicBezTo>
                  <a:pt x="118207" y="167900"/>
                  <a:pt x="105114" y="171450"/>
                  <a:pt x="91217" y="171450"/>
                </a:cubicBezTo>
                <a:cubicBezTo>
                  <a:pt x="46847" y="171450"/>
                  <a:pt x="10850" y="135452"/>
                  <a:pt x="10850" y="91083"/>
                </a:cubicBezTo>
                <a:cubicBezTo>
                  <a:pt x="10850" y="52406"/>
                  <a:pt x="38141" y="20125"/>
                  <a:pt x="74541" y="12457"/>
                </a:cubicBezTo>
                <a:close/>
                <a:moveTo>
                  <a:pt x="159998" y="96441"/>
                </a:moveTo>
                <a:lnTo>
                  <a:pt x="181429" y="96441"/>
                </a:lnTo>
                <a:cubicBezTo>
                  <a:pt x="187624" y="96441"/>
                  <a:pt x="192580" y="101698"/>
                  <a:pt x="191307" y="107759"/>
                </a:cubicBezTo>
                <a:cubicBezTo>
                  <a:pt x="187892" y="123966"/>
                  <a:pt x="179587" y="138366"/>
                  <a:pt x="168001" y="149349"/>
                </a:cubicBezTo>
                <a:cubicBezTo>
                  <a:pt x="163882" y="153267"/>
                  <a:pt x="157419" y="152430"/>
                  <a:pt x="153803" y="148043"/>
                </a:cubicBezTo>
                <a:lnTo>
                  <a:pt x="125540" y="113987"/>
                </a:lnTo>
                <a:cubicBezTo>
                  <a:pt x="119747" y="106989"/>
                  <a:pt x="124737" y="96441"/>
                  <a:pt x="133778" y="96441"/>
                </a:cubicBezTo>
                <a:lnTo>
                  <a:pt x="159964" y="96441"/>
                </a:lnTo>
                <a:close/>
              </a:path>
            </a:pathLst>
          </a:custGeom>
          <a:solidFill>
            <a:srgbClr val="D4A373"/>
          </a:solidFill>
        </p:spPr>
      </p:sp>
      <p:sp>
        <p:nvSpPr>
          <p:cNvPr id="58" name="Text 56"/>
          <p:cNvSpPr/>
          <p:nvPr/>
        </p:nvSpPr>
        <p:spPr>
          <a:xfrm>
            <a:off x="8491538" y="5153025"/>
            <a:ext cx="7715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0F0F0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策略总结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8201025" y="5495925"/>
            <a:ext cx="35623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4A6C8C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长三角：</a:t>
            </a:r>
            <a:r>
              <a:rPr lang="en-US" sz="1200" dirty="0">
                <a:solidFill>
                  <a:srgbClr val="F0F0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重资产深耕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8201025" y="5762625"/>
            <a:ext cx="35623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D4A373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珠三角：</a:t>
            </a:r>
            <a:r>
              <a:rPr lang="en-US" sz="1200" dirty="0">
                <a:solidFill>
                  <a:srgbClr val="F0F0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轻资产快周转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6677" y="403344"/>
            <a:ext cx="36668" cy="293341"/>
          </a:xfrm>
          <a:custGeom>
            <a:avLst/>
            <a:gdLst/>
            <a:ahLst/>
            <a:cxnLst/>
            <a:rect l="l" t="t" r="r" b="b"/>
            <a:pathLst>
              <a:path w="36668" h="293341">
                <a:moveTo>
                  <a:pt x="0" y="0"/>
                </a:moveTo>
                <a:lnTo>
                  <a:pt x="36668" y="0"/>
                </a:lnTo>
                <a:lnTo>
                  <a:pt x="36668" y="293341"/>
                </a:lnTo>
                <a:lnTo>
                  <a:pt x="0" y="293341"/>
                </a:lnTo>
                <a:lnTo>
                  <a:pt x="0" y="0"/>
                </a:lnTo>
                <a:close/>
              </a:path>
            </a:pathLst>
          </a:custGeom>
          <a:solidFill>
            <a:srgbClr val="D4A373"/>
          </a:solidFill>
        </p:spPr>
      </p:sp>
      <p:sp>
        <p:nvSpPr>
          <p:cNvPr id="3" name="Text 1"/>
          <p:cNvSpPr/>
          <p:nvPr/>
        </p:nvSpPr>
        <p:spPr>
          <a:xfrm>
            <a:off x="513347" y="366677"/>
            <a:ext cx="4775964" cy="36667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600" b="1" dirty="0">
                <a:solidFill>
                  <a:srgbClr val="F0F0F0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海外市场第二步：日本市场机会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50015" y="806689"/>
            <a:ext cx="11357811" cy="25667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00" dirty="0">
                <a:solidFill>
                  <a:srgbClr val="8D99AE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OVERSEAS EXPANSION STEP 2: JAPAN MARKET OPPORTUNITY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71260" y="1141281"/>
            <a:ext cx="7590208" cy="3455928"/>
          </a:xfrm>
          <a:custGeom>
            <a:avLst/>
            <a:gdLst/>
            <a:ahLst/>
            <a:cxnLst/>
            <a:rect l="l" t="t" r="r" b="b"/>
            <a:pathLst>
              <a:path w="7590208" h="3455928">
                <a:moveTo>
                  <a:pt x="73335" y="0"/>
                </a:moveTo>
                <a:lnTo>
                  <a:pt x="7516873" y="0"/>
                </a:lnTo>
                <a:cubicBezTo>
                  <a:pt x="7557374" y="0"/>
                  <a:pt x="7590208" y="32833"/>
                  <a:pt x="7590208" y="73335"/>
                </a:cubicBezTo>
                <a:lnTo>
                  <a:pt x="7590208" y="3382593"/>
                </a:lnTo>
                <a:cubicBezTo>
                  <a:pt x="7590208" y="3423095"/>
                  <a:pt x="7557374" y="3455928"/>
                  <a:pt x="7516873" y="3455928"/>
                </a:cubicBezTo>
                <a:lnTo>
                  <a:pt x="73335" y="3455928"/>
                </a:lnTo>
                <a:cubicBezTo>
                  <a:pt x="32833" y="3455928"/>
                  <a:pt x="0" y="3423095"/>
                  <a:pt x="0" y="3382593"/>
                </a:cubicBezTo>
                <a:lnTo>
                  <a:pt x="0" y="73335"/>
                </a:lnTo>
                <a:cubicBezTo>
                  <a:pt x="0" y="32860"/>
                  <a:pt x="32860" y="0"/>
                  <a:pt x="73335" y="0"/>
                </a:cubicBezTo>
                <a:close/>
              </a:path>
            </a:pathLst>
          </a:custGeom>
          <a:gradFill flip="none" rotWithShape="1">
            <a:gsLst>
              <a:gs pos="0">
                <a:srgbClr val="4A6C8C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12700">
            <a:solidFill>
              <a:srgbClr val="4A6C8C">
                <a:alpha val="4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22514" y="1292535"/>
            <a:ext cx="7379368" cy="33000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165" b="1" dirty="0">
                <a:solidFill>
                  <a:srgbClr val="F0F0F0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🇯🇵</a:t>
            </a:r>
            <a:r>
              <a:rPr lang="en-US" sz="1445" b="1" dirty="0">
                <a:solidFill>
                  <a:srgbClr val="F0F0F0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 日本光储市场核心数据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27098" y="1737131"/>
            <a:ext cx="3584265" cy="1292535"/>
          </a:xfrm>
          <a:custGeom>
            <a:avLst/>
            <a:gdLst/>
            <a:ahLst/>
            <a:cxnLst/>
            <a:rect l="l" t="t" r="r" b="b"/>
            <a:pathLst>
              <a:path w="3584265" h="1292535">
                <a:moveTo>
                  <a:pt x="73338" y="0"/>
                </a:moveTo>
                <a:lnTo>
                  <a:pt x="3510926" y="0"/>
                </a:lnTo>
                <a:cubicBezTo>
                  <a:pt x="3551430" y="0"/>
                  <a:pt x="3584265" y="32835"/>
                  <a:pt x="3584265" y="73338"/>
                </a:cubicBezTo>
                <a:lnTo>
                  <a:pt x="3584265" y="1219197"/>
                </a:lnTo>
                <a:cubicBezTo>
                  <a:pt x="3584265" y="1259701"/>
                  <a:pt x="3551430" y="1292535"/>
                  <a:pt x="3510926" y="1292535"/>
                </a:cubicBezTo>
                <a:lnTo>
                  <a:pt x="73338" y="1292535"/>
                </a:lnTo>
                <a:cubicBezTo>
                  <a:pt x="32835" y="1292535"/>
                  <a:pt x="0" y="1259701"/>
                  <a:pt x="0" y="1219197"/>
                </a:cubicBezTo>
                <a:lnTo>
                  <a:pt x="0" y="73338"/>
                </a:lnTo>
                <a:cubicBezTo>
                  <a:pt x="0" y="32862"/>
                  <a:pt x="32862" y="0"/>
                  <a:pt x="73338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 w="12700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05017" y="1851717"/>
            <a:ext cx="3428427" cy="22000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55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2025年BESS投资规模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72932" y="2108391"/>
            <a:ext cx="3492595" cy="33000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165" b="1" dirty="0">
                <a:solidFill>
                  <a:srgbClr val="D4A373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60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05017" y="2438400"/>
            <a:ext cx="3428427" cy="22000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55" dirty="0">
                <a:solidFill>
                  <a:srgbClr val="F0F0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亿美元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05017" y="2695074"/>
            <a:ext cx="3428427" cy="22000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55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对应4GW容量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226665" y="1737131"/>
            <a:ext cx="3584265" cy="1292535"/>
          </a:xfrm>
          <a:custGeom>
            <a:avLst/>
            <a:gdLst/>
            <a:ahLst/>
            <a:cxnLst/>
            <a:rect l="l" t="t" r="r" b="b"/>
            <a:pathLst>
              <a:path w="3584265" h="1292535">
                <a:moveTo>
                  <a:pt x="73338" y="0"/>
                </a:moveTo>
                <a:lnTo>
                  <a:pt x="3510926" y="0"/>
                </a:lnTo>
                <a:cubicBezTo>
                  <a:pt x="3551430" y="0"/>
                  <a:pt x="3584265" y="32835"/>
                  <a:pt x="3584265" y="73338"/>
                </a:cubicBezTo>
                <a:lnTo>
                  <a:pt x="3584265" y="1219197"/>
                </a:lnTo>
                <a:cubicBezTo>
                  <a:pt x="3584265" y="1259701"/>
                  <a:pt x="3551430" y="1292535"/>
                  <a:pt x="3510926" y="1292535"/>
                </a:cubicBezTo>
                <a:lnTo>
                  <a:pt x="73338" y="1292535"/>
                </a:lnTo>
                <a:cubicBezTo>
                  <a:pt x="32835" y="1292535"/>
                  <a:pt x="0" y="1259701"/>
                  <a:pt x="0" y="1219197"/>
                </a:cubicBezTo>
                <a:lnTo>
                  <a:pt x="0" y="73338"/>
                </a:lnTo>
                <a:cubicBezTo>
                  <a:pt x="0" y="32862"/>
                  <a:pt x="32862" y="0"/>
                  <a:pt x="73338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 w="12700">
            <a:solidFill>
              <a:srgbClr val="D4A373">
                <a:alpha val="30196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04584" y="1851717"/>
            <a:ext cx="3428427" cy="22000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55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2024财年电网连接申请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272500" y="2108391"/>
            <a:ext cx="3492595" cy="33000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165" b="1" dirty="0">
                <a:solidFill>
                  <a:srgbClr val="D4A373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113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304584" y="2438400"/>
            <a:ext cx="3428427" cy="22000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55" dirty="0">
                <a:solidFill>
                  <a:srgbClr val="F0F0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GW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304584" y="2695074"/>
            <a:ext cx="3428427" cy="22000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55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同比增长大幅飙升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27098" y="3148836"/>
            <a:ext cx="3584265" cy="1292535"/>
          </a:xfrm>
          <a:custGeom>
            <a:avLst/>
            <a:gdLst/>
            <a:ahLst/>
            <a:cxnLst/>
            <a:rect l="l" t="t" r="r" b="b"/>
            <a:pathLst>
              <a:path w="3584265" h="1292535">
                <a:moveTo>
                  <a:pt x="73338" y="0"/>
                </a:moveTo>
                <a:lnTo>
                  <a:pt x="3510926" y="0"/>
                </a:lnTo>
                <a:cubicBezTo>
                  <a:pt x="3551430" y="0"/>
                  <a:pt x="3584265" y="32835"/>
                  <a:pt x="3584265" y="73338"/>
                </a:cubicBezTo>
                <a:lnTo>
                  <a:pt x="3584265" y="1219197"/>
                </a:lnTo>
                <a:cubicBezTo>
                  <a:pt x="3584265" y="1259701"/>
                  <a:pt x="3551430" y="1292535"/>
                  <a:pt x="3510926" y="1292535"/>
                </a:cubicBezTo>
                <a:lnTo>
                  <a:pt x="73338" y="1292535"/>
                </a:lnTo>
                <a:cubicBezTo>
                  <a:pt x="32835" y="1292535"/>
                  <a:pt x="0" y="1259701"/>
                  <a:pt x="0" y="1219197"/>
                </a:cubicBezTo>
                <a:lnTo>
                  <a:pt x="0" y="73338"/>
                </a:lnTo>
                <a:cubicBezTo>
                  <a:pt x="0" y="32862"/>
                  <a:pt x="32862" y="0"/>
                  <a:pt x="73338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 w="12700">
            <a:solidFill>
              <a:srgbClr val="8D99AE">
                <a:alpha val="30196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5017" y="3263423"/>
            <a:ext cx="3428427" cy="22000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55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工商业电价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72932" y="3520096"/>
            <a:ext cx="3492595" cy="33000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165" b="1" dirty="0">
                <a:solidFill>
                  <a:srgbClr val="D4A373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30.18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05017" y="3850105"/>
            <a:ext cx="3428427" cy="22000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55" dirty="0">
                <a:solidFill>
                  <a:srgbClr val="F0F0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日元/kWh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05017" y="4106779"/>
            <a:ext cx="3428427" cy="22000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55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约0.19美元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226665" y="3148836"/>
            <a:ext cx="3584265" cy="1292535"/>
          </a:xfrm>
          <a:custGeom>
            <a:avLst/>
            <a:gdLst/>
            <a:ahLst/>
            <a:cxnLst/>
            <a:rect l="l" t="t" r="r" b="b"/>
            <a:pathLst>
              <a:path w="3584265" h="1292535">
                <a:moveTo>
                  <a:pt x="73338" y="0"/>
                </a:moveTo>
                <a:lnTo>
                  <a:pt x="3510926" y="0"/>
                </a:lnTo>
                <a:cubicBezTo>
                  <a:pt x="3551430" y="0"/>
                  <a:pt x="3584265" y="32835"/>
                  <a:pt x="3584265" y="73338"/>
                </a:cubicBezTo>
                <a:lnTo>
                  <a:pt x="3584265" y="1219197"/>
                </a:lnTo>
                <a:cubicBezTo>
                  <a:pt x="3584265" y="1259701"/>
                  <a:pt x="3551430" y="1292535"/>
                  <a:pt x="3510926" y="1292535"/>
                </a:cubicBezTo>
                <a:lnTo>
                  <a:pt x="73338" y="1292535"/>
                </a:lnTo>
                <a:cubicBezTo>
                  <a:pt x="32835" y="1292535"/>
                  <a:pt x="0" y="1259701"/>
                  <a:pt x="0" y="1219197"/>
                </a:cubicBezTo>
                <a:lnTo>
                  <a:pt x="0" y="73338"/>
                </a:lnTo>
                <a:cubicBezTo>
                  <a:pt x="0" y="32862"/>
                  <a:pt x="32862" y="0"/>
                  <a:pt x="73338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 w="12700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304584" y="3263423"/>
            <a:ext cx="3428427" cy="22000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55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储能市场规模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272500" y="3520096"/>
            <a:ext cx="3492595" cy="33000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165" b="1" dirty="0">
                <a:solidFill>
                  <a:srgbClr val="D4A373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29.4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4304584" y="3850105"/>
            <a:ext cx="3428427" cy="22000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55" dirty="0">
                <a:solidFill>
                  <a:srgbClr val="F0F0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GW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4304584" y="4106779"/>
            <a:ext cx="3428427" cy="22000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55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2025年预计突破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371260" y="4716379"/>
            <a:ext cx="3740102" cy="2135892"/>
          </a:xfrm>
          <a:custGeom>
            <a:avLst/>
            <a:gdLst/>
            <a:ahLst/>
            <a:cxnLst/>
            <a:rect l="l" t="t" r="r" b="b"/>
            <a:pathLst>
              <a:path w="3740102" h="2135892">
                <a:moveTo>
                  <a:pt x="73325" y="0"/>
                </a:moveTo>
                <a:lnTo>
                  <a:pt x="3666777" y="0"/>
                </a:lnTo>
                <a:cubicBezTo>
                  <a:pt x="3707273" y="0"/>
                  <a:pt x="3740102" y="32829"/>
                  <a:pt x="3740102" y="73325"/>
                </a:cubicBezTo>
                <a:lnTo>
                  <a:pt x="3740102" y="2062567"/>
                </a:lnTo>
                <a:cubicBezTo>
                  <a:pt x="3740102" y="2103063"/>
                  <a:pt x="3707273" y="2135892"/>
                  <a:pt x="3666777" y="2135892"/>
                </a:cubicBezTo>
                <a:lnTo>
                  <a:pt x="73325" y="2135892"/>
                </a:lnTo>
                <a:cubicBezTo>
                  <a:pt x="32829" y="2135892"/>
                  <a:pt x="0" y="2103063"/>
                  <a:pt x="0" y="2062567"/>
                </a:cubicBezTo>
                <a:lnTo>
                  <a:pt x="0" y="73325"/>
                </a:lnTo>
                <a:cubicBezTo>
                  <a:pt x="0" y="32856"/>
                  <a:pt x="32856" y="0"/>
                  <a:pt x="73325" y="0"/>
                </a:cubicBezTo>
                <a:close/>
              </a:path>
            </a:pathLst>
          </a:custGeom>
          <a:gradFill flip="none" rotWithShape="1">
            <a:gsLst>
              <a:gs pos="0">
                <a:srgbClr val="D4A373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12700">
            <a:solidFill>
              <a:srgbClr val="D4A373">
                <a:alpha val="4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35119" y="4913468"/>
            <a:ext cx="185630" cy="165005"/>
          </a:xfrm>
          <a:custGeom>
            <a:avLst/>
            <a:gdLst/>
            <a:ahLst/>
            <a:cxnLst/>
            <a:rect l="l" t="t" r="r" b="b"/>
            <a:pathLst>
              <a:path w="185630" h="165005">
                <a:moveTo>
                  <a:pt x="54658" y="49437"/>
                </a:moveTo>
                <a:lnTo>
                  <a:pt x="48631" y="43410"/>
                </a:lnTo>
                <a:cubicBezTo>
                  <a:pt x="44603" y="39382"/>
                  <a:pt x="44603" y="32840"/>
                  <a:pt x="48631" y="28811"/>
                </a:cubicBezTo>
                <a:lnTo>
                  <a:pt x="85596" y="-8186"/>
                </a:lnTo>
                <a:cubicBezTo>
                  <a:pt x="89625" y="-12214"/>
                  <a:pt x="96167" y="-12214"/>
                  <a:pt x="100195" y="-8186"/>
                </a:cubicBezTo>
                <a:lnTo>
                  <a:pt x="106222" y="-2127"/>
                </a:lnTo>
                <a:cubicBezTo>
                  <a:pt x="110250" y="1901"/>
                  <a:pt x="110250" y="8444"/>
                  <a:pt x="106222" y="12472"/>
                </a:cubicBezTo>
                <a:lnTo>
                  <a:pt x="69257" y="49437"/>
                </a:lnTo>
                <a:cubicBezTo>
                  <a:pt x="65228" y="53465"/>
                  <a:pt x="58686" y="53465"/>
                  <a:pt x="54658" y="49437"/>
                </a:cubicBezTo>
                <a:close/>
                <a:moveTo>
                  <a:pt x="88948" y="68225"/>
                </a:moveTo>
                <a:lnTo>
                  <a:pt x="78828" y="58106"/>
                </a:lnTo>
                <a:lnTo>
                  <a:pt x="114923" y="22011"/>
                </a:lnTo>
                <a:lnTo>
                  <a:pt x="153403" y="60491"/>
                </a:lnTo>
                <a:lnTo>
                  <a:pt x="117308" y="96586"/>
                </a:lnTo>
                <a:lnTo>
                  <a:pt x="107188" y="86466"/>
                </a:lnTo>
                <a:lnTo>
                  <a:pt x="32421" y="161234"/>
                </a:lnTo>
                <a:cubicBezTo>
                  <a:pt x="27393" y="166261"/>
                  <a:pt x="19240" y="166261"/>
                  <a:pt x="14180" y="161234"/>
                </a:cubicBezTo>
                <a:cubicBezTo>
                  <a:pt x="9120" y="156206"/>
                  <a:pt x="9153" y="148053"/>
                  <a:pt x="14180" y="142993"/>
                </a:cubicBezTo>
                <a:lnTo>
                  <a:pt x="88948" y="68225"/>
                </a:lnTo>
                <a:close/>
                <a:moveTo>
                  <a:pt x="125977" y="120724"/>
                </a:moveTo>
                <a:cubicBezTo>
                  <a:pt x="121949" y="116696"/>
                  <a:pt x="121949" y="110153"/>
                  <a:pt x="125977" y="106125"/>
                </a:cubicBezTo>
                <a:lnTo>
                  <a:pt x="162942" y="69160"/>
                </a:lnTo>
                <a:cubicBezTo>
                  <a:pt x="166970" y="65132"/>
                  <a:pt x="173513" y="65132"/>
                  <a:pt x="177541" y="69160"/>
                </a:cubicBezTo>
                <a:lnTo>
                  <a:pt x="183568" y="75187"/>
                </a:lnTo>
                <a:cubicBezTo>
                  <a:pt x="187596" y="79215"/>
                  <a:pt x="187596" y="85757"/>
                  <a:pt x="183568" y="89786"/>
                </a:cubicBezTo>
                <a:lnTo>
                  <a:pt x="146603" y="126783"/>
                </a:lnTo>
                <a:cubicBezTo>
                  <a:pt x="142574" y="130811"/>
                  <a:pt x="136032" y="130811"/>
                  <a:pt x="132004" y="126783"/>
                </a:cubicBezTo>
                <a:lnTo>
                  <a:pt x="125977" y="120756"/>
                </a:lnTo>
                <a:close/>
              </a:path>
            </a:pathLst>
          </a:custGeom>
          <a:solidFill>
            <a:srgbClr val="D4A373"/>
          </a:solidFill>
        </p:spPr>
      </p:sp>
      <p:sp>
        <p:nvSpPr>
          <p:cNvPr id="29" name="Text 27"/>
          <p:cNvSpPr/>
          <p:nvPr/>
        </p:nvSpPr>
        <p:spPr>
          <a:xfrm>
            <a:off x="733353" y="4867633"/>
            <a:ext cx="3309257" cy="25667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00" b="1" dirty="0">
                <a:solidFill>
                  <a:srgbClr val="F0F0F0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政策窗口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540848" y="5234310"/>
            <a:ext cx="3419260" cy="586683"/>
          </a:xfrm>
          <a:custGeom>
            <a:avLst/>
            <a:gdLst/>
            <a:ahLst/>
            <a:cxnLst/>
            <a:rect l="l" t="t" r="r" b="b"/>
            <a:pathLst>
              <a:path w="3419260" h="586683">
                <a:moveTo>
                  <a:pt x="36668" y="0"/>
                </a:moveTo>
                <a:lnTo>
                  <a:pt x="3382592" y="0"/>
                </a:lnTo>
                <a:cubicBezTo>
                  <a:pt x="3402843" y="0"/>
                  <a:pt x="3419260" y="16417"/>
                  <a:pt x="3419260" y="36668"/>
                </a:cubicBezTo>
                <a:lnTo>
                  <a:pt x="3419260" y="550015"/>
                </a:lnTo>
                <a:cubicBezTo>
                  <a:pt x="3419260" y="570266"/>
                  <a:pt x="3402843" y="586683"/>
                  <a:pt x="3382592" y="586683"/>
                </a:cubicBezTo>
                <a:lnTo>
                  <a:pt x="36668" y="586683"/>
                </a:lnTo>
                <a:cubicBezTo>
                  <a:pt x="16430" y="586683"/>
                  <a:pt x="0" y="570252"/>
                  <a:pt x="0" y="550015"/>
                </a:cubicBezTo>
                <a:lnTo>
                  <a:pt x="0" y="36668"/>
                </a:lnTo>
                <a:cubicBezTo>
                  <a:pt x="0" y="16430"/>
                  <a:pt x="16430" y="0"/>
                  <a:pt x="36668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</p:spPr>
      </p:sp>
      <p:sp>
        <p:nvSpPr>
          <p:cNvPr id="31" name="Shape 29"/>
          <p:cNvSpPr/>
          <p:nvPr/>
        </p:nvSpPr>
        <p:spPr>
          <a:xfrm>
            <a:off x="540848" y="5234310"/>
            <a:ext cx="36668" cy="586683"/>
          </a:xfrm>
          <a:custGeom>
            <a:avLst/>
            <a:gdLst/>
            <a:ahLst/>
            <a:cxnLst/>
            <a:rect l="l" t="t" r="r" b="b"/>
            <a:pathLst>
              <a:path w="36668" h="586683">
                <a:moveTo>
                  <a:pt x="36668" y="0"/>
                </a:moveTo>
                <a:lnTo>
                  <a:pt x="36668" y="0"/>
                </a:lnTo>
                <a:lnTo>
                  <a:pt x="36668" y="586683"/>
                </a:lnTo>
                <a:lnTo>
                  <a:pt x="36668" y="586683"/>
                </a:lnTo>
                <a:cubicBezTo>
                  <a:pt x="16430" y="586683"/>
                  <a:pt x="0" y="570252"/>
                  <a:pt x="0" y="550015"/>
                </a:cubicBezTo>
                <a:lnTo>
                  <a:pt x="0" y="36668"/>
                </a:lnTo>
                <a:cubicBezTo>
                  <a:pt x="0" y="16430"/>
                  <a:pt x="16430" y="0"/>
                  <a:pt x="36668" y="0"/>
                </a:cubicBezTo>
                <a:close/>
              </a:path>
            </a:pathLst>
          </a:custGeom>
          <a:solidFill>
            <a:srgbClr val="D4A373"/>
          </a:solidFill>
        </p:spPr>
      </p:sp>
      <p:sp>
        <p:nvSpPr>
          <p:cNvPr id="32" name="Text 30"/>
          <p:cNvSpPr/>
          <p:nvPr/>
        </p:nvSpPr>
        <p:spPr>
          <a:xfrm>
            <a:off x="632517" y="5307645"/>
            <a:ext cx="3327591" cy="22000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5" b="1" dirty="0">
                <a:solidFill>
                  <a:srgbClr val="F0F0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FIT/FIP终止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32517" y="5527651"/>
            <a:ext cx="3327591" cy="22000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5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2027财年终止补贴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40848" y="5894328"/>
            <a:ext cx="3419260" cy="806689"/>
          </a:xfrm>
          <a:custGeom>
            <a:avLst/>
            <a:gdLst/>
            <a:ahLst/>
            <a:cxnLst/>
            <a:rect l="l" t="t" r="r" b="b"/>
            <a:pathLst>
              <a:path w="3419260" h="806689">
                <a:moveTo>
                  <a:pt x="36664" y="0"/>
                </a:moveTo>
                <a:lnTo>
                  <a:pt x="3382596" y="0"/>
                </a:lnTo>
                <a:cubicBezTo>
                  <a:pt x="3402845" y="0"/>
                  <a:pt x="3419260" y="16415"/>
                  <a:pt x="3419260" y="36664"/>
                </a:cubicBezTo>
                <a:lnTo>
                  <a:pt x="3419260" y="770025"/>
                </a:lnTo>
                <a:cubicBezTo>
                  <a:pt x="3419260" y="790274"/>
                  <a:pt x="3402845" y="806689"/>
                  <a:pt x="3382596" y="806689"/>
                </a:cubicBezTo>
                <a:lnTo>
                  <a:pt x="36664" y="806689"/>
                </a:lnTo>
                <a:cubicBezTo>
                  <a:pt x="16415" y="806689"/>
                  <a:pt x="0" y="790274"/>
                  <a:pt x="0" y="770025"/>
                </a:cubicBezTo>
                <a:lnTo>
                  <a:pt x="0" y="36664"/>
                </a:lnTo>
                <a:cubicBezTo>
                  <a:pt x="0" y="16415"/>
                  <a:pt x="16415" y="0"/>
                  <a:pt x="36664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</p:spPr>
      </p:sp>
      <p:sp>
        <p:nvSpPr>
          <p:cNvPr id="35" name="Shape 33"/>
          <p:cNvSpPr/>
          <p:nvPr/>
        </p:nvSpPr>
        <p:spPr>
          <a:xfrm>
            <a:off x="540848" y="5894328"/>
            <a:ext cx="36668" cy="806689"/>
          </a:xfrm>
          <a:custGeom>
            <a:avLst/>
            <a:gdLst/>
            <a:ahLst/>
            <a:cxnLst/>
            <a:rect l="l" t="t" r="r" b="b"/>
            <a:pathLst>
              <a:path w="36668" h="806689">
                <a:moveTo>
                  <a:pt x="36668" y="0"/>
                </a:moveTo>
                <a:lnTo>
                  <a:pt x="36668" y="0"/>
                </a:lnTo>
                <a:lnTo>
                  <a:pt x="36668" y="806689"/>
                </a:lnTo>
                <a:lnTo>
                  <a:pt x="36668" y="806689"/>
                </a:lnTo>
                <a:cubicBezTo>
                  <a:pt x="16430" y="806689"/>
                  <a:pt x="0" y="790258"/>
                  <a:pt x="0" y="770021"/>
                </a:cubicBezTo>
                <a:lnTo>
                  <a:pt x="0" y="36668"/>
                </a:lnTo>
                <a:cubicBezTo>
                  <a:pt x="0" y="16430"/>
                  <a:pt x="16430" y="0"/>
                  <a:pt x="36668" y="0"/>
                </a:cubicBezTo>
                <a:close/>
              </a:path>
            </a:pathLst>
          </a:custGeom>
          <a:solidFill>
            <a:srgbClr val="4A6C8C"/>
          </a:solidFill>
        </p:spPr>
      </p:sp>
      <p:sp>
        <p:nvSpPr>
          <p:cNvPr id="36" name="Text 34"/>
          <p:cNvSpPr/>
          <p:nvPr/>
        </p:nvSpPr>
        <p:spPr>
          <a:xfrm>
            <a:off x="632517" y="5967663"/>
            <a:ext cx="3327591" cy="22000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5" b="1" dirty="0">
                <a:solidFill>
                  <a:srgbClr val="F0F0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LTDA拍卖调整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32517" y="6187669"/>
            <a:ext cx="3327591" cy="22000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5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容量1.7GW→800MW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32517" y="6407675"/>
            <a:ext cx="3327591" cy="22000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5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时长3h→6h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4226665" y="4716379"/>
            <a:ext cx="3740102" cy="2135892"/>
          </a:xfrm>
          <a:custGeom>
            <a:avLst/>
            <a:gdLst/>
            <a:ahLst/>
            <a:cxnLst/>
            <a:rect l="l" t="t" r="r" b="b"/>
            <a:pathLst>
              <a:path w="3740102" h="2135892">
                <a:moveTo>
                  <a:pt x="73325" y="0"/>
                </a:moveTo>
                <a:lnTo>
                  <a:pt x="3666777" y="0"/>
                </a:lnTo>
                <a:cubicBezTo>
                  <a:pt x="3707273" y="0"/>
                  <a:pt x="3740102" y="32829"/>
                  <a:pt x="3740102" y="73325"/>
                </a:cubicBezTo>
                <a:lnTo>
                  <a:pt x="3740102" y="2062567"/>
                </a:lnTo>
                <a:cubicBezTo>
                  <a:pt x="3740102" y="2103063"/>
                  <a:pt x="3707273" y="2135892"/>
                  <a:pt x="3666777" y="2135892"/>
                </a:cubicBezTo>
                <a:lnTo>
                  <a:pt x="73325" y="2135892"/>
                </a:lnTo>
                <a:cubicBezTo>
                  <a:pt x="32829" y="2135892"/>
                  <a:pt x="0" y="2103063"/>
                  <a:pt x="0" y="2062567"/>
                </a:cubicBezTo>
                <a:lnTo>
                  <a:pt x="0" y="73325"/>
                </a:lnTo>
                <a:cubicBezTo>
                  <a:pt x="0" y="32856"/>
                  <a:pt x="32856" y="0"/>
                  <a:pt x="73325" y="0"/>
                </a:cubicBezTo>
                <a:close/>
              </a:path>
            </a:pathLst>
          </a:custGeom>
          <a:gradFill flip="none" rotWithShape="1">
            <a:gsLst>
              <a:gs pos="0">
                <a:srgbClr val="8D99AE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12700">
            <a:solidFill>
              <a:srgbClr val="8D99AE">
                <a:alpha val="40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400836" y="4913468"/>
            <a:ext cx="165005" cy="165005"/>
          </a:xfrm>
          <a:custGeom>
            <a:avLst/>
            <a:gdLst/>
            <a:ahLst/>
            <a:cxnLst/>
            <a:rect l="l" t="t" r="r" b="b"/>
            <a:pathLst>
              <a:path w="165005" h="165005">
                <a:moveTo>
                  <a:pt x="165005" y="15469"/>
                </a:moveTo>
                <a:cubicBezTo>
                  <a:pt x="165005" y="11892"/>
                  <a:pt x="163168" y="8573"/>
                  <a:pt x="160106" y="6703"/>
                </a:cubicBezTo>
                <a:cubicBezTo>
                  <a:pt x="157044" y="4834"/>
                  <a:pt x="153274" y="4641"/>
                  <a:pt x="150083" y="6252"/>
                </a:cubicBezTo>
                <a:lnTo>
                  <a:pt x="112635" y="24976"/>
                </a:lnTo>
                <a:lnTo>
                  <a:pt x="54819" y="5672"/>
                </a:lnTo>
                <a:cubicBezTo>
                  <a:pt x="52208" y="4802"/>
                  <a:pt x="49405" y="4995"/>
                  <a:pt x="46955" y="6220"/>
                </a:cubicBezTo>
                <a:lnTo>
                  <a:pt x="5704" y="26845"/>
                </a:lnTo>
                <a:cubicBezTo>
                  <a:pt x="2191" y="28618"/>
                  <a:pt x="0" y="32195"/>
                  <a:pt x="0" y="36095"/>
                </a:cubicBezTo>
                <a:lnTo>
                  <a:pt x="0" y="149535"/>
                </a:lnTo>
                <a:cubicBezTo>
                  <a:pt x="0" y="153113"/>
                  <a:pt x="1837" y="156432"/>
                  <a:pt x="4899" y="158301"/>
                </a:cubicBezTo>
                <a:cubicBezTo>
                  <a:pt x="7960" y="160170"/>
                  <a:pt x="11731" y="160364"/>
                  <a:pt x="14921" y="158752"/>
                </a:cubicBezTo>
                <a:lnTo>
                  <a:pt x="52337" y="140028"/>
                </a:lnTo>
                <a:lnTo>
                  <a:pt x="110153" y="159300"/>
                </a:lnTo>
                <a:cubicBezTo>
                  <a:pt x="112764" y="160170"/>
                  <a:pt x="115568" y="159977"/>
                  <a:pt x="118017" y="158752"/>
                </a:cubicBezTo>
                <a:lnTo>
                  <a:pt x="159268" y="138127"/>
                </a:lnTo>
                <a:cubicBezTo>
                  <a:pt x="162749" y="136387"/>
                  <a:pt x="164972" y="132809"/>
                  <a:pt x="164972" y="128910"/>
                </a:cubicBezTo>
                <a:lnTo>
                  <a:pt x="164972" y="15469"/>
                </a:lnTo>
                <a:close/>
                <a:moveTo>
                  <a:pt x="61877" y="121465"/>
                </a:moveTo>
                <a:lnTo>
                  <a:pt x="61877" y="29778"/>
                </a:lnTo>
                <a:lnTo>
                  <a:pt x="103128" y="43539"/>
                </a:lnTo>
                <a:lnTo>
                  <a:pt x="103128" y="135226"/>
                </a:lnTo>
                <a:lnTo>
                  <a:pt x="61877" y="121465"/>
                </a:lnTo>
                <a:close/>
              </a:path>
            </a:pathLst>
          </a:custGeom>
          <a:solidFill>
            <a:srgbClr val="8D99AE"/>
          </a:solidFill>
        </p:spPr>
      </p:sp>
      <p:sp>
        <p:nvSpPr>
          <p:cNvPr id="41" name="Text 39"/>
          <p:cNvSpPr/>
          <p:nvPr/>
        </p:nvSpPr>
        <p:spPr>
          <a:xfrm>
            <a:off x="4588758" y="4867633"/>
            <a:ext cx="3309257" cy="25667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00" b="1" dirty="0">
                <a:solidFill>
                  <a:srgbClr val="F0F0F0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市场特点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4377919" y="5234310"/>
            <a:ext cx="3437594" cy="806689"/>
          </a:xfrm>
          <a:custGeom>
            <a:avLst/>
            <a:gdLst/>
            <a:ahLst/>
            <a:cxnLst/>
            <a:rect l="l" t="t" r="r" b="b"/>
            <a:pathLst>
              <a:path w="3437594" h="806689">
                <a:moveTo>
                  <a:pt x="36664" y="0"/>
                </a:moveTo>
                <a:lnTo>
                  <a:pt x="3400930" y="0"/>
                </a:lnTo>
                <a:cubicBezTo>
                  <a:pt x="3421179" y="0"/>
                  <a:pt x="3437594" y="16415"/>
                  <a:pt x="3437594" y="36664"/>
                </a:cubicBezTo>
                <a:lnTo>
                  <a:pt x="3437594" y="770025"/>
                </a:lnTo>
                <a:cubicBezTo>
                  <a:pt x="3437594" y="790274"/>
                  <a:pt x="3421179" y="806689"/>
                  <a:pt x="3400930" y="806689"/>
                </a:cubicBezTo>
                <a:lnTo>
                  <a:pt x="36664" y="806689"/>
                </a:lnTo>
                <a:cubicBezTo>
                  <a:pt x="16415" y="806689"/>
                  <a:pt x="0" y="790274"/>
                  <a:pt x="0" y="770025"/>
                </a:cubicBezTo>
                <a:lnTo>
                  <a:pt x="0" y="36664"/>
                </a:lnTo>
                <a:cubicBezTo>
                  <a:pt x="0" y="16415"/>
                  <a:pt x="16415" y="0"/>
                  <a:pt x="36664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</p:spPr>
      </p:sp>
      <p:sp>
        <p:nvSpPr>
          <p:cNvPr id="43" name="Text 41"/>
          <p:cNvSpPr/>
          <p:nvPr/>
        </p:nvSpPr>
        <p:spPr>
          <a:xfrm>
            <a:off x="4451255" y="5316812"/>
            <a:ext cx="806689" cy="2016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5" b="1" dirty="0">
                <a:solidFill>
                  <a:srgbClr val="D4A373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九州地区：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4451255" y="5527651"/>
            <a:ext cx="3364259" cy="22000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5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光伏渗透率全国2倍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4451255" y="5747657"/>
            <a:ext cx="3364259" cy="22000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5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弃光率6.1%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4377919" y="6114334"/>
            <a:ext cx="3437594" cy="586683"/>
          </a:xfrm>
          <a:custGeom>
            <a:avLst/>
            <a:gdLst/>
            <a:ahLst/>
            <a:cxnLst/>
            <a:rect l="l" t="t" r="r" b="b"/>
            <a:pathLst>
              <a:path w="3437594" h="586683">
                <a:moveTo>
                  <a:pt x="36668" y="0"/>
                </a:moveTo>
                <a:lnTo>
                  <a:pt x="3400926" y="0"/>
                </a:lnTo>
                <a:cubicBezTo>
                  <a:pt x="3421177" y="0"/>
                  <a:pt x="3437594" y="16417"/>
                  <a:pt x="3437594" y="36668"/>
                </a:cubicBezTo>
                <a:lnTo>
                  <a:pt x="3437594" y="550015"/>
                </a:lnTo>
                <a:cubicBezTo>
                  <a:pt x="3437594" y="570266"/>
                  <a:pt x="3421177" y="586683"/>
                  <a:pt x="3400926" y="586683"/>
                </a:cubicBezTo>
                <a:lnTo>
                  <a:pt x="36668" y="586683"/>
                </a:lnTo>
                <a:cubicBezTo>
                  <a:pt x="16430" y="586683"/>
                  <a:pt x="0" y="570252"/>
                  <a:pt x="0" y="550015"/>
                </a:cubicBezTo>
                <a:lnTo>
                  <a:pt x="0" y="36668"/>
                </a:lnTo>
                <a:cubicBezTo>
                  <a:pt x="0" y="16430"/>
                  <a:pt x="16430" y="0"/>
                  <a:pt x="36668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</p:spPr>
      </p:sp>
      <p:sp>
        <p:nvSpPr>
          <p:cNvPr id="47" name="Text 45"/>
          <p:cNvSpPr/>
          <p:nvPr/>
        </p:nvSpPr>
        <p:spPr>
          <a:xfrm>
            <a:off x="4451255" y="6196836"/>
            <a:ext cx="806689" cy="2016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5" b="1" dirty="0">
                <a:solidFill>
                  <a:srgbClr val="D4A373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套利空间：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4451255" y="6407675"/>
            <a:ext cx="3364259" cy="22000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5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午间电价低至0.01日元/kWh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8082213" y="1141281"/>
            <a:ext cx="3740102" cy="4225949"/>
          </a:xfrm>
          <a:custGeom>
            <a:avLst/>
            <a:gdLst/>
            <a:ahLst/>
            <a:cxnLst/>
            <a:rect l="l" t="t" r="r" b="b"/>
            <a:pathLst>
              <a:path w="3740102" h="4225949">
                <a:moveTo>
                  <a:pt x="73343" y="0"/>
                </a:moveTo>
                <a:lnTo>
                  <a:pt x="3666759" y="0"/>
                </a:lnTo>
                <a:cubicBezTo>
                  <a:pt x="3707265" y="0"/>
                  <a:pt x="3740102" y="32837"/>
                  <a:pt x="3740102" y="73343"/>
                </a:cubicBezTo>
                <a:lnTo>
                  <a:pt x="3740102" y="4152605"/>
                </a:lnTo>
                <a:cubicBezTo>
                  <a:pt x="3740102" y="4193112"/>
                  <a:pt x="3707265" y="4225949"/>
                  <a:pt x="3666759" y="4225949"/>
                </a:cubicBezTo>
                <a:lnTo>
                  <a:pt x="73343" y="4225949"/>
                </a:lnTo>
                <a:cubicBezTo>
                  <a:pt x="32837" y="4225949"/>
                  <a:pt x="0" y="4193112"/>
                  <a:pt x="0" y="4152605"/>
                </a:cubicBezTo>
                <a:lnTo>
                  <a:pt x="0" y="73343"/>
                </a:lnTo>
                <a:cubicBezTo>
                  <a:pt x="0" y="32864"/>
                  <a:pt x="32864" y="0"/>
                  <a:pt x="73343" y="0"/>
                </a:cubicBezTo>
                <a:close/>
              </a:path>
            </a:pathLst>
          </a:custGeom>
          <a:gradFill flip="none" rotWithShape="1">
            <a:gsLst>
              <a:gs pos="0">
                <a:srgbClr val="4A6C8C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12700">
            <a:solidFill>
              <a:srgbClr val="4A6C8C">
                <a:alpha val="4000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8244926" y="1329203"/>
            <a:ext cx="206256" cy="183338"/>
          </a:xfrm>
          <a:custGeom>
            <a:avLst/>
            <a:gdLst/>
            <a:ahLst/>
            <a:cxnLst/>
            <a:rect l="l" t="t" r="r" b="b"/>
            <a:pathLst>
              <a:path w="206256" h="183338">
                <a:moveTo>
                  <a:pt x="96288" y="30509"/>
                </a:moveTo>
                <a:lnTo>
                  <a:pt x="54536" y="76916"/>
                </a:lnTo>
                <a:cubicBezTo>
                  <a:pt x="52889" y="78742"/>
                  <a:pt x="52960" y="81571"/>
                  <a:pt x="54715" y="83326"/>
                </a:cubicBezTo>
                <a:cubicBezTo>
                  <a:pt x="65637" y="94247"/>
                  <a:pt x="83362" y="94247"/>
                  <a:pt x="94283" y="83326"/>
                </a:cubicBezTo>
                <a:lnTo>
                  <a:pt x="105670" y="71939"/>
                </a:lnTo>
                <a:cubicBezTo>
                  <a:pt x="107174" y="70435"/>
                  <a:pt x="109072" y="69611"/>
                  <a:pt x="111006" y="69468"/>
                </a:cubicBezTo>
                <a:cubicBezTo>
                  <a:pt x="113441" y="69253"/>
                  <a:pt x="115947" y="70077"/>
                  <a:pt x="117809" y="71939"/>
                </a:cubicBezTo>
                <a:lnTo>
                  <a:pt x="181047" y="134639"/>
                </a:lnTo>
                <a:lnTo>
                  <a:pt x="206256" y="114586"/>
                </a:lnTo>
                <a:lnTo>
                  <a:pt x="206256" y="11459"/>
                </a:lnTo>
                <a:lnTo>
                  <a:pt x="166150" y="34376"/>
                </a:lnTo>
                <a:lnTo>
                  <a:pt x="157628" y="28682"/>
                </a:lnTo>
                <a:cubicBezTo>
                  <a:pt x="151970" y="24923"/>
                  <a:pt x="145346" y="22917"/>
                  <a:pt x="138542" y="22917"/>
                </a:cubicBezTo>
                <a:lnTo>
                  <a:pt x="113333" y="22917"/>
                </a:lnTo>
                <a:cubicBezTo>
                  <a:pt x="112939" y="22917"/>
                  <a:pt x="112510" y="22917"/>
                  <a:pt x="112116" y="22953"/>
                </a:cubicBezTo>
                <a:cubicBezTo>
                  <a:pt x="106064" y="23275"/>
                  <a:pt x="100371" y="25997"/>
                  <a:pt x="96288" y="30509"/>
                </a:cubicBezTo>
                <a:close/>
                <a:moveTo>
                  <a:pt x="41752" y="65422"/>
                </a:moveTo>
                <a:lnTo>
                  <a:pt x="79996" y="22917"/>
                </a:lnTo>
                <a:lnTo>
                  <a:pt x="65816" y="22917"/>
                </a:lnTo>
                <a:cubicBezTo>
                  <a:pt x="56684" y="22917"/>
                  <a:pt x="47947" y="26534"/>
                  <a:pt x="41502" y="32979"/>
                </a:cubicBezTo>
                <a:lnTo>
                  <a:pt x="40105" y="34376"/>
                </a:lnTo>
                <a:lnTo>
                  <a:pt x="0" y="11459"/>
                </a:lnTo>
                <a:lnTo>
                  <a:pt x="0" y="114586"/>
                </a:lnTo>
                <a:lnTo>
                  <a:pt x="56004" y="161245"/>
                </a:lnTo>
                <a:cubicBezTo>
                  <a:pt x="64240" y="168120"/>
                  <a:pt x="74624" y="171880"/>
                  <a:pt x="85331" y="171880"/>
                </a:cubicBezTo>
                <a:lnTo>
                  <a:pt x="90953" y="171880"/>
                </a:lnTo>
                <a:lnTo>
                  <a:pt x="88446" y="169373"/>
                </a:lnTo>
                <a:cubicBezTo>
                  <a:pt x="85080" y="166007"/>
                  <a:pt x="85080" y="160564"/>
                  <a:pt x="88446" y="157234"/>
                </a:cubicBezTo>
                <a:cubicBezTo>
                  <a:pt x="91812" y="153904"/>
                  <a:pt x="97255" y="153868"/>
                  <a:pt x="100585" y="157234"/>
                </a:cubicBezTo>
                <a:lnTo>
                  <a:pt x="115267" y="171916"/>
                </a:lnTo>
                <a:lnTo>
                  <a:pt x="118490" y="171916"/>
                </a:lnTo>
                <a:cubicBezTo>
                  <a:pt x="125329" y="171916"/>
                  <a:pt x="132025" y="170376"/>
                  <a:pt x="138113" y="167511"/>
                </a:cubicBezTo>
                <a:lnTo>
                  <a:pt x="128552" y="157914"/>
                </a:lnTo>
                <a:cubicBezTo>
                  <a:pt x="125186" y="154548"/>
                  <a:pt x="125186" y="149106"/>
                  <a:pt x="128552" y="145775"/>
                </a:cubicBezTo>
                <a:cubicBezTo>
                  <a:pt x="131918" y="142445"/>
                  <a:pt x="137361" y="142409"/>
                  <a:pt x="140691" y="145775"/>
                </a:cubicBezTo>
                <a:lnTo>
                  <a:pt x="152149" y="157234"/>
                </a:lnTo>
                <a:lnTo>
                  <a:pt x="158416" y="150968"/>
                </a:lnTo>
                <a:cubicBezTo>
                  <a:pt x="161603" y="147781"/>
                  <a:pt x="162534" y="143161"/>
                  <a:pt x="161137" y="139115"/>
                </a:cubicBezTo>
                <a:lnTo>
                  <a:pt x="111758" y="90129"/>
                </a:lnTo>
                <a:lnTo>
                  <a:pt x="106422" y="95465"/>
                </a:lnTo>
                <a:cubicBezTo>
                  <a:pt x="88769" y="113118"/>
                  <a:pt x="60194" y="113118"/>
                  <a:pt x="42540" y="95465"/>
                </a:cubicBezTo>
                <a:cubicBezTo>
                  <a:pt x="34304" y="87229"/>
                  <a:pt x="33982" y="74016"/>
                  <a:pt x="41752" y="65386"/>
                </a:cubicBezTo>
                <a:close/>
              </a:path>
            </a:pathLst>
          </a:custGeom>
          <a:solidFill>
            <a:srgbClr val="D4A373"/>
          </a:solidFill>
        </p:spPr>
      </p:sp>
      <p:sp>
        <p:nvSpPr>
          <p:cNvPr id="51" name="Text 49"/>
          <p:cNvSpPr/>
          <p:nvPr/>
        </p:nvSpPr>
        <p:spPr>
          <a:xfrm>
            <a:off x="8462640" y="1292535"/>
            <a:ext cx="3300090" cy="25667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45" b="1" dirty="0">
                <a:solidFill>
                  <a:srgbClr val="F0F0F0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投资机会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8251801" y="1659212"/>
            <a:ext cx="3419260" cy="678352"/>
          </a:xfrm>
          <a:custGeom>
            <a:avLst/>
            <a:gdLst/>
            <a:ahLst/>
            <a:cxnLst/>
            <a:rect l="l" t="t" r="r" b="b"/>
            <a:pathLst>
              <a:path w="3419260" h="678352">
                <a:moveTo>
                  <a:pt x="36668" y="0"/>
                </a:moveTo>
                <a:lnTo>
                  <a:pt x="3345924" y="0"/>
                </a:lnTo>
                <a:cubicBezTo>
                  <a:pt x="3386426" y="0"/>
                  <a:pt x="3419260" y="32834"/>
                  <a:pt x="3419260" y="73337"/>
                </a:cubicBezTo>
                <a:lnTo>
                  <a:pt x="3419260" y="605015"/>
                </a:lnTo>
                <a:cubicBezTo>
                  <a:pt x="3419260" y="645518"/>
                  <a:pt x="3386426" y="678352"/>
                  <a:pt x="3345924" y="678352"/>
                </a:cubicBezTo>
                <a:lnTo>
                  <a:pt x="36668" y="678352"/>
                </a:lnTo>
                <a:cubicBezTo>
                  <a:pt x="16430" y="678352"/>
                  <a:pt x="0" y="661922"/>
                  <a:pt x="0" y="641684"/>
                </a:cubicBezTo>
                <a:lnTo>
                  <a:pt x="0" y="36668"/>
                </a:lnTo>
                <a:cubicBezTo>
                  <a:pt x="0" y="16430"/>
                  <a:pt x="16430" y="0"/>
                  <a:pt x="36668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</p:spPr>
      </p:sp>
      <p:sp>
        <p:nvSpPr>
          <p:cNvPr id="53" name="Shape 51"/>
          <p:cNvSpPr/>
          <p:nvPr/>
        </p:nvSpPr>
        <p:spPr>
          <a:xfrm>
            <a:off x="8251801" y="1659212"/>
            <a:ext cx="36668" cy="678352"/>
          </a:xfrm>
          <a:custGeom>
            <a:avLst/>
            <a:gdLst/>
            <a:ahLst/>
            <a:cxnLst/>
            <a:rect l="l" t="t" r="r" b="b"/>
            <a:pathLst>
              <a:path w="36668" h="678352">
                <a:moveTo>
                  <a:pt x="36668" y="0"/>
                </a:moveTo>
                <a:lnTo>
                  <a:pt x="36668" y="0"/>
                </a:lnTo>
                <a:lnTo>
                  <a:pt x="36668" y="678352"/>
                </a:lnTo>
                <a:lnTo>
                  <a:pt x="36668" y="678352"/>
                </a:lnTo>
                <a:cubicBezTo>
                  <a:pt x="16430" y="678352"/>
                  <a:pt x="0" y="661922"/>
                  <a:pt x="0" y="641684"/>
                </a:cubicBezTo>
                <a:lnTo>
                  <a:pt x="0" y="36668"/>
                </a:lnTo>
                <a:cubicBezTo>
                  <a:pt x="0" y="16430"/>
                  <a:pt x="16430" y="0"/>
                  <a:pt x="36668" y="0"/>
                </a:cubicBezTo>
                <a:close/>
              </a:path>
            </a:pathLst>
          </a:custGeom>
          <a:solidFill>
            <a:srgbClr val="D4A373"/>
          </a:solidFill>
        </p:spPr>
      </p:sp>
      <p:sp>
        <p:nvSpPr>
          <p:cNvPr id="54" name="Shape 52"/>
          <p:cNvSpPr/>
          <p:nvPr/>
        </p:nvSpPr>
        <p:spPr>
          <a:xfrm>
            <a:off x="8416806" y="1805883"/>
            <a:ext cx="110003" cy="146671"/>
          </a:xfrm>
          <a:custGeom>
            <a:avLst/>
            <a:gdLst/>
            <a:ahLst/>
            <a:cxnLst/>
            <a:rect l="l" t="t" r="r" b="b"/>
            <a:pathLst>
              <a:path w="110003" h="146671">
                <a:moveTo>
                  <a:pt x="18334" y="0"/>
                </a:moveTo>
                <a:cubicBezTo>
                  <a:pt x="8222" y="0"/>
                  <a:pt x="0" y="8222"/>
                  <a:pt x="0" y="18334"/>
                </a:cubicBezTo>
                <a:lnTo>
                  <a:pt x="0" y="128337"/>
                </a:lnTo>
                <a:cubicBezTo>
                  <a:pt x="0" y="138449"/>
                  <a:pt x="8222" y="146671"/>
                  <a:pt x="18334" y="146671"/>
                </a:cubicBezTo>
                <a:lnTo>
                  <a:pt x="91669" y="146671"/>
                </a:lnTo>
                <a:cubicBezTo>
                  <a:pt x="101781" y="146671"/>
                  <a:pt x="110003" y="138449"/>
                  <a:pt x="110003" y="128337"/>
                </a:cubicBezTo>
                <a:lnTo>
                  <a:pt x="110003" y="18334"/>
                </a:lnTo>
                <a:cubicBezTo>
                  <a:pt x="110003" y="8222"/>
                  <a:pt x="101781" y="0"/>
                  <a:pt x="91669" y="0"/>
                </a:cubicBezTo>
                <a:lnTo>
                  <a:pt x="18334" y="0"/>
                </a:lnTo>
                <a:close/>
                <a:moveTo>
                  <a:pt x="50418" y="100836"/>
                </a:moveTo>
                <a:lnTo>
                  <a:pt x="59585" y="100836"/>
                </a:lnTo>
                <a:cubicBezTo>
                  <a:pt x="64655" y="100836"/>
                  <a:pt x="68752" y="104933"/>
                  <a:pt x="68752" y="110003"/>
                </a:cubicBezTo>
                <a:lnTo>
                  <a:pt x="68752" y="132920"/>
                </a:lnTo>
                <a:lnTo>
                  <a:pt x="41251" y="132920"/>
                </a:lnTo>
                <a:lnTo>
                  <a:pt x="41251" y="110003"/>
                </a:lnTo>
                <a:cubicBezTo>
                  <a:pt x="41251" y="104933"/>
                  <a:pt x="45348" y="100836"/>
                  <a:pt x="50418" y="100836"/>
                </a:cubicBezTo>
                <a:close/>
                <a:moveTo>
                  <a:pt x="27501" y="32084"/>
                </a:moveTo>
                <a:cubicBezTo>
                  <a:pt x="27501" y="29563"/>
                  <a:pt x="29563" y="27501"/>
                  <a:pt x="32084" y="27501"/>
                </a:cubicBezTo>
                <a:lnTo>
                  <a:pt x="41251" y="27501"/>
                </a:lnTo>
                <a:cubicBezTo>
                  <a:pt x="43772" y="27501"/>
                  <a:pt x="45835" y="29563"/>
                  <a:pt x="45835" y="32084"/>
                </a:cubicBezTo>
                <a:lnTo>
                  <a:pt x="45835" y="41251"/>
                </a:lnTo>
                <a:cubicBezTo>
                  <a:pt x="45835" y="43772"/>
                  <a:pt x="43772" y="45835"/>
                  <a:pt x="41251" y="45835"/>
                </a:cubicBezTo>
                <a:lnTo>
                  <a:pt x="32084" y="45835"/>
                </a:lnTo>
                <a:cubicBezTo>
                  <a:pt x="29563" y="45835"/>
                  <a:pt x="27501" y="43772"/>
                  <a:pt x="27501" y="41251"/>
                </a:cubicBezTo>
                <a:lnTo>
                  <a:pt x="27501" y="32084"/>
                </a:lnTo>
                <a:close/>
                <a:moveTo>
                  <a:pt x="68752" y="27501"/>
                </a:moveTo>
                <a:lnTo>
                  <a:pt x="77919" y="27501"/>
                </a:lnTo>
                <a:cubicBezTo>
                  <a:pt x="80440" y="27501"/>
                  <a:pt x="82502" y="29563"/>
                  <a:pt x="82502" y="32084"/>
                </a:cubicBezTo>
                <a:lnTo>
                  <a:pt x="82502" y="41251"/>
                </a:lnTo>
                <a:cubicBezTo>
                  <a:pt x="82502" y="43772"/>
                  <a:pt x="80440" y="45835"/>
                  <a:pt x="77919" y="45835"/>
                </a:cubicBezTo>
                <a:lnTo>
                  <a:pt x="68752" y="45835"/>
                </a:lnTo>
                <a:cubicBezTo>
                  <a:pt x="66231" y="45835"/>
                  <a:pt x="64168" y="43772"/>
                  <a:pt x="64168" y="41251"/>
                </a:cubicBezTo>
                <a:lnTo>
                  <a:pt x="64168" y="32084"/>
                </a:lnTo>
                <a:cubicBezTo>
                  <a:pt x="64168" y="29563"/>
                  <a:pt x="66231" y="27501"/>
                  <a:pt x="68752" y="27501"/>
                </a:cubicBezTo>
                <a:close/>
                <a:moveTo>
                  <a:pt x="27501" y="68752"/>
                </a:moveTo>
                <a:cubicBezTo>
                  <a:pt x="27501" y="66231"/>
                  <a:pt x="29563" y="64168"/>
                  <a:pt x="32084" y="64168"/>
                </a:cubicBezTo>
                <a:lnTo>
                  <a:pt x="41251" y="64168"/>
                </a:lnTo>
                <a:cubicBezTo>
                  <a:pt x="43772" y="64168"/>
                  <a:pt x="45835" y="66231"/>
                  <a:pt x="45835" y="68752"/>
                </a:cubicBezTo>
                <a:lnTo>
                  <a:pt x="45835" y="77919"/>
                </a:lnTo>
                <a:cubicBezTo>
                  <a:pt x="45835" y="80440"/>
                  <a:pt x="43772" y="82502"/>
                  <a:pt x="41251" y="82502"/>
                </a:cubicBezTo>
                <a:lnTo>
                  <a:pt x="32084" y="82502"/>
                </a:lnTo>
                <a:cubicBezTo>
                  <a:pt x="29563" y="82502"/>
                  <a:pt x="27501" y="80440"/>
                  <a:pt x="27501" y="77919"/>
                </a:cubicBezTo>
                <a:lnTo>
                  <a:pt x="27501" y="68752"/>
                </a:lnTo>
                <a:close/>
                <a:moveTo>
                  <a:pt x="68752" y="64168"/>
                </a:moveTo>
                <a:lnTo>
                  <a:pt x="77919" y="64168"/>
                </a:lnTo>
                <a:cubicBezTo>
                  <a:pt x="80440" y="64168"/>
                  <a:pt x="82502" y="66231"/>
                  <a:pt x="82502" y="68752"/>
                </a:cubicBezTo>
                <a:lnTo>
                  <a:pt x="82502" y="77919"/>
                </a:lnTo>
                <a:cubicBezTo>
                  <a:pt x="82502" y="80440"/>
                  <a:pt x="80440" y="82502"/>
                  <a:pt x="77919" y="82502"/>
                </a:cubicBezTo>
                <a:lnTo>
                  <a:pt x="68752" y="82502"/>
                </a:lnTo>
                <a:cubicBezTo>
                  <a:pt x="66231" y="82502"/>
                  <a:pt x="64168" y="80440"/>
                  <a:pt x="64168" y="77919"/>
                </a:cubicBezTo>
                <a:lnTo>
                  <a:pt x="64168" y="68752"/>
                </a:lnTo>
                <a:cubicBezTo>
                  <a:pt x="64168" y="66231"/>
                  <a:pt x="66231" y="64168"/>
                  <a:pt x="68752" y="64168"/>
                </a:cubicBezTo>
                <a:close/>
              </a:path>
            </a:pathLst>
          </a:custGeom>
          <a:solidFill>
            <a:srgbClr val="D4A373"/>
          </a:solidFill>
        </p:spPr>
      </p:sp>
      <p:sp>
        <p:nvSpPr>
          <p:cNvPr id="55" name="Text 53"/>
          <p:cNvSpPr/>
          <p:nvPr/>
        </p:nvSpPr>
        <p:spPr>
          <a:xfrm>
            <a:off x="8636812" y="1769215"/>
            <a:ext cx="1100030" cy="22000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5" b="1" dirty="0">
                <a:solidFill>
                  <a:srgbClr val="F0F0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联合本地集成商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8380138" y="2025889"/>
            <a:ext cx="3254256" cy="2016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155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与五大电力系头部储能集成商合作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8251801" y="2447567"/>
            <a:ext cx="3419260" cy="678352"/>
          </a:xfrm>
          <a:custGeom>
            <a:avLst/>
            <a:gdLst/>
            <a:ahLst/>
            <a:cxnLst/>
            <a:rect l="l" t="t" r="r" b="b"/>
            <a:pathLst>
              <a:path w="3419260" h="678352">
                <a:moveTo>
                  <a:pt x="36668" y="0"/>
                </a:moveTo>
                <a:lnTo>
                  <a:pt x="3345924" y="0"/>
                </a:lnTo>
                <a:cubicBezTo>
                  <a:pt x="3386426" y="0"/>
                  <a:pt x="3419260" y="32834"/>
                  <a:pt x="3419260" y="73337"/>
                </a:cubicBezTo>
                <a:lnTo>
                  <a:pt x="3419260" y="605015"/>
                </a:lnTo>
                <a:cubicBezTo>
                  <a:pt x="3419260" y="645518"/>
                  <a:pt x="3386426" y="678352"/>
                  <a:pt x="3345924" y="678352"/>
                </a:cubicBezTo>
                <a:lnTo>
                  <a:pt x="36668" y="678352"/>
                </a:lnTo>
                <a:cubicBezTo>
                  <a:pt x="16430" y="678352"/>
                  <a:pt x="0" y="661922"/>
                  <a:pt x="0" y="641684"/>
                </a:cubicBezTo>
                <a:lnTo>
                  <a:pt x="0" y="36668"/>
                </a:lnTo>
                <a:cubicBezTo>
                  <a:pt x="0" y="16430"/>
                  <a:pt x="16430" y="0"/>
                  <a:pt x="36668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</p:spPr>
      </p:sp>
      <p:sp>
        <p:nvSpPr>
          <p:cNvPr id="58" name="Shape 56"/>
          <p:cNvSpPr/>
          <p:nvPr/>
        </p:nvSpPr>
        <p:spPr>
          <a:xfrm>
            <a:off x="8251801" y="2447567"/>
            <a:ext cx="36668" cy="678352"/>
          </a:xfrm>
          <a:custGeom>
            <a:avLst/>
            <a:gdLst/>
            <a:ahLst/>
            <a:cxnLst/>
            <a:rect l="l" t="t" r="r" b="b"/>
            <a:pathLst>
              <a:path w="36668" h="678352">
                <a:moveTo>
                  <a:pt x="36668" y="0"/>
                </a:moveTo>
                <a:lnTo>
                  <a:pt x="36668" y="0"/>
                </a:lnTo>
                <a:lnTo>
                  <a:pt x="36668" y="678352"/>
                </a:lnTo>
                <a:lnTo>
                  <a:pt x="36668" y="678352"/>
                </a:lnTo>
                <a:cubicBezTo>
                  <a:pt x="16430" y="678352"/>
                  <a:pt x="0" y="661922"/>
                  <a:pt x="0" y="641684"/>
                </a:cubicBezTo>
                <a:lnTo>
                  <a:pt x="0" y="36668"/>
                </a:lnTo>
                <a:cubicBezTo>
                  <a:pt x="0" y="16430"/>
                  <a:pt x="16430" y="0"/>
                  <a:pt x="36668" y="0"/>
                </a:cubicBezTo>
                <a:close/>
              </a:path>
            </a:pathLst>
          </a:custGeom>
          <a:solidFill>
            <a:srgbClr val="4A6C8C"/>
          </a:solidFill>
        </p:spPr>
      </p:sp>
      <p:sp>
        <p:nvSpPr>
          <p:cNvPr id="59" name="Shape 57"/>
          <p:cNvSpPr/>
          <p:nvPr/>
        </p:nvSpPr>
        <p:spPr>
          <a:xfrm>
            <a:off x="8389305" y="2594238"/>
            <a:ext cx="165005" cy="146671"/>
          </a:xfrm>
          <a:custGeom>
            <a:avLst/>
            <a:gdLst/>
            <a:ahLst/>
            <a:cxnLst/>
            <a:rect l="l" t="t" r="r" b="b"/>
            <a:pathLst>
              <a:path w="165005" h="146671">
                <a:moveTo>
                  <a:pt x="48585" y="43944"/>
                </a:moveTo>
                <a:lnTo>
                  <a:pt x="43228" y="38587"/>
                </a:lnTo>
                <a:cubicBezTo>
                  <a:pt x="39647" y="35006"/>
                  <a:pt x="39647" y="29191"/>
                  <a:pt x="43228" y="25610"/>
                </a:cubicBezTo>
                <a:lnTo>
                  <a:pt x="76085" y="-7276"/>
                </a:lnTo>
                <a:cubicBezTo>
                  <a:pt x="79666" y="-10857"/>
                  <a:pt x="85482" y="-10857"/>
                  <a:pt x="89062" y="-7276"/>
                </a:cubicBezTo>
                <a:lnTo>
                  <a:pt x="94419" y="-1891"/>
                </a:lnTo>
                <a:cubicBezTo>
                  <a:pt x="98000" y="1690"/>
                  <a:pt x="98000" y="7505"/>
                  <a:pt x="94419" y="11086"/>
                </a:cubicBezTo>
                <a:lnTo>
                  <a:pt x="61562" y="43944"/>
                </a:lnTo>
                <a:cubicBezTo>
                  <a:pt x="57981" y="47525"/>
                  <a:pt x="52165" y="47525"/>
                  <a:pt x="48585" y="43944"/>
                </a:cubicBezTo>
                <a:close/>
                <a:moveTo>
                  <a:pt x="79065" y="60645"/>
                </a:moveTo>
                <a:lnTo>
                  <a:pt x="70070" y="51650"/>
                </a:lnTo>
                <a:lnTo>
                  <a:pt x="102154" y="19566"/>
                </a:lnTo>
                <a:lnTo>
                  <a:pt x="136358" y="53770"/>
                </a:lnTo>
                <a:lnTo>
                  <a:pt x="104274" y="85854"/>
                </a:lnTo>
                <a:lnTo>
                  <a:pt x="95279" y="76859"/>
                </a:lnTo>
                <a:lnTo>
                  <a:pt x="28818" y="143319"/>
                </a:lnTo>
                <a:cubicBezTo>
                  <a:pt x="24350" y="147788"/>
                  <a:pt x="17102" y="147788"/>
                  <a:pt x="12605" y="143319"/>
                </a:cubicBezTo>
                <a:cubicBezTo>
                  <a:pt x="8107" y="138850"/>
                  <a:pt x="8136" y="131603"/>
                  <a:pt x="12605" y="127105"/>
                </a:cubicBezTo>
                <a:lnTo>
                  <a:pt x="79065" y="60645"/>
                </a:lnTo>
                <a:close/>
                <a:moveTo>
                  <a:pt x="111980" y="107310"/>
                </a:moveTo>
                <a:cubicBezTo>
                  <a:pt x="108399" y="103729"/>
                  <a:pt x="108399" y="97914"/>
                  <a:pt x="111980" y="94333"/>
                </a:cubicBezTo>
                <a:lnTo>
                  <a:pt x="144837" y="61476"/>
                </a:lnTo>
                <a:cubicBezTo>
                  <a:pt x="148418" y="57895"/>
                  <a:pt x="154233" y="57895"/>
                  <a:pt x="157814" y="61476"/>
                </a:cubicBezTo>
                <a:lnTo>
                  <a:pt x="163171" y="66833"/>
                </a:lnTo>
                <a:cubicBezTo>
                  <a:pt x="166752" y="70413"/>
                  <a:pt x="166752" y="76229"/>
                  <a:pt x="163171" y="79809"/>
                </a:cubicBezTo>
                <a:lnTo>
                  <a:pt x="130313" y="112696"/>
                </a:lnTo>
                <a:cubicBezTo>
                  <a:pt x="126733" y="116277"/>
                  <a:pt x="120917" y="116277"/>
                  <a:pt x="117337" y="112696"/>
                </a:cubicBezTo>
                <a:lnTo>
                  <a:pt x="111980" y="107339"/>
                </a:lnTo>
                <a:close/>
              </a:path>
            </a:pathLst>
          </a:custGeom>
          <a:solidFill>
            <a:srgbClr val="4A6C8C"/>
          </a:solidFill>
        </p:spPr>
      </p:sp>
      <p:sp>
        <p:nvSpPr>
          <p:cNvPr id="60" name="Text 58"/>
          <p:cNvSpPr/>
          <p:nvPr/>
        </p:nvSpPr>
        <p:spPr>
          <a:xfrm>
            <a:off x="8636812" y="2557570"/>
            <a:ext cx="1035862" cy="22000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5" b="1" dirty="0">
                <a:solidFill>
                  <a:srgbClr val="F0F0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参与LTDA拍卖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8380138" y="2814244"/>
            <a:ext cx="3254256" cy="2016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155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获取20年固定收入保障</a:t>
            </a:r>
            <a:endParaRPr lang="en-US" sz="1600" dirty="0"/>
          </a:p>
        </p:txBody>
      </p:sp>
      <p:sp>
        <p:nvSpPr>
          <p:cNvPr id="62" name="Shape 60"/>
          <p:cNvSpPr/>
          <p:nvPr/>
        </p:nvSpPr>
        <p:spPr>
          <a:xfrm>
            <a:off x="8251801" y="3235922"/>
            <a:ext cx="3419260" cy="678352"/>
          </a:xfrm>
          <a:custGeom>
            <a:avLst/>
            <a:gdLst/>
            <a:ahLst/>
            <a:cxnLst/>
            <a:rect l="l" t="t" r="r" b="b"/>
            <a:pathLst>
              <a:path w="3419260" h="678352">
                <a:moveTo>
                  <a:pt x="36668" y="0"/>
                </a:moveTo>
                <a:lnTo>
                  <a:pt x="3345924" y="0"/>
                </a:lnTo>
                <a:cubicBezTo>
                  <a:pt x="3386426" y="0"/>
                  <a:pt x="3419260" y="32834"/>
                  <a:pt x="3419260" y="73337"/>
                </a:cubicBezTo>
                <a:lnTo>
                  <a:pt x="3419260" y="605015"/>
                </a:lnTo>
                <a:cubicBezTo>
                  <a:pt x="3419260" y="645518"/>
                  <a:pt x="3386426" y="678352"/>
                  <a:pt x="3345924" y="678352"/>
                </a:cubicBezTo>
                <a:lnTo>
                  <a:pt x="36668" y="678352"/>
                </a:lnTo>
                <a:cubicBezTo>
                  <a:pt x="16430" y="678352"/>
                  <a:pt x="0" y="661922"/>
                  <a:pt x="0" y="641684"/>
                </a:cubicBezTo>
                <a:lnTo>
                  <a:pt x="0" y="36668"/>
                </a:lnTo>
                <a:cubicBezTo>
                  <a:pt x="0" y="16430"/>
                  <a:pt x="16430" y="0"/>
                  <a:pt x="36668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</p:spPr>
      </p:sp>
      <p:sp>
        <p:nvSpPr>
          <p:cNvPr id="63" name="Shape 61"/>
          <p:cNvSpPr/>
          <p:nvPr/>
        </p:nvSpPr>
        <p:spPr>
          <a:xfrm>
            <a:off x="8251801" y="3235922"/>
            <a:ext cx="36668" cy="678352"/>
          </a:xfrm>
          <a:custGeom>
            <a:avLst/>
            <a:gdLst/>
            <a:ahLst/>
            <a:cxnLst/>
            <a:rect l="l" t="t" r="r" b="b"/>
            <a:pathLst>
              <a:path w="36668" h="678352">
                <a:moveTo>
                  <a:pt x="36668" y="0"/>
                </a:moveTo>
                <a:lnTo>
                  <a:pt x="36668" y="0"/>
                </a:lnTo>
                <a:lnTo>
                  <a:pt x="36668" y="678352"/>
                </a:lnTo>
                <a:lnTo>
                  <a:pt x="36668" y="678352"/>
                </a:lnTo>
                <a:cubicBezTo>
                  <a:pt x="16430" y="678352"/>
                  <a:pt x="0" y="661922"/>
                  <a:pt x="0" y="641684"/>
                </a:cubicBezTo>
                <a:lnTo>
                  <a:pt x="0" y="36668"/>
                </a:lnTo>
                <a:cubicBezTo>
                  <a:pt x="0" y="16430"/>
                  <a:pt x="16430" y="0"/>
                  <a:pt x="36668" y="0"/>
                </a:cubicBezTo>
                <a:close/>
              </a:path>
            </a:pathLst>
          </a:custGeom>
          <a:solidFill>
            <a:srgbClr val="8D99AE"/>
          </a:solidFill>
        </p:spPr>
      </p:sp>
      <p:sp>
        <p:nvSpPr>
          <p:cNvPr id="64" name="Shape 62"/>
          <p:cNvSpPr/>
          <p:nvPr/>
        </p:nvSpPr>
        <p:spPr>
          <a:xfrm>
            <a:off x="8389305" y="3382592"/>
            <a:ext cx="165005" cy="146671"/>
          </a:xfrm>
          <a:custGeom>
            <a:avLst/>
            <a:gdLst/>
            <a:ahLst/>
            <a:cxnLst/>
            <a:rect l="l" t="t" r="r" b="b"/>
            <a:pathLst>
              <a:path w="165005" h="146671">
                <a:moveTo>
                  <a:pt x="71044" y="25209"/>
                </a:moveTo>
                <a:lnTo>
                  <a:pt x="93961" y="25209"/>
                </a:lnTo>
                <a:lnTo>
                  <a:pt x="93961" y="38959"/>
                </a:lnTo>
                <a:lnTo>
                  <a:pt x="71044" y="38959"/>
                </a:lnTo>
                <a:lnTo>
                  <a:pt x="71044" y="25209"/>
                </a:lnTo>
                <a:close/>
                <a:moveTo>
                  <a:pt x="68752" y="9167"/>
                </a:moveTo>
                <a:cubicBezTo>
                  <a:pt x="61161" y="9167"/>
                  <a:pt x="55002" y="15326"/>
                  <a:pt x="55002" y="22917"/>
                </a:cubicBezTo>
                <a:lnTo>
                  <a:pt x="55002" y="41251"/>
                </a:lnTo>
                <a:cubicBezTo>
                  <a:pt x="55002" y="48842"/>
                  <a:pt x="61161" y="55002"/>
                  <a:pt x="68752" y="55002"/>
                </a:cubicBezTo>
                <a:lnTo>
                  <a:pt x="73335" y="55002"/>
                </a:lnTo>
                <a:lnTo>
                  <a:pt x="73335" y="64168"/>
                </a:lnTo>
                <a:lnTo>
                  <a:pt x="9167" y="64168"/>
                </a:lnTo>
                <a:cubicBezTo>
                  <a:pt x="4096" y="64168"/>
                  <a:pt x="0" y="68265"/>
                  <a:pt x="0" y="73335"/>
                </a:cubicBezTo>
                <a:cubicBezTo>
                  <a:pt x="0" y="78406"/>
                  <a:pt x="4096" y="82502"/>
                  <a:pt x="9167" y="82502"/>
                </a:cubicBezTo>
                <a:lnTo>
                  <a:pt x="36668" y="82502"/>
                </a:lnTo>
                <a:lnTo>
                  <a:pt x="36668" y="91669"/>
                </a:lnTo>
                <a:lnTo>
                  <a:pt x="32084" y="91669"/>
                </a:lnTo>
                <a:cubicBezTo>
                  <a:pt x="24493" y="91669"/>
                  <a:pt x="18334" y="97828"/>
                  <a:pt x="18334" y="105420"/>
                </a:cubicBezTo>
                <a:lnTo>
                  <a:pt x="18334" y="123753"/>
                </a:lnTo>
                <a:cubicBezTo>
                  <a:pt x="18334" y="131345"/>
                  <a:pt x="24493" y="137504"/>
                  <a:pt x="32084" y="137504"/>
                </a:cubicBezTo>
                <a:lnTo>
                  <a:pt x="59585" y="137504"/>
                </a:lnTo>
                <a:cubicBezTo>
                  <a:pt x="67176" y="137504"/>
                  <a:pt x="73335" y="131345"/>
                  <a:pt x="73335" y="123753"/>
                </a:cubicBezTo>
                <a:lnTo>
                  <a:pt x="73335" y="105420"/>
                </a:lnTo>
                <a:cubicBezTo>
                  <a:pt x="73335" y="97828"/>
                  <a:pt x="67176" y="91669"/>
                  <a:pt x="59585" y="91669"/>
                </a:cubicBezTo>
                <a:lnTo>
                  <a:pt x="55002" y="91669"/>
                </a:lnTo>
                <a:lnTo>
                  <a:pt x="55002" y="82502"/>
                </a:lnTo>
                <a:lnTo>
                  <a:pt x="110003" y="82502"/>
                </a:lnTo>
                <a:lnTo>
                  <a:pt x="110003" y="91669"/>
                </a:lnTo>
                <a:lnTo>
                  <a:pt x="105420" y="91669"/>
                </a:lnTo>
                <a:cubicBezTo>
                  <a:pt x="97828" y="91669"/>
                  <a:pt x="91669" y="97828"/>
                  <a:pt x="91669" y="105420"/>
                </a:cubicBezTo>
                <a:lnTo>
                  <a:pt x="91669" y="123753"/>
                </a:lnTo>
                <a:cubicBezTo>
                  <a:pt x="91669" y="131345"/>
                  <a:pt x="97828" y="137504"/>
                  <a:pt x="105420" y="137504"/>
                </a:cubicBezTo>
                <a:lnTo>
                  <a:pt x="132920" y="137504"/>
                </a:lnTo>
                <a:cubicBezTo>
                  <a:pt x="140512" y="137504"/>
                  <a:pt x="146671" y="131345"/>
                  <a:pt x="146671" y="123753"/>
                </a:cubicBezTo>
                <a:lnTo>
                  <a:pt x="146671" y="105420"/>
                </a:lnTo>
                <a:cubicBezTo>
                  <a:pt x="146671" y="97828"/>
                  <a:pt x="140512" y="91669"/>
                  <a:pt x="132920" y="91669"/>
                </a:cubicBezTo>
                <a:lnTo>
                  <a:pt x="128337" y="91669"/>
                </a:lnTo>
                <a:lnTo>
                  <a:pt x="128337" y="82502"/>
                </a:lnTo>
                <a:lnTo>
                  <a:pt x="155838" y="82502"/>
                </a:lnTo>
                <a:cubicBezTo>
                  <a:pt x="160908" y="82502"/>
                  <a:pt x="165005" y="78406"/>
                  <a:pt x="165005" y="73335"/>
                </a:cubicBezTo>
                <a:cubicBezTo>
                  <a:pt x="165005" y="68265"/>
                  <a:pt x="160908" y="64168"/>
                  <a:pt x="155838" y="64168"/>
                </a:cubicBezTo>
                <a:lnTo>
                  <a:pt x="91669" y="64168"/>
                </a:lnTo>
                <a:lnTo>
                  <a:pt x="91669" y="55002"/>
                </a:lnTo>
                <a:lnTo>
                  <a:pt x="96253" y="55002"/>
                </a:lnTo>
                <a:cubicBezTo>
                  <a:pt x="103844" y="55002"/>
                  <a:pt x="110003" y="48842"/>
                  <a:pt x="110003" y="41251"/>
                </a:cubicBezTo>
                <a:lnTo>
                  <a:pt x="110003" y="22917"/>
                </a:lnTo>
                <a:cubicBezTo>
                  <a:pt x="110003" y="15326"/>
                  <a:pt x="103844" y="9167"/>
                  <a:pt x="96253" y="9167"/>
                </a:cubicBezTo>
                <a:lnTo>
                  <a:pt x="68752" y="9167"/>
                </a:lnTo>
                <a:close/>
                <a:moveTo>
                  <a:pt x="128337" y="107711"/>
                </a:moveTo>
                <a:lnTo>
                  <a:pt x="130629" y="107711"/>
                </a:lnTo>
                <a:lnTo>
                  <a:pt x="130629" y="121462"/>
                </a:lnTo>
                <a:lnTo>
                  <a:pt x="107711" y="121462"/>
                </a:lnTo>
                <a:lnTo>
                  <a:pt x="107711" y="107711"/>
                </a:lnTo>
                <a:lnTo>
                  <a:pt x="128337" y="107711"/>
                </a:lnTo>
                <a:close/>
                <a:moveTo>
                  <a:pt x="55002" y="107711"/>
                </a:moveTo>
                <a:lnTo>
                  <a:pt x="57293" y="107711"/>
                </a:lnTo>
                <a:lnTo>
                  <a:pt x="57293" y="121462"/>
                </a:lnTo>
                <a:lnTo>
                  <a:pt x="34376" y="121462"/>
                </a:lnTo>
                <a:lnTo>
                  <a:pt x="34376" y="107711"/>
                </a:lnTo>
                <a:lnTo>
                  <a:pt x="55002" y="107711"/>
                </a:lnTo>
                <a:close/>
              </a:path>
            </a:pathLst>
          </a:custGeom>
          <a:solidFill>
            <a:srgbClr val="8D99AE"/>
          </a:solidFill>
        </p:spPr>
      </p:sp>
      <p:sp>
        <p:nvSpPr>
          <p:cNvPr id="65" name="Text 63"/>
          <p:cNvSpPr/>
          <p:nvPr/>
        </p:nvSpPr>
        <p:spPr>
          <a:xfrm>
            <a:off x="8636812" y="3345925"/>
            <a:ext cx="1228367" cy="22000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5" b="1" dirty="0">
                <a:solidFill>
                  <a:srgbClr val="F0F0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发展VPP虚拟电厂</a:t>
            </a:r>
            <a:endParaRPr lang="en-US" sz="1600" dirty="0"/>
          </a:p>
        </p:txBody>
      </p:sp>
      <p:sp>
        <p:nvSpPr>
          <p:cNvPr id="66" name="Text 64"/>
          <p:cNvSpPr/>
          <p:nvPr/>
        </p:nvSpPr>
        <p:spPr>
          <a:xfrm>
            <a:off x="8380138" y="3602598"/>
            <a:ext cx="3254256" cy="2016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155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聚合分布式资源参与市场交易</a:t>
            </a:r>
            <a:endParaRPr lang="en-US" sz="1600" dirty="0"/>
          </a:p>
        </p:txBody>
      </p:sp>
      <p:sp>
        <p:nvSpPr>
          <p:cNvPr id="67" name="Shape 65"/>
          <p:cNvSpPr/>
          <p:nvPr/>
        </p:nvSpPr>
        <p:spPr>
          <a:xfrm>
            <a:off x="8082213" y="5486400"/>
            <a:ext cx="3740102" cy="1365871"/>
          </a:xfrm>
          <a:custGeom>
            <a:avLst/>
            <a:gdLst/>
            <a:ahLst/>
            <a:cxnLst/>
            <a:rect l="l" t="t" r="r" b="b"/>
            <a:pathLst>
              <a:path w="3740102" h="1365871">
                <a:moveTo>
                  <a:pt x="73334" y="0"/>
                </a:moveTo>
                <a:lnTo>
                  <a:pt x="3666769" y="0"/>
                </a:lnTo>
                <a:cubicBezTo>
                  <a:pt x="3707270" y="0"/>
                  <a:pt x="3740102" y="32833"/>
                  <a:pt x="3740102" y="73334"/>
                </a:cubicBezTo>
                <a:lnTo>
                  <a:pt x="3740102" y="1292537"/>
                </a:lnTo>
                <a:cubicBezTo>
                  <a:pt x="3740102" y="1333038"/>
                  <a:pt x="3707270" y="1365871"/>
                  <a:pt x="3666769" y="1365871"/>
                </a:cubicBezTo>
                <a:lnTo>
                  <a:pt x="73334" y="1365871"/>
                </a:lnTo>
                <a:cubicBezTo>
                  <a:pt x="32860" y="1365871"/>
                  <a:pt x="0" y="1333011"/>
                  <a:pt x="0" y="1292537"/>
                </a:cubicBezTo>
                <a:lnTo>
                  <a:pt x="0" y="73334"/>
                </a:lnTo>
                <a:cubicBezTo>
                  <a:pt x="0" y="32860"/>
                  <a:pt x="32860" y="0"/>
                  <a:pt x="73334" y="0"/>
                </a:cubicBezTo>
                <a:close/>
              </a:path>
            </a:pathLst>
          </a:custGeom>
          <a:gradFill flip="none" rotWithShape="1">
            <a:gsLst>
              <a:gs pos="0">
                <a:srgbClr val="D4A373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12700">
            <a:solidFill>
              <a:srgbClr val="D4A373">
                <a:alpha val="40000"/>
              </a:srgbClr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8256385" y="5683489"/>
            <a:ext cx="165005" cy="165005"/>
          </a:xfrm>
          <a:custGeom>
            <a:avLst/>
            <a:gdLst/>
            <a:ahLst/>
            <a:cxnLst/>
            <a:rect l="l" t="t" r="r" b="b"/>
            <a:pathLst>
              <a:path w="165005" h="165005">
                <a:moveTo>
                  <a:pt x="144379" y="82502"/>
                </a:moveTo>
                <a:cubicBezTo>
                  <a:pt x="144379" y="48352"/>
                  <a:pt x="116653" y="20626"/>
                  <a:pt x="82502" y="20626"/>
                </a:cubicBezTo>
                <a:cubicBezTo>
                  <a:pt x="48352" y="20626"/>
                  <a:pt x="20626" y="48352"/>
                  <a:pt x="20626" y="82502"/>
                </a:cubicBezTo>
                <a:cubicBezTo>
                  <a:pt x="20626" y="116653"/>
                  <a:pt x="48352" y="144379"/>
                  <a:pt x="82502" y="144379"/>
                </a:cubicBezTo>
                <a:cubicBezTo>
                  <a:pt x="116653" y="144379"/>
                  <a:pt x="144379" y="116653"/>
                  <a:pt x="144379" y="82502"/>
                </a:cubicBezTo>
                <a:close/>
                <a:moveTo>
                  <a:pt x="0" y="82502"/>
                </a:moveTo>
                <a:cubicBezTo>
                  <a:pt x="0" y="36968"/>
                  <a:pt x="36968" y="0"/>
                  <a:pt x="82502" y="0"/>
                </a:cubicBezTo>
                <a:cubicBezTo>
                  <a:pt x="128036" y="0"/>
                  <a:pt x="165005" y="36968"/>
                  <a:pt x="165005" y="82502"/>
                </a:cubicBezTo>
                <a:cubicBezTo>
                  <a:pt x="165005" y="128036"/>
                  <a:pt x="128036" y="165005"/>
                  <a:pt x="82502" y="165005"/>
                </a:cubicBezTo>
                <a:cubicBezTo>
                  <a:pt x="36968" y="165005"/>
                  <a:pt x="0" y="128036"/>
                  <a:pt x="0" y="82502"/>
                </a:cubicBezTo>
                <a:close/>
                <a:moveTo>
                  <a:pt x="82502" y="108284"/>
                </a:moveTo>
                <a:cubicBezTo>
                  <a:pt x="96732" y="108284"/>
                  <a:pt x="108284" y="96732"/>
                  <a:pt x="108284" y="82502"/>
                </a:cubicBezTo>
                <a:cubicBezTo>
                  <a:pt x="108284" y="68273"/>
                  <a:pt x="96732" y="56720"/>
                  <a:pt x="82502" y="56720"/>
                </a:cubicBezTo>
                <a:cubicBezTo>
                  <a:pt x="68273" y="56720"/>
                  <a:pt x="56720" y="68273"/>
                  <a:pt x="56720" y="82502"/>
                </a:cubicBezTo>
                <a:cubicBezTo>
                  <a:pt x="56720" y="96732"/>
                  <a:pt x="68273" y="108284"/>
                  <a:pt x="82502" y="108284"/>
                </a:cubicBezTo>
                <a:close/>
                <a:moveTo>
                  <a:pt x="82502" y="36095"/>
                </a:moveTo>
                <a:cubicBezTo>
                  <a:pt x="108115" y="36095"/>
                  <a:pt x="128910" y="56889"/>
                  <a:pt x="128910" y="82502"/>
                </a:cubicBezTo>
                <a:cubicBezTo>
                  <a:pt x="128910" y="108115"/>
                  <a:pt x="108115" y="128910"/>
                  <a:pt x="82502" y="128910"/>
                </a:cubicBezTo>
                <a:cubicBezTo>
                  <a:pt x="56889" y="128910"/>
                  <a:pt x="36095" y="108115"/>
                  <a:pt x="36095" y="82502"/>
                </a:cubicBezTo>
                <a:cubicBezTo>
                  <a:pt x="36095" y="56889"/>
                  <a:pt x="56889" y="36095"/>
                  <a:pt x="82502" y="36095"/>
                </a:cubicBezTo>
                <a:close/>
                <a:moveTo>
                  <a:pt x="72189" y="82502"/>
                </a:moveTo>
                <a:cubicBezTo>
                  <a:pt x="72189" y="76810"/>
                  <a:pt x="76810" y="72189"/>
                  <a:pt x="82502" y="72189"/>
                </a:cubicBezTo>
                <a:cubicBezTo>
                  <a:pt x="88194" y="72189"/>
                  <a:pt x="92815" y="76810"/>
                  <a:pt x="92815" y="82502"/>
                </a:cubicBezTo>
                <a:cubicBezTo>
                  <a:pt x="92815" y="88194"/>
                  <a:pt x="88194" y="92815"/>
                  <a:pt x="82502" y="92815"/>
                </a:cubicBezTo>
                <a:cubicBezTo>
                  <a:pt x="76810" y="92815"/>
                  <a:pt x="72189" y="88194"/>
                  <a:pt x="72189" y="82502"/>
                </a:cubicBezTo>
                <a:close/>
              </a:path>
            </a:pathLst>
          </a:custGeom>
          <a:solidFill>
            <a:srgbClr val="D4A373"/>
          </a:solidFill>
        </p:spPr>
      </p:sp>
      <p:sp>
        <p:nvSpPr>
          <p:cNvPr id="69" name="Text 67"/>
          <p:cNvSpPr/>
          <p:nvPr/>
        </p:nvSpPr>
        <p:spPr>
          <a:xfrm>
            <a:off x="8444306" y="5637654"/>
            <a:ext cx="3309257" cy="25667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00" b="1" dirty="0">
                <a:solidFill>
                  <a:srgbClr val="F0F0F0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标杆场景</a:t>
            </a:r>
            <a:endParaRPr lang="en-US" sz="1600" dirty="0"/>
          </a:p>
        </p:txBody>
      </p:sp>
      <p:sp>
        <p:nvSpPr>
          <p:cNvPr id="70" name="Shape 68"/>
          <p:cNvSpPr/>
          <p:nvPr/>
        </p:nvSpPr>
        <p:spPr>
          <a:xfrm>
            <a:off x="8260968" y="5995164"/>
            <a:ext cx="128337" cy="146671"/>
          </a:xfrm>
          <a:custGeom>
            <a:avLst/>
            <a:gdLst/>
            <a:ahLst/>
            <a:cxnLst/>
            <a:rect l="l" t="t" r="r" b="b"/>
            <a:pathLst>
              <a:path w="128337" h="146671">
                <a:moveTo>
                  <a:pt x="128337" y="58955"/>
                </a:moveTo>
                <a:cubicBezTo>
                  <a:pt x="124097" y="61762"/>
                  <a:pt x="119227" y="64025"/>
                  <a:pt x="114157" y="65830"/>
                </a:cubicBezTo>
                <a:cubicBezTo>
                  <a:pt x="100693" y="70643"/>
                  <a:pt x="83018" y="73335"/>
                  <a:pt x="64168" y="73335"/>
                </a:cubicBezTo>
                <a:cubicBezTo>
                  <a:pt x="45319" y="73335"/>
                  <a:pt x="27615" y="70614"/>
                  <a:pt x="14180" y="65830"/>
                </a:cubicBezTo>
                <a:cubicBezTo>
                  <a:pt x="9138" y="64025"/>
                  <a:pt x="4240" y="61762"/>
                  <a:pt x="0" y="58955"/>
                </a:cubicBezTo>
                <a:lnTo>
                  <a:pt x="0" y="82502"/>
                </a:lnTo>
                <a:cubicBezTo>
                  <a:pt x="0" y="95164"/>
                  <a:pt x="28733" y="105420"/>
                  <a:pt x="64168" y="105420"/>
                </a:cubicBezTo>
                <a:cubicBezTo>
                  <a:pt x="99604" y="105420"/>
                  <a:pt x="128337" y="95164"/>
                  <a:pt x="128337" y="82502"/>
                </a:cubicBezTo>
                <a:lnTo>
                  <a:pt x="128337" y="58955"/>
                </a:lnTo>
                <a:close/>
                <a:moveTo>
                  <a:pt x="128337" y="36668"/>
                </a:moveTo>
                <a:lnTo>
                  <a:pt x="128337" y="22917"/>
                </a:lnTo>
                <a:cubicBezTo>
                  <a:pt x="128337" y="10255"/>
                  <a:pt x="99604" y="0"/>
                  <a:pt x="64168" y="0"/>
                </a:cubicBezTo>
                <a:cubicBezTo>
                  <a:pt x="28733" y="0"/>
                  <a:pt x="0" y="10255"/>
                  <a:pt x="0" y="22917"/>
                </a:cubicBezTo>
                <a:lnTo>
                  <a:pt x="0" y="36668"/>
                </a:lnTo>
                <a:cubicBezTo>
                  <a:pt x="0" y="49329"/>
                  <a:pt x="28733" y="59585"/>
                  <a:pt x="64168" y="59585"/>
                </a:cubicBezTo>
                <a:cubicBezTo>
                  <a:pt x="99604" y="59585"/>
                  <a:pt x="128337" y="49329"/>
                  <a:pt x="128337" y="36668"/>
                </a:cubicBezTo>
                <a:close/>
                <a:moveTo>
                  <a:pt x="114157" y="111665"/>
                </a:moveTo>
                <a:cubicBezTo>
                  <a:pt x="100722" y="116448"/>
                  <a:pt x="83047" y="119170"/>
                  <a:pt x="64168" y="119170"/>
                </a:cubicBezTo>
                <a:cubicBezTo>
                  <a:pt x="45290" y="119170"/>
                  <a:pt x="27615" y="116448"/>
                  <a:pt x="14180" y="111665"/>
                </a:cubicBezTo>
                <a:cubicBezTo>
                  <a:pt x="9138" y="109860"/>
                  <a:pt x="4240" y="107597"/>
                  <a:pt x="0" y="104789"/>
                </a:cubicBezTo>
                <a:lnTo>
                  <a:pt x="0" y="123753"/>
                </a:lnTo>
                <a:cubicBezTo>
                  <a:pt x="0" y="136415"/>
                  <a:pt x="28733" y="146671"/>
                  <a:pt x="64168" y="146671"/>
                </a:cubicBezTo>
                <a:cubicBezTo>
                  <a:pt x="99604" y="146671"/>
                  <a:pt x="128337" y="136415"/>
                  <a:pt x="128337" y="123753"/>
                </a:cubicBezTo>
                <a:lnTo>
                  <a:pt x="128337" y="104789"/>
                </a:lnTo>
                <a:cubicBezTo>
                  <a:pt x="124097" y="107597"/>
                  <a:pt x="119227" y="109860"/>
                  <a:pt x="114157" y="111665"/>
                </a:cubicBezTo>
                <a:close/>
              </a:path>
            </a:pathLst>
          </a:custGeom>
          <a:solidFill>
            <a:srgbClr val="4A6C8C"/>
          </a:solidFill>
        </p:spPr>
      </p:sp>
      <p:sp>
        <p:nvSpPr>
          <p:cNvPr id="71" name="Text 69"/>
          <p:cNvSpPr/>
          <p:nvPr/>
        </p:nvSpPr>
        <p:spPr>
          <a:xfrm>
            <a:off x="8469739" y="5967663"/>
            <a:ext cx="3274657" cy="22000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5" dirty="0">
                <a:solidFill>
                  <a:srgbClr val="F0F0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数据中心</a:t>
            </a:r>
            <a:endParaRPr lang="en-US" sz="1600" dirty="0"/>
          </a:p>
        </p:txBody>
      </p:sp>
      <p:sp>
        <p:nvSpPr>
          <p:cNvPr id="72" name="Shape 70"/>
          <p:cNvSpPr/>
          <p:nvPr/>
        </p:nvSpPr>
        <p:spPr>
          <a:xfrm>
            <a:off x="8251801" y="6251838"/>
            <a:ext cx="146671" cy="146671"/>
          </a:xfrm>
          <a:custGeom>
            <a:avLst/>
            <a:gdLst/>
            <a:ahLst/>
            <a:cxnLst/>
            <a:rect l="l" t="t" r="r" b="b"/>
            <a:pathLst>
              <a:path w="146671" h="146671">
                <a:moveTo>
                  <a:pt x="50418" y="6875"/>
                </a:moveTo>
                <a:cubicBezTo>
                  <a:pt x="50418" y="3065"/>
                  <a:pt x="47353" y="0"/>
                  <a:pt x="43543" y="0"/>
                </a:cubicBezTo>
                <a:cubicBezTo>
                  <a:pt x="39733" y="0"/>
                  <a:pt x="36668" y="3065"/>
                  <a:pt x="36668" y="6875"/>
                </a:cubicBezTo>
                <a:lnTo>
                  <a:pt x="36668" y="18334"/>
                </a:lnTo>
                <a:cubicBezTo>
                  <a:pt x="26555" y="18334"/>
                  <a:pt x="18334" y="26555"/>
                  <a:pt x="18334" y="36668"/>
                </a:cubicBezTo>
                <a:lnTo>
                  <a:pt x="6875" y="36668"/>
                </a:lnTo>
                <a:cubicBezTo>
                  <a:pt x="3065" y="36668"/>
                  <a:pt x="0" y="39733"/>
                  <a:pt x="0" y="43543"/>
                </a:cubicBezTo>
                <a:cubicBezTo>
                  <a:pt x="0" y="47353"/>
                  <a:pt x="3065" y="50418"/>
                  <a:pt x="6875" y="50418"/>
                </a:cubicBezTo>
                <a:lnTo>
                  <a:pt x="18334" y="50418"/>
                </a:lnTo>
                <a:lnTo>
                  <a:pt x="18334" y="66460"/>
                </a:lnTo>
                <a:lnTo>
                  <a:pt x="6875" y="66460"/>
                </a:lnTo>
                <a:cubicBezTo>
                  <a:pt x="3065" y="66460"/>
                  <a:pt x="0" y="69525"/>
                  <a:pt x="0" y="73335"/>
                </a:cubicBezTo>
                <a:cubicBezTo>
                  <a:pt x="0" y="77145"/>
                  <a:pt x="3065" y="80211"/>
                  <a:pt x="6875" y="80211"/>
                </a:cubicBezTo>
                <a:lnTo>
                  <a:pt x="18334" y="80211"/>
                </a:lnTo>
                <a:lnTo>
                  <a:pt x="18334" y="96253"/>
                </a:lnTo>
                <a:lnTo>
                  <a:pt x="6875" y="96253"/>
                </a:lnTo>
                <a:cubicBezTo>
                  <a:pt x="3065" y="96253"/>
                  <a:pt x="0" y="99318"/>
                  <a:pt x="0" y="103128"/>
                </a:cubicBezTo>
                <a:cubicBezTo>
                  <a:pt x="0" y="106938"/>
                  <a:pt x="3065" y="110003"/>
                  <a:pt x="6875" y="110003"/>
                </a:cubicBezTo>
                <a:lnTo>
                  <a:pt x="18334" y="110003"/>
                </a:lnTo>
                <a:cubicBezTo>
                  <a:pt x="18334" y="120115"/>
                  <a:pt x="26555" y="128337"/>
                  <a:pt x="36668" y="128337"/>
                </a:cubicBezTo>
                <a:lnTo>
                  <a:pt x="36668" y="139795"/>
                </a:lnTo>
                <a:cubicBezTo>
                  <a:pt x="36668" y="143605"/>
                  <a:pt x="39733" y="146671"/>
                  <a:pt x="43543" y="146671"/>
                </a:cubicBezTo>
                <a:cubicBezTo>
                  <a:pt x="47353" y="146671"/>
                  <a:pt x="50418" y="143605"/>
                  <a:pt x="50418" y="139795"/>
                </a:cubicBezTo>
                <a:lnTo>
                  <a:pt x="50418" y="128337"/>
                </a:lnTo>
                <a:lnTo>
                  <a:pt x="66460" y="128337"/>
                </a:lnTo>
                <a:lnTo>
                  <a:pt x="66460" y="139795"/>
                </a:lnTo>
                <a:cubicBezTo>
                  <a:pt x="66460" y="143605"/>
                  <a:pt x="69525" y="146671"/>
                  <a:pt x="73335" y="146671"/>
                </a:cubicBezTo>
                <a:cubicBezTo>
                  <a:pt x="77145" y="146671"/>
                  <a:pt x="80211" y="143605"/>
                  <a:pt x="80211" y="139795"/>
                </a:cubicBezTo>
                <a:lnTo>
                  <a:pt x="80211" y="128337"/>
                </a:lnTo>
                <a:lnTo>
                  <a:pt x="96253" y="128337"/>
                </a:lnTo>
                <a:lnTo>
                  <a:pt x="96253" y="139795"/>
                </a:lnTo>
                <a:cubicBezTo>
                  <a:pt x="96253" y="143605"/>
                  <a:pt x="99318" y="146671"/>
                  <a:pt x="103128" y="146671"/>
                </a:cubicBezTo>
                <a:cubicBezTo>
                  <a:pt x="106938" y="146671"/>
                  <a:pt x="110003" y="143605"/>
                  <a:pt x="110003" y="139795"/>
                </a:cubicBezTo>
                <a:lnTo>
                  <a:pt x="110003" y="128337"/>
                </a:lnTo>
                <a:cubicBezTo>
                  <a:pt x="120115" y="128337"/>
                  <a:pt x="128337" y="120115"/>
                  <a:pt x="128337" y="110003"/>
                </a:cubicBezTo>
                <a:lnTo>
                  <a:pt x="139795" y="110003"/>
                </a:lnTo>
                <a:cubicBezTo>
                  <a:pt x="143605" y="110003"/>
                  <a:pt x="146671" y="106938"/>
                  <a:pt x="146671" y="103128"/>
                </a:cubicBezTo>
                <a:cubicBezTo>
                  <a:pt x="146671" y="99318"/>
                  <a:pt x="143605" y="96253"/>
                  <a:pt x="139795" y="96253"/>
                </a:cubicBezTo>
                <a:lnTo>
                  <a:pt x="128337" y="96253"/>
                </a:lnTo>
                <a:lnTo>
                  <a:pt x="128337" y="80211"/>
                </a:lnTo>
                <a:lnTo>
                  <a:pt x="139795" y="80211"/>
                </a:lnTo>
                <a:cubicBezTo>
                  <a:pt x="143605" y="80211"/>
                  <a:pt x="146671" y="77145"/>
                  <a:pt x="146671" y="73335"/>
                </a:cubicBezTo>
                <a:cubicBezTo>
                  <a:pt x="146671" y="69525"/>
                  <a:pt x="143605" y="66460"/>
                  <a:pt x="139795" y="66460"/>
                </a:cubicBezTo>
                <a:lnTo>
                  <a:pt x="128337" y="66460"/>
                </a:lnTo>
                <a:lnTo>
                  <a:pt x="128337" y="50418"/>
                </a:lnTo>
                <a:lnTo>
                  <a:pt x="139795" y="50418"/>
                </a:lnTo>
                <a:cubicBezTo>
                  <a:pt x="143605" y="50418"/>
                  <a:pt x="146671" y="47353"/>
                  <a:pt x="146671" y="43543"/>
                </a:cubicBezTo>
                <a:cubicBezTo>
                  <a:pt x="146671" y="39733"/>
                  <a:pt x="143605" y="36668"/>
                  <a:pt x="139795" y="36668"/>
                </a:cubicBezTo>
                <a:lnTo>
                  <a:pt x="128337" y="36668"/>
                </a:lnTo>
                <a:cubicBezTo>
                  <a:pt x="128337" y="26555"/>
                  <a:pt x="120115" y="18334"/>
                  <a:pt x="110003" y="18334"/>
                </a:cubicBezTo>
                <a:lnTo>
                  <a:pt x="110003" y="6875"/>
                </a:lnTo>
                <a:cubicBezTo>
                  <a:pt x="110003" y="3065"/>
                  <a:pt x="106938" y="0"/>
                  <a:pt x="103128" y="0"/>
                </a:cubicBezTo>
                <a:cubicBezTo>
                  <a:pt x="99318" y="0"/>
                  <a:pt x="96253" y="3065"/>
                  <a:pt x="96253" y="6875"/>
                </a:cubicBezTo>
                <a:lnTo>
                  <a:pt x="96253" y="18334"/>
                </a:lnTo>
                <a:lnTo>
                  <a:pt x="80211" y="18334"/>
                </a:lnTo>
                <a:lnTo>
                  <a:pt x="80211" y="6875"/>
                </a:lnTo>
                <a:cubicBezTo>
                  <a:pt x="80211" y="3065"/>
                  <a:pt x="77145" y="0"/>
                  <a:pt x="73335" y="0"/>
                </a:cubicBezTo>
                <a:cubicBezTo>
                  <a:pt x="69525" y="0"/>
                  <a:pt x="66460" y="3065"/>
                  <a:pt x="66460" y="6875"/>
                </a:cubicBezTo>
                <a:lnTo>
                  <a:pt x="66460" y="18334"/>
                </a:lnTo>
                <a:lnTo>
                  <a:pt x="50418" y="18334"/>
                </a:lnTo>
                <a:lnTo>
                  <a:pt x="50418" y="6875"/>
                </a:lnTo>
                <a:close/>
                <a:moveTo>
                  <a:pt x="45835" y="36668"/>
                </a:moveTo>
                <a:lnTo>
                  <a:pt x="100836" y="36668"/>
                </a:lnTo>
                <a:cubicBezTo>
                  <a:pt x="105907" y="36668"/>
                  <a:pt x="110003" y="40764"/>
                  <a:pt x="110003" y="45835"/>
                </a:cubicBezTo>
                <a:lnTo>
                  <a:pt x="110003" y="100836"/>
                </a:lnTo>
                <a:cubicBezTo>
                  <a:pt x="110003" y="105907"/>
                  <a:pt x="105907" y="110003"/>
                  <a:pt x="100836" y="110003"/>
                </a:cubicBezTo>
                <a:lnTo>
                  <a:pt x="45835" y="110003"/>
                </a:lnTo>
                <a:cubicBezTo>
                  <a:pt x="40764" y="110003"/>
                  <a:pt x="36668" y="105907"/>
                  <a:pt x="36668" y="100836"/>
                </a:cubicBezTo>
                <a:lnTo>
                  <a:pt x="36668" y="45835"/>
                </a:lnTo>
                <a:cubicBezTo>
                  <a:pt x="36668" y="40764"/>
                  <a:pt x="40764" y="36668"/>
                  <a:pt x="45835" y="36668"/>
                </a:cubicBezTo>
                <a:close/>
                <a:moveTo>
                  <a:pt x="50418" y="50418"/>
                </a:moveTo>
                <a:lnTo>
                  <a:pt x="50418" y="96253"/>
                </a:lnTo>
                <a:lnTo>
                  <a:pt x="96253" y="96253"/>
                </a:lnTo>
                <a:lnTo>
                  <a:pt x="96253" y="50418"/>
                </a:lnTo>
                <a:lnTo>
                  <a:pt x="50418" y="50418"/>
                </a:lnTo>
                <a:close/>
              </a:path>
            </a:pathLst>
          </a:custGeom>
          <a:solidFill>
            <a:srgbClr val="4A6C8C"/>
          </a:solidFill>
        </p:spPr>
      </p:sp>
      <p:sp>
        <p:nvSpPr>
          <p:cNvPr id="73" name="Text 71"/>
          <p:cNvSpPr/>
          <p:nvPr/>
        </p:nvSpPr>
        <p:spPr>
          <a:xfrm>
            <a:off x="8469739" y="6224337"/>
            <a:ext cx="3274657" cy="22000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5" dirty="0">
                <a:solidFill>
                  <a:srgbClr val="F0F0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半导体工厂</a:t>
            </a:r>
            <a:endParaRPr lang="en-US" sz="1600" dirty="0"/>
          </a:p>
        </p:txBody>
      </p:sp>
      <p:sp>
        <p:nvSpPr>
          <p:cNvPr id="74" name="Shape 72"/>
          <p:cNvSpPr/>
          <p:nvPr/>
        </p:nvSpPr>
        <p:spPr>
          <a:xfrm>
            <a:off x="8242634" y="6508511"/>
            <a:ext cx="165005" cy="146671"/>
          </a:xfrm>
          <a:custGeom>
            <a:avLst/>
            <a:gdLst/>
            <a:ahLst/>
            <a:cxnLst/>
            <a:rect l="l" t="t" r="r" b="b"/>
            <a:pathLst>
              <a:path w="165005" h="146671">
                <a:moveTo>
                  <a:pt x="0" y="40707"/>
                </a:moveTo>
                <a:lnTo>
                  <a:pt x="0" y="137504"/>
                </a:lnTo>
                <a:cubicBezTo>
                  <a:pt x="0" y="142574"/>
                  <a:pt x="4096" y="146671"/>
                  <a:pt x="9167" y="146671"/>
                </a:cubicBezTo>
                <a:cubicBezTo>
                  <a:pt x="14237" y="146671"/>
                  <a:pt x="18334" y="142574"/>
                  <a:pt x="18334" y="137504"/>
                </a:cubicBezTo>
                <a:lnTo>
                  <a:pt x="18334" y="68752"/>
                </a:lnTo>
                <a:cubicBezTo>
                  <a:pt x="18334" y="63681"/>
                  <a:pt x="22430" y="59585"/>
                  <a:pt x="27501" y="59585"/>
                </a:cubicBezTo>
                <a:lnTo>
                  <a:pt x="137504" y="59585"/>
                </a:lnTo>
                <a:cubicBezTo>
                  <a:pt x="142574" y="59585"/>
                  <a:pt x="146671" y="63681"/>
                  <a:pt x="146671" y="68752"/>
                </a:cubicBezTo>
                <a:lnTo>
                  <a:pt x="146671" y="137504"/>
                </a:lnTo>
                <a:cubicBezTo>
                  <a:pt x="146671" y="142574"/>
                  <a:pt x="150767" y="146671"/>
                  <a:pt x="155838" y="146671"/>
                </a:cubicBezTo>
                <a:cubicBezTo>
                  <a:pt x="160908" y="146671"/>
                  <a:pt x="165005" y="142574"/>
                  <a:pt x="165005" y="137504"/>
                </a:cubicBezTo>
                <a:lnTo>
                  <a:pt x="165005" y="40707"/>
                </a:lnTo>
                <a:cubicBezTo>
                  <a:pt x="165005" y="32829"/>
                  <a:pt x="159963" y="25811"/>
                  <a:pt x="152457" y="23318"/>
                </a:cubicBezTo>
                <a:lnTo>
                  <a:pt x="86857" y="1461"/>
                </a:lnTo>
                <a:cubicBezTo>
                  <a:pt x="84021" y="516"/>
                  <a:pt x="80984" y="516"/>
                  <a:pt x="78148" y="1461"/>
                </a:cubicBezTo>
                <a:lnTo>
                  <a:pt x="12547" y="23318"/>
                </a:lnTo>
                <a:cubicBezTo>
                  <a:pt x="5042" y="25811"/>
                  <a:pt x="0" y="32829"/>
                  <a:pt x="0" y="40707"/>
                </a:cubicBezTo>
                <a:close/>
                <a:moveTo>
                  <a:pt x="132920" y="73335"/>
                </a:moveTo>
                <a:lnTo>
                  <a:pt x="32084" y="73335"/>
                </a:lnTo>
                <a:lnTo>
                  <a:pt x="32084" y="91669"/>
                </a:lnTo>
                <a:lnTo>
                  <a:pt x="132920" y="91669"/>
                </a:lnTo>
                <a:lnTo>
                  <a:pt x="132920" y="73335"/>
                </a:lnTo>
                <a:close/>
                <a:moveTo>
                  <a:pt x="32084" y="119170"/>
                </a:moveTo>
                <a:lnTo>
                  <a:pt x="132920" y="119170"/>
                </a:lnTo>
                <a:lnTo>
                  <a:pt x="132920" y="100836"/>
                </a:lnTo>
                <a:lnTo>
                  <a:pt x="32084" y="100836"/>
                </a:lnTo>
                <a:lnTo>
                  <a:pt x="32084" y="119170"/>
                </a:lnTo>
                <a:close/>
                <a:moveTo>
                  <a:pt x="132920" y="128337"/>
                </a:moveTo>
                <a:lnTo>
                  <a:pt x="32084" y="128337"/>
                </a:lnTo>
                <a:lnTo>
                  <a:pt x="32084" y="146671"/>
                </a:lnTo>
                <a:lnTo>
                  <a:pt x="132920" y="146671"/>
                </a:lnTo>
                <a:lnTo>
                  <a:pt x="132920" y="128337"/>
                </a:lnTo>
                <a:close/>
              </a:path>
            </a:pathLst>
          </a:custGeom>
          <a:solidFill>
            <a:srgbClr val="4A6C8C"/>
          </a:solidFill>
        </p:spPr>
      </p:sp>
      <p:sp>
        <p:nvSpPr>
          <p:cNvPr id="75" name="Text 73"/>
          <p:cNvSpPr/>
          <p:nvPr/>
        </p:nvSpPr>
        <p:spPr>
          <a:xfrm>
            <a:off x="8469739" y="6481011"/>
            <a:ext cx="3274657" cy="22000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5" dirty="0">
                <a:solidFill>
                  <a:srgbClr val="F0F0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物流园区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419100"/>
            <a:ext cx="38100" cy="304800"/>
          </a:xfrm>
          <a:custGeom>
            <a:avLst/>
            <a:gdLst/>
            <a:ahLst/>
            <a:cxnLst/>
            <a:rect l="l" t="t" r="r" b="b"/>
            <a:pathLst>
              <a:path w="38100" h="304800">
                <a:moveTo>
                  <a:pt x="0" y="0"/>
                </a:moveTo>
                <a:lnTo>
                  <a:pt x="38100" y="0"/>
                </a:lnTo>
                <a:lnTo>
                  <a:pt x="38100" y="304800"/>
                </a:lnTo>
                <a:lnTo>
                  <a:pt x="0" y="304800"/>
                </a:lnTo>
                <a:lnTo>
                  <a:pt x="0" y="0"/>
                </a:lnTo>
                <a:close/>
              </a:path>
            </a:pathLst>
          </a:custGeom>
          <a:solidFill>
            <a:srgbClr val="D4A373"/>
          </a:solidFill>
        </p:spPr>
      </p:sp>
      <p:sp>
        <p:nvSpPr>
          <p:cNvPr id="3" name="Text 1"/>
          <p:cNvSpPr/>
          <p:nvPr/>
        </p:nvSpPr>
        <p:spPr>
          <a:xfrm>
            <a:off x="533400" y="381000"/>
            <a:ext cx="5648325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F0F0F0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海外市场第二步：马来西亚市场机会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71500" y="838200"/>
            <a:ext cx="113252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8D99AE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OVERSEAS EXPANSION STEP 2: MALAYSIA MARKET OPPORTUNITY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5763" y="1185863"/>
            <a:ext cx="7572375" cy="2009775"/>
          </a:xfrm>
          <a:custGeom>
            <a:avLst/>
            <a:gdLst/>
            <a:ahLst/>
            <a:cxnLst/>
            <a:rect l="l" t="t" r="r" b="b"/>
            <a:pathLst>
              <a:path w="7572375" h="2009775">
                <a:moveTo>
                  <a:pt x="76191" y="0"/>
                </a:moveTo>
                <a:lnTo>
                  <a:pt x="7496184" y="0"/>
                </a:lnTo>
                <a:cubicBezTo>
                  <a:pt x="7538235" y="0"/>
                  <a:pt x="7572375" y="34140"/>
                  <a:pt x="7572375" y="76191"/>
                </a:cubicBezTo>
                <a:lnTo>
                  <a:pt x="7572375" y="1933584"/>
                </a:lnTo>
                <a:cubicBezTo>
                  <a:pt x="7572375" y="1975635"/>
                  <a:pt x="7538235" y="2009775"/>
                  <a:pt x="7496184" y="2009775"/>
                </a:cubicBezTo>
                <a:lnTo>
                  <a:pt x="76191" y="2009775"/>
                </a:lnTo>
                <a:cubicBezTo>
                  <a:pt x="34140" y="2009775"/>
                  <a:pt x="0" y="1975635"/>
                  <a:pt x="0" y="1933584"/>
                </a:cubicBezTo>
                <a:lnTo>
                  <a:pt x="0" y="76191"/>
                </a:lnTo>
                <a:cubicBezTo>
                  <a:pt x="0" y="34140"/>
                  <a:pt x="34140" y="0"/>
                  <a:pt x="76191" y="0"/>
                </a:cubicBezTo>
                <a:close/>
              </a:path>
            </a:pathLst>
          </a:custGeom>
          <a:gradFill flip="none" rotWithShape="1">
            <a:gsLst>
              <a:gs pos="0">
                <a:srgbClr val="4A6C8C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12700">
            <a:solidFill>
              <a:srgbClr val="4A6C8C">
                <a:alpha val="4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2925" y="1343025"/>
            <a:ext cx="7353300" cy="342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250" b="1" dirty="0">
                <a:solidFill>
                  <a:srgbClr val="F0F0F0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🇲🇾</a:t>
            </a:r>
            <a:r>
              <a:rPr lang="en-US" sz="1500" b="1" dirty="0">
                <a:solidFill>
                  <a:srgbClr val="F0F0F0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 马来西亚光储市场核心数据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7688" y="1804988"/>
            <a:ext cx="2333625" cy="1228725"/>
          </a:xfrm>
          <a:custGeom>
            <a:avLst/>
            <a:gdLst/>
            <a:ahLst/>
            <a:cxnLst/>
            <a:rect l="l" t="t" r="r" b="b"/>
            <a:pathLst>
              <a:path w="2333625" h="1228725">
                <a:moveTo>
                  <a:pt x="76206" y="0"/>
                </a:moveTo>
                <a:lnTo>
                  <a:pt x="2257419" y="0"/>
                </a:lnTo>
                <a:cubicBezTo>
                  <a:pt x="2299507" y="0"/>
                  <a:pt x="2333625" y="34118"/>
                  <a:pt x="2333625" y="76206"/>
                </a:cubicBezTo>
                <a:lnTo>
                  <a:pt x="2333625" y="1152519"/>
                </a:lnTo>
                <a:cubicBezTo>
                  <a:pt x="2333625" y="1194607"/>
                  <a:pt x="2299507" y="1228725"/>
                  <a:pt x="2257419" y="1228725"/>
                </a:cubicBezTo>
                <a:lnTo>
                  <a:pt x="76206" y="1228725"/>
                </a:lnTo>
                <a:cubicBezTo>
                  <a:pt x="34118" y="1228725"/>
                  <a:pt x="0" y="1194607"/>
                  <a:pt x="0" y="1152519"/>
                </a:cubicBezTo>
                <a:lnTo>
                  <a:pt x="0" y="76206"/>
                </a:lnTo>
                <a:cubicBezTo>
                  <a:pt x="0" y="34147"/>
                  <a:pt x="34147" y="0"/>
                  <a:pt x="76206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 w="12700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0550" y="1885950"/>
            <a:ext cx="22479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2025年储能装机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71500" y="2152650"/>
            <a:ext cx="22860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D4A373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400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90550" y="2457450"/>
            <a:ext cx="22479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F0F0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MWh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90550" y="2724150"/>
            <a:ext cx="22479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CAGR 50%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005138" y="1804988"/>
            <a:ext cx="2333625" cy="1228725"/>
          </a:xfrm>
          <a:custGeom>
            <a:avLst/>
            <a:gdLst/>
            <a:ahLst/>
            <a:cxnLst/>
            <a:rect l="l" t="t" r="r" b="b"/>
            <a:pathLst>
              <a:path w="2333625" h="1228725">
                <a:moveTo>
                  <a:pt x="76206" y="0"/>
                </a:moveTo>
                <a:lnTo>
                  <a:pt x="2257419" y="0"/>
                </a:lnTo>
                <a:cubicBezTo>
                  <a:pt x="2299507" y="0"/>
                  <a:pt x="2333625" y="34118"/>
                  <a:pt x="2333625" y="76206"/>
                </a:cubicBezTo>
                <a:lnTo>
                  <a:pt x="2333625" y="1152519"/>
                </a:lnTo>
                <a:cubicBezTo>
                  <a:pt x="2333625" y="1194607"/>
                  <a:pt x="2299507" y="1228725"/>
                  <a:pt x="2257419" y="1228725"/>
                </a:cubicBezTo>
                <a:lnTo>
                  <a:pt x="76206" y="1228725"/>
                </a:lnTo>
                <a:cubicBezTo>
                  <a:pt x="34118" y="1228725"/>
                  <a:pt x="0" y="1194607"/>
                  <a:pt x="0" y="1152519"/>
                </a:cubicBezTo>
                <a:lnTo>
                  <a:pt x="0" y="76206"/>
                </a:lnTo>
                <a:cubicBezTo>
                  <a:pt x="0" y="34147"/>
                  <a:pt x="34147" y="0"/>
                  <a:pt x="76206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 w="12700">
            <a:solidFill>
              <a:srgbClr val="D4A373">
                <a:alpha val="30196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048000" y="1885950"/>
            <a:ext cx="22479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2030年预计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028950" y="2152650"/>
            <a:ext cx="22860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D4A373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048000" y="2457450"/>
            <a:ext cx="22479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F0F0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GWh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048000" y="2724150"/>
            <a:ext cx="22479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市场规模突破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462588" y="1804988"/>
            <a:ext cx="2333625" cy="1228725"/>
          </a:xfrm>
          <a:custGeom>
            <a:avLst/>
            <a:gdLst/>
            <a:ahLst/>
            <a:cxnLst/>
            <a:rect l="l" t="t" r="r" b="b"/>
            <a:pathLst>
              <a:path w="2333625" h="1228725">
                <a:moveTo>
                  <a:pt x="76206" y="0"/>
                </a:moveTo>
                <a:lnTo>
                  <a:pt x="2257419" y="0"/>
                </a:lnTo>
                <a:cubicBezTo>
                  <a:pt x="2299507" y="0"/>
                  <a:pt x="2333625" y="34118"/>
                  <a:pt x="2333625" y="76206"/>
                </a:cubicBezTo>
                <a:lnTo>
                  <a:pt x="2333625" y="1152519"/>
                </a:lnTo>
                <a:cubicBezTo>
                  <a:pt x="2333625" y="1194607"/>
                  <a:pt x="2299507" y="1228725"/>
                  <a:pt x="2257419" y="1228725"/>
                </a:cubicBezTo>
                <a:lnTo>
                  <a:pt x="76206" y="1228725"/>
                </a:lnTo>
                <a:cubicBezTo>
                  <a:pt x="34118" y="1228725"/>
                  <a:pt x="0" y="1194607"/>
                  <a:pt x="0" y="1152519"/>
                </a:cubicBezTo>
                <a:lnTo>
                  <a:pt x="0" y="76206"/>
                </a:lnTo>
                <a:cubicBezTo>
                  <a:pt x="0" y="34147"/>
                  <a:pt x="34147" y="0"/>
                  <a:pt x="76206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 w="12700">
            <a:solidFill>
              <a:srgbClr val="8D99AE">
                <a:alpha val="30196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505450" y="1885950"/>
            <a:ext cx="22479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工商业电价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486400" y="2152650"/>
            <a:ext cx="22860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D4A373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0.4562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505450" y="2457450"/>
            <a:ext cx="22479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F0F0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令吉/kWh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505450" y="2724150"/>
            <a:ext cx="22479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2025.7上涨14.2%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385763" y="3319463"/>
            <a:ext cx="3724275" cy="3362325"/>
          </a:xfrm>
          <a:custGeom>
            <a:avLst/>
            <a:gdLst/>
            <a:ahLst/>
            <a:cxnLst/>
            <a:rect l="l" t="t" r="r" b="b"/>
            <a:pathLst>
              <a:path w="3724275" h="3362325">
                <a:moveTo>
                  <a:pt x="76190" y="0"/>
                </a:moveTo>
                <a:lnTo>
                  <a:pt x="3648085" y="0"/>
                </a:lnTo>
                <a:cubicBezTo>
                  <a:pt x="3690135" y="0"/>
                  <a:pt x="3724275" y="34140"/>
                  <a:pt x="3724275" y="76190"/>
                </a:cubicBezTo>
                <a:lnTo>
                  <a:pt x="3724275" y="3286135"/>
                </a:lnTo>
                <a:cubicBezTo>
                  <a:pt x="3724275" y="3328185"/>
                  <a:pt x="3690135" y="3362325"/>
                  <a:pt x="3648085" y="3362325"/>
                </a:cubicBezTo>
                <a:lnTo>
                  <a:pt x="76190" y="3362325"/>
                </a:lnTo>
                <a:cubicBezTo>
                  <a:pt x="34140" y="3362325"/>
                  <a:pt x="0" y="3328185"/>
                  <a:pt x="0" y="3286135"/>
                </a:cubicBezTo>
                <a:lnTo>
                  <a:pt x="0" y="76190"/>
                </a:lnTo>
                <a:cubicBezTo>
                  <a:pt x="0" y="34112"/>
                  <a:pt x="34112" y="0"/>
                  <a:pt x="76190" y="0"/>
                </a:cubicBezTo>
                <a:close/>
              </a:path>
            </a:pathLst>
          </a:custGeom>
          <a:gradFill flip="none" rotWithShape="1">
            <a:gsLst>
              <a:gs pos="0">
                <a:srgbClr val="D4A373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12700">
            <a:solidFill>
              <a:srgbClr val="D4A373">
                <a:alpha val="4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88169" y="3524250"/>
            <a:ext cx="128588" cy="171450"/>
          </a:xfrm>
          <a:custGeom>
            <a:avLst/>
            <a:gdLst/>
            <a:ahLst/>
            <a:cxnLst/>
            <a:rect l="l" t="t" r="r" b="b"/>
            <a:pathLst>
              <a:path w="128588" h="171450">
                <a:moveTo>
                  <a:pt x="0" y="21431"/>
                </a:moveTo>
                <a:cubicBezTo>
                  <a:pt x="0" y="9611"/>
                  <a:pt x="9611" y="0"/>
                  <a:pt x="21431" y="0"/>
                </a:cubicBezTo>
                <a:lnTo>
                  <a:pt x="71493" y="0"/>
                </a:lnTo>
                <a:cubicBezTo>
                  <a:pt x="77186" y="0"/>
                  <a:pt x="82644" y="2244"/>
                  <a:pt x="86663" y="6262"/>
                </a:cubicBezTo>
                <a:lnTo>
                  <a:pt x="122326" y="41958"/>
                </a:lnTo>
                <a:cubicBezTo>
                  <a:pt x="126344" y="45977"/>
                  <a:pt x="128588" y="51435"/>
                  <a:pt x="128588" y="57128"/>
                </a:cubicBezTo>
                <a:lnTo>
                  <a:pt x="128588" y="150019"/>
                </a:lnTo>
                <a:cubicBezTo>
                  <a:pt x="128588" y="161839"/>
                  <a:pt x="118977" y="171450"/>
                  <a:pt x="107156" y="171450"/>
                </a:cubicBezTo>
                <a:lnTo>
                  <a:pt x="21431" y="171450"/>
                </a:lnTo>
                <a:cubicBezTo>
                  <a:pt x="9611" y="171450"/>
                  <a:pt x="0" y="161839"/>
                  <a:pt x="0" y="150019"/>
                </a:cubicBezTo>
                <a:lnTo>
                  <a:pt x="0" y="21431"/>
                </a:lnTo>
                <a:close/>
                <a:moveTo>
                  <a:pt x="69652" y="19590"/>
                </a:moveTo>
                <a:lnTo>
                  <a:pt x="69652" y="50899"/>
                </a:lnTo>
                <a:cubicBezTo>
                  <a:pt x="69652" y="55353"/>
                  <a:pt x="73235" y="58936"/>
                  <a:pt x="77688" y="58936"/>
                </a:cubicBezTo>
                <a:lnTo>
                  <a:pt x="108998" y="58936"/>
                </a:lnTo>
                <a:lnTo>
                  <a:pt x="69652" y="19590"/>
                </a:lnTo>
                <a:close/>
                <a:moveTo>
                  <a:pt x="29468" y="21431"/>
                </a:moveTo>
                <a:cubicBezTo>
                  <a:pt x="25014" y="21431"/>
                  <a:pt x="21431" y="25014"/>
                  <a:pt x="21431" y="29468"/>
                </a:cubicBezTo>
                <a:cubicBezTo>
                  <a:pt x="21431" y="33922"/>
                  <a:pt x="25014" y="37505"/>
                  <a:pt x="29468" y="37505"/>
                </a:cubicBezTo>
                <a:lnTo>
                  <a:pt x="45541" y="37505"/>
                </a:lnTo>
                <a:cubicBezTo>
                  <a:pt x="49995" y="37505"/>
                  <a:pt x="53578" y="33922"/>
                  <a:pt x="53578" y="29468"/>
                </a:cubicBezTo>
                <a:cubicBezTo>
                  <a:pt x="53578" y="25014"/>
                  <a:pt x="49995" y="21431"/>
                  <a:pt x="45541" y="21431"/>
                </a:cubicBezTo>
                <a:lnTo>
                  <a:pt x="29468" y="21431"/>
                </a:lnTo>
                <a:close/>
                <a:moveTo>
                  <a:pt x="29468" y="53578"/>
                </a:moveTo>
                <a:cubicBezTo>
                  <a:pt x="25014" y="53578"/>
                  <a:pt x="21431" y="57161"/>
                  <a:pt x="21431" y="61615"/>
                </a:cubicBezTo>
                <a:cubicBezTo>
                  <a:pt x="21431" y="66069"/>
                  <a:pt x="25014" y="69652"/>
                  <a:pt x="29468" y="69652"/>
                </a:cubicBezTo>
                <a:lnTo>
                  <a:pt x="45541" y="69652"/>
                </a:lnTo>
                <a:cubicBezTo>
                  <a:pt x="49995" y="69652"/>
                  <a:pt x="53578" y="66069"/>
                  <a:pt x="53578" y="61615"/>
                </a:cubicBezTo>
                <a:cubicBezTo>
                  <a:pt x="53578" y="57161"/>
                  <a:pt x="49995" y="53578"/>
                  <a:pt x="45541" y="53578"/>
                </a:cubicBezTo>
                <a:lnTo>
                  <a:pt x="29468" y="53578"/>
                </a:lnTo>
                <a:close/>
                <a:moveTo>
                  <a:pt x="53009" y="107156"/>
                </a:moveTo>
                <a:cubicBezTo>
                  <a:pt x="49225" y="107156"/>
                  <a:pt x="45675" y="108864"/>
                  <a:pt x="43331" y="111811"/>
                </a:cubicBezTo>
                <a:lnTo>
                  <a:pt x="23206" y="136959"/>
                </a:lnTo>
                <a:cubicBezTo>
                  <a:pt x="20427" y="140408"/>
                  <a:pt x="20996" y="145498"/>
                  <a:pt x="24445" y="148244"/>
                </a:cubicBezTo>
                <a:cubicBezTo>
                  <a:pt x="27894" y="150990"/>
                  <a:pt x="32984" y="150454"/>
                  <a:pt x="35730" y="146971"/>
                </a:cubicBezTo>
                <a:lnTo>
                  <a:pt x="51502" y="127282"/>
                </a:lnTo>
                <a:lnTo>
                  <a:pt x="56592" y="144259"/>
                </a:lnTo>
                <a:cubicBezTo>
                  <a:pt x="57596" y="147675"/>
                  <a:pt x="60744" y="149985"/>
                  <a:pt x="64294" y="149985"/>
                </a:cubicBezTo>
                <a:lnTo>
                  <a:pt x="99120" y="149985"/>
                </a:lnTo>
                <a:cubicBezTo>
                  <a:pt x="103573" y="149985"/>
                  <a:pt x="107156" y="146402"/>
                  <a:pt x="107156" y="141949"/>
                </a:cubicBezTo>
                <a:cubicBezTo>
                  <a:pt x="107156" y="137495"/>
                  <a:pt x="103573" y="133912"/>
                  <a:pt x="99120" y="133912"/>
                </a:cubicBezTo>
                <a:lnTo>
                  <a:pt x="70288" y="133912"/>
                </a:lnTo>
                <a:lnTo>
                  <a:pt x="64897" y="115963"/>
                </a:lnTo>
                <a:cubicBezTo>
                  <a:pt x="63323" y="110706"/>
                  <a:pt x="58501" y="107123"/>
                  <a:pt x="53009" y="107123"/>
                </a:cubicBezTo>
                <a:close/>
              </a:path>
            </a:pathLst>
          </a:custGeom>
          <a:solidFill>
            <a:srgbClr val="D4A373"/>
          </a:solidFill>
        </p:spPr>
      </p:sp>
      <p:sp>
        <p:nvSpPr>
          <p:cNvPr id="24" name="Text 22"/>
          <p:cNvSpPr/>
          <p:nvPr/>
        </p:nvSpPr>
        <p:spPr>
          <a:xfrm>
            <a:off x="762000" y="3476625"/>
            <a:ext cx="327660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0F0F0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政策框架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61975" y="3857625"/>
            <a:ext cx="3390900" cy="609600"/>
          </a:xfrm>
          <a:custGeom>
            <a:avLst/>
            <a:gdLst/>
            <a:ahLst/>
            <a:cxnLst/>
            <a:rect l="l" t="t" r="r" b="b"/>
            <a:pathLst>
              <a:path w="3390900" h="609600">
                <a:moveTo>
                  <a:pt x="38100" y="0"/>
                </a:moveTo>
                <a:lnTo>
                  <a:pt x="3352800" y="0"/>
                </a:lnTo>
                <a:cubicBezTo>
                  <a:pt x="3373828" y="0"/>
                  <a:pt x="3390900" y="17072"/>
                  <a:pt x="3390900" y="38100"/>
                </a:cubicBezTo>
                <a:lnTo>
                  <a:pt x="3390900" y="571500"/>
                </a:lnTo>
                <a:cubicBezTo>
                  <a:pt x="3390900" y="592528"/>
                  <a:pt x="3373828" y="609600"/>
                  <a:pt x="3352800" y="609600"/>
                </a:cubicBezTo>
                <a:lnTo>
                  <a:pt x="38100" y="609600"/>
                </a:lnTo>
                <a:cubicBezTo>
                  <a:pt x="17072" y="609600"/>
                  <a:pt x="0" y="592528"/>
                  <a:pt x="0" y="5715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</p:spPr>
      </p:sp>
      <p:sp>
        <p:nvSpPr>
          <p:cNvPr id="26" name="Shape 24"/>
          <p:cNvSpPr/>
          <p:nvPr/>
        </p:nvSpPr>
        <p:spPr>
          <a:xfrm>
            <a:off x="561975" y="3857625"/>
            <a:ext cx="38100" cy="609600"/>
          </a:xfrm>
          <a:custGeom>
            <a:avLst/>
            <a:gdLst/>
            <a:ahLst/>
            <a:cxnLst/>
            <a:rect l="l" t="t" r="r" b="b"/>
            <a:pathLst>
              <a:path w="38100" h="609600">
                <a:moveTo>
                  <a:pt x="38100" y="0"/>
                </a:moveTo>
                <a:lnTo>
                  <a:pt x="38100" y="0"/>
                </a:lnTo>
                <a:lnTo>
                  <a:pt x="38100" y="609600"/>
                </a:lnTo>
                <a:lnTo>
                  <a:pt x="38100" y="609600"/>
                </a:lnTo>
                <a:cubicBezTo>
                  <a:pt x="17072" y="609600"/>
                  <a:pt x="0" y="592528"/>
                  <a:pt x="0" y="5715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4A373"/>
          </a:solidFill>
        </p:spPr>
      </p:sp>
      <p:sp>
        <p:nvSpPr>
          <p:cNvPr id="27" name="Text 25"/>
          <p:cNvSpPr/>
          <p:nvPr/>
        </p:nvSpPr>
        <p:spPr>
          <a:xfrm>
            <a:off x="657225" y="3933825"/>
            <a:ext cx="32956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0F0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NEM 3.0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57225" y="4162425"/>
            <a:ext cx="32956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配额1700MW工商业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561975" y="4543425"/>
            <a:ext cx="3390900" cy="609600"/>
          </a:xfrm>
          <a:custGeom>
            <a:avLst/>
            <a:gdLst/>
            <a:ahLst/>
            <a:cxnLst/>
            <a:rect l="l" t="t" r="r" b="b"/>
            <a:pathLst>
              <a:path w="3390900" h="609600">
                <a:moveTo>
                  <a:pt x="38100" y="0"/>
                </a:moveTo>
                <a:lnTo>
                  <a:pt x="3352800" y="0"/>
                </a:lnTo>
                <a:cubicBezTo>
                  <a:pt x="3373828" y="0"/>
                  <a:pt x="3390900" y="17072"/>
                  <a:pt x="3390900" y="38100"/>
                </a:cubicBezTo>
                <a:lnTo>
                  <a:pt x="3390900" y="571500"/>
                </a:lnTo>
                <a:cubicBezTo>
                  <a:pt x="3390900" y="592528"/>
                  <a:pt x="3373828" y="609600"/>
                  <a:pt x="3352800" y="609600"/>
                </a:cubicBezTo>
                <a:lnTo>
                  <a:pt x="38100" y="609600"/>
                </a:lnTo>
                <a:cubicBezTo>
                  <a:pt x="17072" y="609600"/>
                  <a:pt x="0" y="592528"/>
                  <a:pt x="0" y="5715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</p:spPr>
      </p:sp>
      <p:sp>
        <p:nvSpPr>
          <p:cNvPr id="30" name="Shape 28"/>
          <p:cNvSpPr/>
          <p:nvPr/>
        </p:nvSpPr>
        <p:spPr>
          <a:xfrm>
            <a:off x="561975" y="4543425"/>
            <a:ext cx="38100" cy="609600"/>
          </a:xfrm>
          <a:custGeom>
            <a:avLst/>
            <a:gdLst/>
            <a:ahLst/>
            <a:cxnLst/>
            <a:rect l="l" t="t" r="r" b="b"/>
            <a:pathLst>
              <a:path w="38100" h="609600">
                <a:moveTo>
                  <a:pt x="38100" y="0"/>
                </a:moveTo>
                <a:lnTo>
                  <a:pt x="38100" y="0"/>
                </a:lnTo>
                <a:lnTo>
                  <a:pt x="38100" y="609600"/>
                </a:lnTo>
                <a:lnTo>
                  <a:pt x="38100" y="609600"/>
                </a:lnTo>
                <a:cubicBezTo>
                  <a:pt x="17072" y="609600"/>
                  <a:pt x="0" y="592528"/>
                  <a:pt x="0" y="5715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6C8C"/>
          </a:solidFill>
        </p:spPr>
      </p:sp>
      <p:sp>
        <p:nvSpPr>
          <p:cNvPr id="31" name="Text 29"/>
          <p:cNvSpPr/>
          <p:nvPr/>
        </p:nvSpPr>
        <p:spPr>
          <a:xfrm>
            <a:off x="657225" y="4619625"/>
            <a:ext cx="32956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0F0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Solar ATAP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57225" y="4848225"/>
            <a:ext cx="32956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2025年12月推出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561975" y="5229225"/>
            <a:ext cx="3390900" cy="609600"/>
          </a:xfrm>
          <a:custGeom>
            <a:avLst/>
            <a:gdLst/>
            <a:ahLst/>
            <a:cxnLst/>
            <a:rect l="l" t="t" r="r" b="b"/>
            <a:pathLst>
              <a:path w="3390900" h="609600">
                <a:moveTo>
                  <a:pt x="38100" y="0"/>
                </a:moveTo>
                <a:lnTo>
                  <a:pt x="3352800" y="0"/>
                </a:lnTo>
                <a:cubicBezTo>
                  <a:pt x="3373828" y="0"/>
                  <a:pt x="3390900" y="17072"/>
                  <a:pt x="3390900" y="38100"/>
                </a:cubicBezTo>
                <a:lnTo>
                  <a:pt x="3390900" y="571500"/>
                </a:lnTo>
                <a:cubicBezTo>
                  <a:pt x="3390900" y="592528"/>
                  <a:pt x="3373828" y="609600"/>
                  <a:pt x="3352800" y="609600"/>
                </a:cubicBezTo>
                <a:lnTo>
                  <a:pt x="38100" y="609600"/>
                </a:lnTo>
                <a:cubicBezTo>
                  <a:pt x="17072" y="609600"/>
                  <a:pt x="0" y="592528"/>
                  <a:pt x="0" y="5715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</p:spPr>
      </p:sp>
      <p:sp>
        <p:nvSpPr>
          <p:cNvPr id="34" name="Shape 32"/>
          <p:cNvSpPr/>
          <p:nvPr/>
        </p:nvSpPr>
        <p:spPr>
          <a:xfrm>
            <a:off x="561975" y="5229225"/>
            <a:ext cx="38100" cy="609600"/>
          </a:xfrm>
          <a:custGeom>
            <a:avLst/>
            <a:gdLst/>
            <a:ahLst/>
            <a:cxnLst/>
            <a:rect l="l" t="t" r="r" b="b"/>
            <a:pathLst>
              <a:path w="38100" h="609600">
                <a:moveTo>
                  <a:pt x="38100" y="0"/>
                </a:moveTo>
                <a:lnTo>
                  <a:pt x="38100" y="0"/>
                </a:lnTo>
                <a:lnTo>
                  <a:pt x="38100" y="609600"/>
                </a:lnTo>
                <a:lnTo>
                  <a:pt x="38100" y="609600"/>
                </a:lnTo>
                <a:cubicBezTo>
                  <a:pt x="17072" y="609600"/>
                  <a:pt x="0" y="592528"/>
                  <a:pt x="0" y="5715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D99AE"/>
          </a:solidFill>
        </p:spPr>
      </p:sp>
      <p:sp>
        <p:nvSpPr>
          <p:cNvPr id="35" name="Text 33"/>
          <p:cNvSpPr/>
          <p:nvPr/>
        </p:nvSpPr>
        <p:spPr>
          <a:xfrm>
            <a:off x="657225" y="5305425"/>
            <a:ext cx="32956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0F0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MyBeST招标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57225" y="5534025"/>
            <a:ext cx="32956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400MW/1600MWh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561975" y="5915025"/>
            <a:ext cx="3390900" cy="609600"/>
          </a:xfrm>
          <a:custGeom>
            <a:avLst/>
            <a:gdLst/>
            <a:ahLst/>
            <a:cxnLst/>
            <a:rect l="l" t="t" r="r" b="b"/>
            <a:pathLst>
              <a:path w="3390900" h="609600">
                <a:moveTo>
                  <a:pt x="38100" y="0"/>
                </a:moveTo>
                <a:lnTo>
                  <a:pt x="3352800" y="0"/>
                </a:lnTo>
                <a:cubicBezTo>
                  <a:pt x="3373828" y="0"/>
                  <a:pt x="3390900" y="17072"/>
                  <a:pt x="3390900" y="38100"/>
                </a:cubicBezTo>
                <a:lnTo>
                  <a:pt x="3390900" y="571500"/>
                </a:lnTo>
                <a:cubicBezTo>
                  <a:pt x="3390900" y="592528"/>
                  <a:pt x="3373828" y="609600"/>
                  <a:pt x="3352800" y="609600"/>
                </a:cubicBezTo>
                <a:lnTo>
                  <a:pt x="38100" y="609600"/>
                </a:lnTo>
                <a:cubicBezTo>
                  <a:pt x="17072" y="609600"/>
                  <a:pt x="0" y="592528"/>
                  <a:pt x="0" y="5715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</p:spPr>
      </p:sp>
      <p:sp>
        <p:nvSpPr>
          <p:cNvPr id="38" name="Shape 36"/>
          <p:cNvSpPr/>
          <p:nvPr/>
        </p:nvSpPr>
        <p:spPr>
          <a:xfrm>
            <a:off x="561975" y="5915025"/>
            <a:ext cx="38100" cy="609600"/>
          </a:xfrm>
          <a:custGeom>
            <a:avLst/>
            <a:gdLst/>
            <a:ahLst/>
            <a:cxnLst/>
            <a:rect l="l" t="t" r="r" b="b"/>
            <a:pathLst>
              <a:path w="38100" h="609600">
                <a:moveTo>
                  <a:pt x="38100" y="0"/>
                </a:moveTo>
                <a:lnTo>
                  <a:pt x="38100" y="0"/>
                </a:lnTo>
                <a:lnTo>
                  <a:pt x="38100" y="609600"/>
                </a:lnTo>
                <a:lnTo>
                  <a:pt x="38100" y="609600"/>
                </a:lnTo>
                <a:cubicBezTo>
                  <a:pt x="17072" y="609600"/>
                  <a:pt x="0" y="592528"/>
                  <a:pt x="0" y="5715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6C8C"/>
          </a:solidFill>
        </p:spPr>
      </p:sp>
      <p:sp>
        <p:nvSpPr>
          <p:cNvPr id="39" name="Text 37"/>
          <p:cNvSpPr/>
          <p:nvPr/>
        </p:nvSpPr>
        <p:spPr>
          <a:xfrm>
            <a:off x="657225" y="5991225"/>
            <a:ext cx="32956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0F0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LSS6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57225" y="6219825"/>
            <a:ext cx="32956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2GW强制配储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4233863" y="3319463"/>
            <a:ext cx="3724275" cy="3362325"/>
          </a:xfrm>
          <a:custGeom>
            <a:avLst/>
            <a:gdLst/>
            <a:ahLst/>
            <a:cxnLst/>
            <a:rect l="l" t="t" r="r" b="b"/>
            <a:pathLst>
              <a:path w="3724275" h="3362325">
                <a:moveTo>
                  <a:pt x="76190" y="0"/>
                </a:moveTo>
                <a:lnTo>
                  <a:pt x="3648085" y="0"/>
                </a:lnTo>
                <a:cubicBezTo>
                  <a:pt x="3690135" y="0"/>
                  <a:pt x="3724275" y="34140"/>
                  <a:pt x="3724275" y="76190"/>
                </a:cubicBezTo>
                <a:lnTo>
                  <a:pt x="3724275" y="3286135"/>
                </a:lnTo>
                <a:cubicBezTo>
                  <a:pt x="3724275" y="3328185"/>
                  <a:pt x="3690135" y="3362325"/>
                  <a:pt x="3648085" y="3362325"/>
                </a:cubicBezTo>
                <a:lnTo>
                  <a:pt x="76190" y="3362325"/>
                </a:lnTo>
                <a:cubicBezTo>
                  <a:pt x="34140" y="3362325"/>
                  <a:pt x="0" y="3328185"/>
                  <a:pt x="0" y="3286135"/>
                </a:cubicBezTo>
                <a:lnTo>
                  <a:pt x="0" y="76190"/>
                </a:lnTo>
                <a:cubicBezTo>
                  <a:pt x="0" y="34112"/>
                  <a:pt x="34112" y="0"/>
                  <a:pt x="76190" y="0"/>
                </a:cubicBezTo>
                <a:close/>
              </a:path>
            </a:pathLst>
          </a:custGeom>
          <a:gradFill flip="none" rotWithShape="1">
            <a:gsLst>
              <a:gs pos="0">
                <a:srgbClr val="8D99AE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12700">
            <a:solidFill>
              <a:srgbClr val="8D99AE">
                <a:alpha val="40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414838" y="3524250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42863" y="107156"/>
                </a:moveTo>
                <a:lnTo>
                  <a:pt x="8204" y="107156"/>
                </a:lnTo>
                <a:cubicBezTo>
                  <a:pt x="-134" y="107156"/>
                  <a:pt x="-5257" y="98081"/>
                  <a:pt x="-971" y="90915"/>
                </a:cubicBezTo>
                <a:lnTo>
                  <a:pt x="16743" y="61380"/>
                </a:lnTo>
                <a:cubicBezTo>
                  <a:pt x="19656" y="56525"/>
                  <a:pt x="24880" y="53578"/>
                  <a:pt x="30540" y="53578"/>
                </a:cubicBezTo>
                <a:lnTo>
                  <a:pt x="62352" y="53578"/>
                </a:lnTo>
                <a:cubicBezTo>
                  <a:pt x="87835" y="10414"/>
                  <a:pt x="125842" y="8238"/>
                  <a:pt x="151258" y="11955"/>
                </a:cubicBezTo>
                <a:cubicBezTo>
                  <a:pt x="155544" y="12591"/>
                  <a:pt x="158893" y="15939"/>
                  <a:pt x="159495" y="20192"/>
                </a:cubicBezTo>
                <a:cubicBezTo>
                  <a:pt x="163212" y="45608"/>
                  <a:pt x="161036" y="83615"/>
                  <a:pt x="117872" y="109098"/>
                </a:cubicBezTo>
                <a:lnTo>
                  <a:pt x="117872" y="140910"/>
                </a:lnTo>
                <a:cubicBezTo>
                  <a:pt x="117872" y="146570"/>
                  <a:pt x="114925" y="151794"/>
                  <a:pt x="110070" y="154707"/>
                </a:cubicBezTo>
                <a:lnTo>
                  <a:pt x="80535" y="172421"/>
                </a:lnTo>
                <a:cubicBezTo>
                  <a:pt x="73402" y="176707"/>
                  <a:pt x="64294" y="171550"/>
                  <a:pt x="64294" y="163246"/>
                </a:cubicBezTo>
                <a:lnTo>
                  <a:pt x="64294" y="128588"/>
                </a:lnTo>
                <a:cubicBezTo>
                  <a:pt x="64294" y="116767"/>
                  <a:pt x="54683" y="107156"/>
                  <a:pt x="42863" y="107156"/>
                </a:cubicBezTo>
                <a:lnTo>
                  <a:pt x="42829" y="107156"/>
                </a:lnTo>
                <a:close/>
                <a:moveTo>
                  <a:pt x="133945" y="53578"/>
                </a:moveTo>
                <a:cubicBezTo>
                  <a:pt x="133945" y="44707"/>
                  <a:pt x="126743" y="37505"/>
                  <a:pt x="117872" y="37505"/>
                </a:cubicBezTo>
                <a:cubicBezTo>
                  <a:pt x="109001" y="37505"/>
                  <a:pt x="101798" y="44707"/>
                  <a:pt x="101798" y="53578"/>
                </a:cubicBezTo>
                <a:cubicBezTo>
                  <a:pt x="101798" y="62449"/>
                  <a:pt x="109001" y="69652"/>
                  <a:pt x="117872" y="69652"/>
                </a:cubicBezTo>
                <a:cubicBezTo>
                  <a:pt x="126743" y="69652"/>
                  <a:pt x="133945" y="62449"/>
                  <a:pt x="133945" y="53578"/>
                </a:cubicBezTo>
                <a:close/>
              </a:path>
            </a:pathLst>
          </a:custGeom>
          <a:solidFill>
            <a:srgbClr val="8D99AE"/>
          </a:solidFill>
        </p:spPr>
      </p:sp>
      <p:sp>
        <p:nvSpPr>
          <p:cNvPr id="43" name="Text 41"/>
          <p:cNvSpPr/>
          <p:nvPr/>
        </p:nvSpPr>
        <p:spPr>
          <a:xfrm>
            <a:off x="4610100" y="3476625"/>
            <a:ext cx="327660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0F0F0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市场驱动因素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4391025" y="3857625"/>
            <a:ext cx="3409950" cy="609600"/>
          </a:xfrm>
          <a:custGeom>
            <a:avLst/>
            <a:gdLst/>
            <a:ahLst/>
            <a:cxnLst/>
            <a:rect l="l" t="t" r="r" b="b"/>
            <a:pathLst>
              <a:path w="3409950" h="609600">
                <a:moveTo>
                  <a:pt x="38100" y="0"/>
                </a:moveTo>
                <a:lnTo>
                  <a:pt x="3371850" y="0"/>
                </a:lnTo>
                <a:cubicBezTo>
                  <a:pt x="3392878" y="0"/>
                  <a:pt x="3409950" y="17072"/>
                  <a:pt x="3409950" y="38100"/>
                </a:cubicBezTo>
                <a:lnTo>
                  <a:pt x="3409950" y="571500"/>
                </a:lnTo>
                <a:cubicBezTo>
                  <a:pt x="3409950" y="592528"/>
                  <a:pt x="3392878" y="609600"/>
                  <a:pt x="3371850" y="609600"/>
                </a:cubicBezTo>
                <a:lnTo>
                  <a:pt x="38100" y="609600"/>
                </a:lnTo>
                <a:cubicBezTo>
                  <a:pt x="17072" y="609600"/>
                  <a:pt x="0" y="592528"/>
                  <a:pt x="0" y="5715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</p:spPr>
      </p:sp>
      <p:sp>
        <p:nvSpPr>
          <p:cNvPr id="45" name="Shape 43"/>
          <p:cNvSpPr/>
          <p:nvPr/>
        </p:nvSpPr>
        <p:spPr>
          <a:xfrm>
            <a:off x="4495800" y="396240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9050" y="9525"/>
                </a:moveTo>
                <a:cubicBezTo>
                  <a:pt x="8543" y="9525"/>
                  <a:pt x="0" y="18068"/>
                  <a:pt x="0" y="28575"/>
                </a:cubicBezTo>
                <a:lnTo>
                  <a:pt x="0" y="47625"/>
                </a:lnTo>
                <a:cubicBezTo>
                  <a:pt x="0" y="58132"/>
                  <a:pt x="8543" y="66675"/>
                  <a:pt x="19050" y="66675"/>
                </a:cubicBezTo>
                <a:lnTo>
                  <a:pt x="114300" y="66675"/>
                </a:lnTo>
                <a:cubicBezTo>
                  <a:pt x="124807" y="66675"/>
                  <a:pt x="133350" y="58132"/>
                  <a:pt x="133350" y="47625"/>
                </a:cubicBezTo>
                <a:lnTo>
                  <a:pt x="133350" y="28575"/>
                </a:lnTo>
                <a:cubicBezTo>
                  <a:pt x="133350" y="18068"/>
                  <a:pt x="124807" y="9525"/>
                  <a:pt x="114300" y="9525"/>
                </a:cubicBezTo>
                <a:lnTo>
                  <a:pt x="19050" y="9525"/>
                </a:lnTo>
                <a:close/>
                <a:moveTo>
                  <a:pt x="83344" y="30956"/>
                </a:moveTo>
                <a:cubicBezTo>
                  <a:pt x="87286" y="30956"/>
                  <a:pt x="90488" y="34157"/>
                  <a:pt x="90488" y="38100"/>
                </a:cubicBezTo>
                <a:cubicBezTo>
                  <a:pt x="90488" y="42043"/>
                  <a:pt x="87286" y="45244"/>
                  <a:pt x="83344" y="45244"/>
                </a:cubicBezTo>
                <a:cubicBezTo>
                  <a:pt x="79401" y="45244"/>
                  <a:pt x="76200" y="42043"/>
                  <a:pt x="76200" y="38100"/>
                </a:cubicBezTo>
                <a:cubicBezTo>
                  <a:pt x="76200" y="34157"/>
                  <a:pt x="79401" y="30956"/>
                  <a:pt x="83344" y="30956"/>
                </a:cubicBezTo>
                <a:close/>
                <a:moveTo>
                  <a:pt x="100013" y="38100"/>
                </a:moveTo>
                <a:cubicBezTo>
                  <a:pt x="100013" y="34157"/>
                  <a:pt x="103214" y="30956"/>
                  <a:pt x="107156" y="30956"/>
                </a:cubicBezTo>
                <a:cubicBezTo>
                  <a:pt x="111099" y="30956"/>
                  <a:pt x="114300" y="34157"/>
                  <a:pt x="114300" y="38100"/>
                </a:cubicBezTo>
                <a:cubicBezTo>
                  <a:pt x="114300" y="42043"/>
                  <a:pt x="111099" y="45244"/>
                  <a:pt x="107156" y="45244"/>
                </a:cubicBezTo>
                <a:cubicBezTo>
                  <a:pt x="103214" y="45244"/>
                  <a:pt x="100013" y="42043"/>
                  <a:pt x="100013" y="38100"/>
                </a:cubicBezTo>
                <a:close/>
                <a:moveTo>
                  <a:pt x="19050" y="85725"/>
                </a:moveTo>
                <a:cubicBezTo>
                  <a:pt x="8543" y="85725"/>
                  <a:pt x="0" y="94268"/>
                  <a:pt x="0" y="104775"/>
                </a:cubicBezTo>
                <a:lnTo>
                  <a:pt x="0" y="123825"/>
                </a:lnTo>
                <a:cubicBezTo>
                  <a:pt x="0" y="134332"/>
                  <a:pt x="8543" y="142875"/>
                  <a:pt x="19050" y="142875"/>
                </a:cubicBezTo>
                <a:lnTo>
                  <a:pt x="114300" y="142875"/>
                </a:lnTo>
                <a:cubicBezTo>
                  <a:pt x="124807" y="142875"/>
                  <a:pt x="133350" y="134332"/>
                  <a:pt x="133350" y="123825"/>
                </a:cubicBezTo>
                <a:lnTo>
                  <a:pt x="133350" y="104775"/>
                </a:lnTo>
                <a:cubicBezTo>
                  <a:pt x="133350" y="94268"/>
                  <a:pt x="124807" y="85725"/>
                  <a:pt x="114300" y="85725"/>
                </a:cubicBezTo>
                <a:lnTo>
                  <a:pt x="19050" y="85725"/>
                </a:lnTo>
                <a:close/>
                <a:moveTo>
                  <a:pt x="83344" y="107156"/>
                </a:moveTo>
                <a:cubicBezTo>
                  <a:pt x="87286" y="107156"/>
                  <a:pt x="90488" y="110357"/>
                  <a:pt x="90488" y="114300"/>
                </a:cubicBezTo>
                <a:cubicBezTo>
                  <a:pt x="90488" y="118243"/>
                  <a:pt x="87286" y="121444"/>
                  <a:pt x="83344" y="121444"/>
                </a:cubicBezTo>
                <a:cubicBezTo>
                  <a:pt x="79401" y="121444"/>
                  <a:pt x="76200" y="118243"/>
                  <a:pt x="76200" y="114300"/>
                </a:cubicBezTo>
                <a:cubicBezTo>
                  <a:pt x="76200" y="110357"/>
                  <a:pt x="79401" y="107156"/>
                  <a:pt x="83344" y="107156"/>
                </a:cubicBezTo>
                <a:close/>
                <a:moveTo>
                  <a:pt x="100013" y="114300"/>
                </a:moveTo>
                <a:cubicBezTo>
                  <a:pt x="100013" y="110357"/>
                  <a:pt x="103214" y="107156"/>
                  <a:pt x="107156" y="107156"/>
                </a:cubicBezTo>
                <a:cubicBezTo>
                  <a:pt x="111099" y="107156"/>
                  <a:pt x="114300" y="110357"/>
                  <a:pt x="114300" y="114300"/>
                </a:cubicBezTo>
                <a:cubicBezTo>
                  <a:pt x="114300" y="118243"/>
                  <a:pt x="111099" y="121444"/>
                  <a:pt x="107156" y="121444"/>
                </a:cubicBezTo>
                <a:cubicBezTo>
                  <a:pt x="103214" y="121444"/>
                  <a:pt x="100013" y="118243"/>
                  <a:pt x="100013" y="114300"/>
                </a:cubicBezTo>
                <a:close/>
              </a:path>
            </a:pathLst>
          </a:custGeom>
          <a:solidFill>
            <a:srgbClr val="D4A373"/>
          </a:solidFill>
        </p:spPr>
      </p:sp>
      <p:sp>
        <p:nvSpPr>
          <p:cNvPr id="46" name="Text 44"/>
          <p:cNvSpPr/>
          <p:nvPr/>
        </p:nvSpPr>
        <p:spPr>
          <a:xfrm>
            <a:off x="4714875" y="3933825"/>
            <a:ext cx="30861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0F0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数据中心产业爆发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4467225" y="4162425"/>
            <a:ext cx="33337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49个项目，710万千瓦负荷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4391025" y="4543425"/>
            <a:ext cx="3409950" cy="609600"/>
          </a:xfrm>
          <a:custGeom>
            <a:avLst/>
            <a:gdLst/>
            <a:ahLst/>
            <a:cxnLst/>
            <a:rect l="l" t="t" r="r" b="b"/>
            <a:pathLst>
              <a:path w="3409950" h="609600">
                <a:moveTo>
                  <a:pt x="38100" y="0"/>
                </a:moveTo>
                <a:lnTo>
                  <a:pt x="3371850" y="0"/>
                </a:lnTo>
                <a:cubicBezTo>
                  <a:pt x="3392878" y="0"/>
                  <a:pt x="3409950" y="17072"/>
                  <a:pt x="3409950" y="38100"/>
                </a:cubicBezTo>
                <a:lnTo>
                  <a:pt x="3409950" y="571500"/>
                </a:lnTo>
                <a:cubicBezTo>
                  <a:pt x="3409950" y="592528"/>
                  <a:pt x="3392878" y="609600"/>
                  <a:pt x="3371850" y="609600"/>
                </a:cubicBezTo>
                <a:lnTo>
                  <a:pt x="38100" y="609600"/>
                </a:lnTo>
                <a:cubicBezTo>
                  <a:pt x="17072" y="609600"/>
                  <a:pt x="0" y="592528"/>
                  <a:pt x="0" y="5715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</p:spPr>
      </p:sp>
      <p:sp>
        <p:nvSpPr>
          <p:cNvPr id="49" name="Shape 47"/>
          <p:cNvSpPr/>
          <p:nvPr/>
        </p:nvSpPr>
        <p:spPr>
          <a:xfrm>
            <a:off x="4486275" y="46482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40285" y="1994"/>
                </a:moveTo>
                <a:cubicBezTo>
                  <a:pt x="142190" y="179"/>
                  <a:pt x="144959" y="-476"/>
                  <a:pt x="147518" y="357"/>
                </a:cubicBezTo>
                <a:cubicBezTo>
                  <a:pt x="150435" y="1339"/>
                  <a:pt x="152400" y="4078"/>
                  <a:pt x="152400" y="7144"/>
                </a:cubicBezTo>
                <a:lnTo>
                  <a:pt x="152400" y="62776"/>
                </a:lnTo>
                <a:cubicBezTo>
                  <a:pt x="152400" y="101828"/>
                  <a:pt x="120223" y="133350"/>
                  <a:pt x="81320" y="133350"/>
                </a:cubicBezTo>
                <a:cubicBezTo>
                  <a:pt x="58400" y="133350"/>
                  <a:pt x="38636" y="118616"/>
                  <a:pt x="31462" y="98018"/>
                </a:cubicBezTo>
                <a:cubicBezTo>
                  <a:pt x="20925" y="107186"/>
                  <a:pt x="14287" y="120670"/>
                  <a:pt x="14287" y="135731"/>
                </a:cubicBezTo>
                <a:cubicBezTo>
                  <a:pt x="14287" y="139690"/>
                  <a:pt x="11103" y="142875"/>
                  <a:pt x="7144" y="142875"/>
                </a:cubicBezTo>
                <a:cubicBezTo>
                  <a:pt x="3185" y="142875"/>
                  <a:pt x="0" y="139690"/>
                  <a:pt x="0" y="135731"/>
                </a:cubicBezTo>
                <a:cubicBezTo>
                  <a:pt x="0" y="113437"/>
                  <a:pt x="11370" y="93791"/>
                  <a:pt x="28605" y="82242"/>
                </a:cubicBezTo>
                <a:cubicBezTo>
                  <a:pt x="39112" y="75218"/>
                  <a:pt x="51643" y="71438"/>
                  <a:pt x="64294" y="71438"/>
                </a:cubicBezTo>
                <a:lnTo>
                  <a:pt x="88106" y="71438"/>
                </a:lnTo>
                <a:cubicBezTo>
                  <a:pt x="92065" y="71438"/>
                  <a:pt x="95250" y="68253"/>
                  <a:pt x="95250" y="64294"/>
                </a:cubicBezTo>
                <a:cubicBezTo>
                  <a:pt x="95250" y="60335"/>
                  <a:pt x="92065" y="57150"/>
                  <a:pt x="88106" y="57150"/>
                </a:cubicBezTo>
                <a:lnTo>
                  <a:pt x="64294" y="57150"/>
                </a:lnTo>
                <a:cubicBezTo>
                  <a:pt x="52477" y="57150"/>
                  <a:pt x="41285" y="59769"/>
                  <a:pt x="31254" y="64443"/>
                </a:cubicBezTo>
                <a:cubicBezTo>
                  <a:pt x="38189" y="43607"/>
                  <a:pt x="57805" y="28575"/>
                  <a:pt x="80962" y="28575"/>
                </a:cubicBezTo>
                <a:cubicBezTo>
                  <a:pt x="100727" y="28575"/>
                  <a:pt x="115431" y="21997"/>
                  <a:pt x="125224" y="15478"/>
                </a:cubicBezTo>
                <a:cubicBezTo>
                  <a:pt x="130939" y="11668"/>
                  <a:pt x="135791" y="7114"/>
                  <a:pt x="140315" y="1994"/>
                </a:cubicBezTo>
                <a:close/>
              </a:path>
            </a:pathLst>
          </a:custGeom>
          <a:solidFill>
            <a:srgbClr val="4A6C8C"/>
          </a:solidFill>
        </p:spPr>
      </p:sp>
      <p:sp>
        <p:nvSpPr>
          <p:cNvPr id="50" name="Text 48"/>
          <p:cNvSpPr/>
          <p:nvPr/>
        </p:nvSpPr>
        <p:spPr>
          <a:xfrm>
            <a:off x="4714875" y="4619625"/>
            <a:ext cx="30861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0F0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可再生能源目标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4467225" y="4848225"/>
            <a:ext cx="33337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2025年31% / 2035年40%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4391025" y="5229225"/>
            <a:ext cx="3409950" cy="609600"/>
          </a:xfrm>
          <a:custGeom>
            <a:avLst/>
            <a:gdLst/>
            <a:ahLst/>
            <a:cxnLst/>
            <a:rect l="l" t="t" r="r" b="b"/>
            <a:pathLst>
              <a:path w="3409950" h="609600">
                <a:moveTo>
                  <a:pt x="38100" y="0"/>
                </a:moveTo>
                <a:lnTo>
                  <a:pt x="3371850" y="0"/>
                </a:lnTo>
                <a:cubicBezTo>
                  <a:pt x="3392878" y="0"/>
                  <a:pt x="3409950" y="17072"/>
                  <a:pt x="3409950" y="38100"/>
                </a:cubicBezTo>
                <a:lnTo>
                  <a:pt x="3409950" y="571500"/>
                </a:lnTo>
                <a:cubicBezTo>
                  <a:pt x="3409950" y="592528"/>
                  <a:pt x="3392878" y="609600"/>
                  <a:pt x="3371850" y="609600"/>
                </a:cubicBezTo>
                <a:lnTo>
                  <a:pt x="38100" y="609600"/>
                </a:lnTo>
                <a:cubicBezTo>
                  <a:pt x="17072" y="609600"/>
                  <a:pt x="0" y="592528"/>
                  <a:pt x="0" y="5715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</p:spPr>
      </p:sp>
      <p:sp>
        <p:nvSpPr>
          <p:cNvPr id="53" name="Shape 51"/>
          <p:cNvSpPr/>
          <p:nvPr/>
        </p:nvSpPr>
        <p:spPr>
          <a:xfrm>
            <a:off x="4486275" y="53340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9050" y="19050"/>
                </a:moveTo>
                <a:cubicBezTo>
                  <a:pt x="19050" y="13781"/>
                  <a:pt x="14794" y="9525"/>
                  <a:pt x="9525" y="9525"/>
                </a:cubicBezTo>
                <a:cubicBezTo>
                  <a:pt x="4256" y="9525"/>
                  <a:pt x="0" y="13781"/>
                  <a:pt x="0" y="19050"/>
                </a:cubicBezTo>
                <a:lnTo>
                  <a:pt x="0" y="119062"/>
                </a:lnTo>
                <a:cubicBezTo>
                  <a:pt x="0" y="132219"/>
                  <a:pt x="10656" y="142875"/>
                  <a:pt x="23813" y="142875"/>
                </a:cubicBezTo>
                <a:lnTo>
                  <a:pt x="142875" y="142875"/>
                </a:lnTo>
                <a:cubicBezTo>
                  <a:pt x="148144" y="142875"/>
                  <a:pt x="152400" y="138619"/>
                  <a:pt x="152400" y="133350"/>
                </a:cubicBezTo>
                <a:cubicBezTo>
                  <a:pt x="152400" y="128081"/>
                  <a:pt x="148144" y="123825"/>
                  <a:pt x="142875" y="123825"/>
                </a:cubicBezTo>
                <a:lnTo>
                  <a:pt x="23813" y="123825"/>
                </a:lnTo>
                <a:cubicBezTo>
                  <a:pt x="21193" y="123825"/>
                  <a:pt x="19050" y="121682"/>
                  <a:pt x="19050" y="119062"/>
                </a:cubicBezTo>
                <a:lnTo>
                  <a:pt x="19050" y="19050"/>
                </a:lnTo>
                <a:close/>
                <a:moveTo>
                  <a:pt x="140077" y="44827"/>
                </a:moveTo>
                <a:cubicBezTo>
                  <a:pt x="143798" y="41106"/>
                  <a:pt x="143798" y="35064"/>
                  <a:pt x="140077" y="31343"/>
                </a:cubicBezTo>
                <a:cubicBezTo>
                  <a:pt x="136356" y="27622"/>
                  <a:pt x="130314" y="27622"/>
                  <a:pt x="126593" y="31343"/>
                </a:cubicBezTo>
                <a:lnTo>
                  <a:pt x="95250" y="62716"/>
                </a:lnTo>
                <a:lnTo>
                  <a:pt x="78165" y="45660"/>
                </a:lnTo>
                <a:cubicBezTo>
                  <a:pt x="74444" y="41940"/>
                  <a:pt x="68401" y="41940"/>
                  <a:pt x="64681" y="45660"/>
                </a:cubicBezTo>
                <a:lnTo>
                  <a:pt x="36106" y="74235"/>
                </a:lnTo>
                <a:cubicBezTo>
                  <a:pt x="32385" y="77956"/>
                  <a:pt x="32385" y="83999"/>
                  <a:pt x="36106" y="87719"/>
                </a:cubicBezTo>
                <a:cubicBezTo>
                  <a:pt x="39826" y="91440"/>
                  <a:pt x="45869" y="91440"/>
                  <a:pt x="49590" y="87719"/>
                </a:cubicBezTo>
                <a:lnTo>
                  <a:pt x="71438" y="65871"/>
                </a:lnTo>
                <a:lnTo>
                  <a:pt x="88523" y="82957"/>
                </a:lnTo>
                <a:cubicBezTo>
                  <a:pt x="92244" y="86678"/>
                  <a:pt x="98286" y="86678"/>
                  <a:pt x="102007" y="82957"/>
                </a:cubicBezTo>
                <a:lnTo>
                  <a:pt x="140107" y="44857"/>
                </a:lnTo>
                <a:close/>
              </a:path>
            </a:pathLst>
          </a:custGeom>
          <a:solidFill>
            <a:srgbClr val="8D99AE"/>
          </a:solidFill>
        </p:spPr>
      </p:sp>
      <p:sp>
        <p:nvSpPr>
          <p:cNvPr id="54" name="Text 52"/>
          <p:cNvSpPr/>
          <p:nvPr/>
        </p:nvSpPr>
        <p:spPr>
          <a:xfrm>
            <a:off x="4714875" y="5305425"/>
            <a:ext cx="30861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0F0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电价上涨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4467225" y="5534025"/>
            <a:ext cx="33337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工商业电价持续上涨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8081962" y="1185863"/>
            <a:ext cx="3724275" cy="3952875"/>
          </a:xfrm>
          <a:custGeom>
            <a:avLst/>
            <a:gdLst/>
            <a:ahLst/>
            <a:cxnLst/>
            <a:rect l="l" t="t" r="r" b="b"/>
            <a:pathLst>
              <a:path w="3724275" h="3952875">
                <a:moveTo>
                  <a:pt x="76199" y="0"/>
                </a:moveTo>
                <a:lnTo>
                  <a:pt x="3648076" y="0"/>
                </a:lnTo>
                <a:cubicBezTo>
                  <a:pt x="3690160" y="0"/>
                  <a:pt x="3724275" y="34115"/>
                  <a:pt x="3724275" y="76199"/>
                </a:cubicBezTo>
                <a:lnTo>
                  <a:pt x="3724275" y="3876676"/>
                </a:lnTo>
                <a:cubicBezTo>
                  <a:pt x="3724275" y="3918760"/>
                  <a:pt x="3690160" y="3952875"/>
                  <a:pt x="3648076" y="3952875"/>
                </a:cubicBezTo>
                <a:lnTo>
                  <a:pt x="76199" y="3952875"/>
                </a:lnTo>
                <a:cubicBezTo>
                  <a:pt x="34115" y="3952875"/>
                  <a:pt x="0" y="3918760"/>
                  <a:pt x="0" y="3876676"/>
                </a:cubicBezTo>
                <a:lnTo>
                  <a:pt x="0" y="76199"/>
                </a:lnTo>
                <a:cubicBezTo>
                  <a:pt x="0" y="34143"/>
                  <a:pt x="34143" y="0"/>
                  <a:pt x="76199" y="0"/>
                </a:cubicBezTo>
                <a:close/>
              </a:path>
            </a:pathLst>
          </a:custGeom>
          <a:gradFill flip="none" rotWithShape="1">
            <a:gsLst>
              <a:gs pos="0">
                <a:srgbClr val="4A6C8C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12700">
            <a:solidFill>
              <a:srgbClr val="4A6C8C">
                <a:alpha val="40000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8251031" y="1381125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00050" y="31700"/>
                </a:moveTo>
                <a:lnTo>
                  <a:pt x="56666" y="79921"/>
                </a:lnTo>
                <a:cubicBezTo>
                  <a:pt x="54955" y="81818"/>
                  <a:pt x="55029" y="84758"/>
                  <a:pt x="56852" y="86581"/>
                </a:cubicBezTo>
                <a:cubicBezTo>
                  <a:pt x="68200" y="97929"/>
                  <a:pt x="86618" y="97929"/>
                  <a:pt x="97966" y="86581"/>
                </a:cubicBezTo>
                <a:lnTo>
                  <a:pt x="109798" y="74749"/>
                </a:lnTo>
                <a:cubicBezTo>
                  <a:pt x="111361" y="73186"/>
                  <a:pt x="113333" y="72330"/>
                  <a:pt x="115342" y="72182"/>
                </a:cubicBezTo>
                <a:cubicBezTo>
                  <a:pt x="117872" y="71958"/>
                  <a:pt x="120476" y="72814"/>
                  <a:pt x="122411" y="74749"/>
                </a:cubicBezTo>
                <a:lnTo>
                  <a:pt x="188119" y="139898"/>
                </a:lnTo>
                <a:lnTo>
                  <a:pt x="214313" y="119063"/>
                </a:lnTo>
                <a:lnTo>
                  <a:pt x="214313" y="11906"/>
                </a:lnTo>
                <a:lnTo>
                  <a:pt x="172641" y="35719"/>
                </a:lnTo>
                <a:lnTo>
                  <a:pt x="163785" y="29803"/>
                </a:lnTo>
                <a:cubicBezTo>
                  <a:pt x="157907" y="25896"/>
                  <a:pt x="151023" y="23812"/>
                  <a:pt x="143954" y="23812"/>
                </a:cubicBezTo>
                <a:lnTo>
                  <a:pt x="117760" y="23812"/>
                </a:lnTo>
                <a:cubicBezTo>
                  <a:pt x="117351" y="23812"/>
                  <a:pt x="116904" y="23812"/>
                  <a:pt x="116495" y="23850"/>
                </a:cubicBezTo>
                <a:cubicBezTo>
                  <a:pt x="110207" y="24185"/>
                  <a:pt x="104291" y="27012"/>
                  <a:pt x="100050" y="31700"/>
                </a:cubicBezTo>
                <a:close/>
                <a:moveTo>
                  <a:pt x="43383" y="67977"/>
                </a:moveTo>
                <a:lnTo>
                  <a:pt x="83121" y="23812"/>
                </a:lnTo>
                <a:lnTo>
                  <a:pt x="68387" y="23812"/>
                </a:lnTo>
                <a:cubicBezTo>
                  <a:pt x="58899" y="23812"/>
                  <a:pt x="49820" y="27570"/>
                  <a:pt x="43123" y="34268"/>
                </a:cubicBezTo>
                <a:lnTo>
                  <a:pt x="41672" y="35719"/>
                </a:lnTo>
                <a:lnTo>
                  <a:pt x="0" y="11906"/>
                </a:lnTo>
                <a:lnTo>
                  <a:pt x="0" y="119063"/>
                </a:lnTo>
                <a:lnTo>
                  <a:pt x="58192" y="167543"/>
                </a:lnTo>
                <a:cubicBezTo>
                  <a:pt x="66749" y="174687"/>
                  <a:pt x="77539" y="178594"/>
                  <a:pt x="88664" y="178594"/>
                </a:cubicBezTo>
                <a:lnTo>
                  <a:pt x="94506" y="178594"/>
                </a:lnTo>
                <a:lnTo>
                  <a:pt x="91901" y="175989"/>
                </a:lnTo>
                <a:cubicBezTo>
                  <a:pt x="88404" y="172492"/>
                  <a:pt x="88404" y="166836"/>
                  <a:pt x="91901" y="163376"/>
                </a:cubicBezTo>
                <a:cubicBezTo>
                  <a:pt x="95399" y="159916"/>
                  <a:pt x="101054" y="159879"/>
                  <a:pt x="104515" y="163376"/>
                </a:cubicBezTo>
                <a:lnTo>
                  <a:pt x="119769" y="178631"/>
                </a:lnTo>
                <a:lnTo>
                  <a:pt x="123118" y="178631"/>
                </a:lnTo>
                <a:cubicBezTo>
                  <a:pt x="130225" y="178631"/>
                  <a:pt x="137182" y="177031"/>
                  <a:pt x="143508" y="174054"/>
                </a:cubicBezTo>
                <a:lnTo>
                  <a:pt x="133573" y="164083"/>
                </a:lnTo>
                <a:cubicBezTo>
                  <a:pt x="130076" y="160586"/>
                  <a:pt x="130076" y="154930"/>
                  <a:pt x="133573" y="151470"/>
                </a:cubicBezTo>
                <a:cubicBezTo>
                  <a:pt x="137071" y="148010"/>
                  <a:pt x="142726" y="147972"/>
                  <a:pt x="146186" y="151470"/>
                </a:cubicBezTo>
                <a:lnTo>
                  <a:pt x="158093" y="163376"/>
                </a:lnTo>
                <a:lnTo>
                  <a:pt x="164604" y="156865"/>
                </a:lnTo>
                <a:cubicBezTo>
                  <a:pt x="167915" y="153553"/>
                  <a:pt x="168883" y="148754"/>
                  <a:pt x="167432" y="144549"/>
                </a:cubicBezTo>
                <a:lnTo>
                  <a:pt x="116123" y="93650"/>
                </a:lnTo>
                <a:lnTo>
                  <a:pt x="110579" y="99194"/>
                </a:lnTo>
                <a:cubicBezTo>
                  <a:pt x="92236" y="117537"/>
                  <a:pt x="62545" y="117537"/>
                  <a:pt x="44202" y="99194"/>
                </a:cubicBezTo>
                <a:cubicBezTo>
                  <a:pt x="35644" y="90636"/>
                  <a:pt x="35309" y="76907"/>
                  <a:pt x="43383" y="67940"/>
                </a:cubicBezTo>
                <a:close/>
              </a:path>
            </a:pathLst>
          </a:custGeom>
          <a:solidFill>
            <a:srgbClr val="D4A373"/>
          </a:solidFill>
        </p:spPr>
      </p:sp>
      <p:sp>
        <p:nvSpPr>
          <p:cNvPr id="58" name="Text 56"/>
          <p:cNvSpPr/>
          <p:nvPr/>
        </p:nvSpPr>
        <p:spPr>
          <a:xfrm>
            <a:off x="8477250" y="1343025"/>
            <a:ext cx="326707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0F0F0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投资机会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8258175" y="1724025"/>
            <a:ext cx="3390900" cy="704850"/>
          </a:xfrm>
          <a:custGeom>
            <a:avLst/>
            <a:gdLst/>
            <a:ahLst/>
            <a:cxnLst/>
            <a:rect l="l" t="t" r="r" b="b"/>
            <a:pathLst>
              <a:path w="3390900" h="704850">
                <a:moveTo>
                  <a:pt x="38100" y="0"/>
                </a:moveTo>
                <a:lnTo>
                  <a:pt x="3314699" y="0"/>
                </a:lnTo>
                <a:cubicBezTo>
                  <a:pt x="3356784" y="0"/>
                  <a:pt x="3390900" y="34116"/>
                  <a:pt x="3390900" y="76201"/>
                </a:cubicBezTo>
                <a:lnTo>
                  <a:pt x="3390900" y="628649"/>
                </a:lnTo>
                <a:cubicBezTo>
                  <a:pt x="3390900" y="670734"/>
                  <a:pt x="3356784" y="704850"/>
                  <a:pt x="3314699" y="704850"/>
                </a:cubicBezTo>
                <a:lnTo>
                  <a:pt x="38100" y="704850"/>
                </a:lnTo>
                <a:cubicBezTo>
                  <a:pt x="17072" y="704850"/>
                  <a:pt x="0" y="687778"/>
                  <a:pt x="0" y="6667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</p:spPr>
      </p:sp>
      <p:sp>
        <p:nvSpPr>
          <p:cNvPr id="60" name="Shape 58"/>
          <p:cNvSpPr/>
          <p:nvPr/>
        </p:nvSpPr>
        <p:spPr>
          <a:xfrm>
            <a:off x="8258175" y="1724025"/>
            <a:ext cx="38100" cy="704850"/>
          </a:xfrm>
          <a:custGeom>
            <a:avLst/>
            <a:gdLst/>
            <a:ahLst/>
            <a:cxnLst/>
            <a:rect l="l" t="t" r="r" b="b"/>
            <a:pathLst>
              <a:path w="38100" h="704850">
                <a:moveTo>
                  <a:pt x="38100" y="0"/>
                </a:moveTo>
                <a:lnTo>
                  <a:pt x="38100" y="0"/>
                </a:lnTo>
                <a:lnTo>
                  <a:pt x="38100" y="704850"/>
                </a:lnTo>
                <a:lnTo>
                  <a:pt x="38100" y="704850"/>
                </a:lnTo>
                <a:cubicBezTo>
                  <a:pt x="17072" y="704850"/>
                  <a:pt x="0" y="687778"/>
                  <a:pt x="0" y="6667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4A373"/>
          </a:solidFill>
        </p:spPr>
      </p:sp>
      <p:sp>
        <p:nvSpPr>
          <p:cNvPr id="61" name="Shape 59"/>
          <p:cNvSpPr/>
          <p:nvPr/>
        </p:nvSpPr>
        <p:spPr>
          <a:xfrm>
            <a:off x="8410575" y="187642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14300" y="57150"/>
                </a:moveTo>
                <a:cubicBezTo>
                  <a:pt x="130076" y="57150"/>
                  <a:pt x="142875" y="44351"/>
                  <a:pt x="142875" y="28575"/>
                </a:cubicBezTo>
                <a:cubicBezTo>
                  <a:pt x="142875" y="12799"/>
                  <a:pt x="130076" y="0"/>
                  <a:pt x="114300" y="0"/>
                </a:cubicBezTo>
                <a:cubicBezTo>
                  <a:pt x="98524" y="0"/>
                  <a:pt x="85725" y="12799"/>
                  <a:pt x="85725" y="28575"/>
                </a:cubicBezTo>
                <a:cubicBezTo>
                  <a:pt x="85725" y="30182"/>
                  <a:pt x="85874" y="31790"/>
                  <a:pt x="86112" y="33338"/>
                </a:cubicBezTo>
                <a:lnTo>
                  <a:pt x="47506" y="54799"/>
                </a:lnTo>
                <a:cubicBezTo>
                  <a:pt x="42476" y="50334"/>
                  <a:pt x="35838" y="47625"/>
                  <a:pt x="28575" y="47625"/>
                </a:cubicBezTo>
                <a:cubicBezTo>
                  <a:pt x="12799" y="47625"/>
                  <a:pt x="0" y="60424"/>
                  <a:pt x="0" y="76200"/>
                </a:cubicBezTo>
                <a:cubicBezTo>
                  <a:pt x="0" y="91976"/>
                  <a:pt x="12799" y="104775"/>
                  <a:pt x="28575" y="104775"/>
                </a:cubicBezTo>
                <a:cubicBezTo>
                  <a:pt x="35838" y="104775"/>
                  <a:pt x="42446" y="102066"/>
                  <a:pt x="47506" y="97601"/>
                </a:cubicBezTo>
                <a:lnTo>
                  <a:pt x="86112" y="119062"/>
                </a:lnTo>
                <a:cubicBezTo>
                  <a:pt x="85844" y="120610"/>
                  <a:pt x="85725" y="122188"/>
                  <a:pt x="85725" y="123825"/>
                </a:cubicBezTo>
                <a:cubicBezTo>
                  <a:pt x="85725" y="139601"/>
                  <a:pt x="98524" y="152400"/>
                  <a:pt x="114300" y="152400"/>
                </a:cubicBezTo>
                <a:cubicBezTo>
                  <a:pt x="130076" y="152400"/>
                  <a:pt x="142875" y="139601"/>
                  <a:pt x="142875" y="123825"/>
                </a:cubicBezTo>
                <a:cubicBezTo>
                  <a:pt x="142875" y="108049"/>
                  <a:pt x="130076" y="95250"/>
                  <a:pt x="114300" y="95250"/>
                </a:cubicBezTo>
                <a:cubicBezTo>
                  <a:pt x="107037" y="95250"/>
                  <a:pt x="100429" y="97959"/>
                  <a:pt x="95369" y="102424"/>
                </a:cubicBezTo>
                <a:lnTo>
                  <a:pt x="56763" y="80962"/>
                </a:lnTo>
                <a:cubicBezTo>
                  <a:pt x="57031" y="79415"/>
                  <a:pt x="57150" y="77837"/>
                  <a:pt x="57150" y="76200"/>
                </a:cubicBezTo>
                <a:cubicBezTo>
                  <a:pt x="57150" y="74563"/>
                  <a:pt x="57001" y="72985"/>
                  <a:pt x="56763" y="71438"/>
                </a:cubicBezTo>
                <a:lnTo>
                  <a:pt x="95369" y="49976"/>
                </a:lnTo>
                <a:cubicBezTo>
                  <a:pt x="100399" y="54441"/>
                  <a:pt x="107037" y="57150"/>
                  <a:pt x="114300" y="57150"/>
                </a:cubicBezTo>
                <a:close/>
              </a:path>
            </a:pathLst>
          </a:custGeom>
          <a:solidFill>
            <a:srgbClr val="D4A373"/>
          </a:solidFill>
        </p:spPr>
      </p:sp>
      <p:sp>
        <p:nvSpPr>
          <p:cNvPr id="62" name="Text 60"/>
          <p:cNvSpPr/>
          <p:nvPr/>
        </p:nvSpPr>
        <p:spPr>
          <a:xfrm>
            <a:off x="8658225" y="1838325"/>
            <a:ext cx="990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0F0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共享储能模式</a:t>
            </a: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8391525" y="2105025"/>
            <a:ext cx="3219450" cy="2095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每MWh月租1500美元</a:t>
            </a:r>
            <a:endParaRPr lang="en-US" sz="1600" dirty="0"/>
          </a:p>
        </p:txBody>
      </p:sp>
      <p:sp>
        <p:nvSpPr>
          <p:cNvPr id="64" name="Shape 62"/>
          <p:cNvSpPr/>
          <p:nvPr/>
        </p:nvSpPr>
        <p:spPr>
          <a:xfrm>
            <a:off x="8258175" y="2543175"/>
            <a:ext cx="3390900" cy="704850"/>
          </a:xfrm>
          <a:custGeom>
            <a:avLst/>
            <a:gdLst/>
            <a:ahLst/>
            <a:cxnLst/>
            <a:rect l="l" t="t" r="r" b="b"/>
            <a:pathLst>
              <a:path w="3390900" h="704850">
                <a:moveTo>
                  <a:pt x="38100" y="0"/>
                </a:moveTo>
                <a:lnTo>
                  <a:pt x="3314699" y="0"/>
                </a:lnTo>
                <a:cubicBezTo>
                  <a:pt x="3356784" y="0"/>
                  <a:pt x="3390900" y="34116"/>
                  <a:pt x="3390900" y="76201"/>
                </a:cubicBezTo>
                <a:lnTo>
                  <a:pt x="3390900" y="628649"/>
                </a:lnTo>
                <a:cubicBezTo>
                  <a:pt x="3390900" y="670734"/>
                  <a:pt x="3356784" y="704850"/>
                  <a:pt x="3314699" y="704850"/>
                </a:cubicBezTo>
                <a:lnTo>
                  <a:pt x="38100" y="704850"/>
                </a:lnTo>
                <a:cubicBezTo>
                  <a:pt x="17072" y="704850"/>
                  <a:pt x="0" y="687778"/>
                  <a:pt x="0" y="6667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</p:spPr>
      </p:sp>
      <p:sp>
        <p:nvSpPr>
          <p:cNvPr id="65" name="Shape 63"/>
          <p:cNvSpPr/>
          <p:nvPr/>
        </p:nvSpPr>
        <p:spPr>
          <a:xfrm>
            <a:off x="8258175" y="2543175"/>
            <a:ext cx="38100" cy="704850"/>
          </a:xfrm>
          <a:custGeom>
            <a:avLst/>
            <a:gdLst/>
            <a:ahLst/>
            <a:cxnLst/>
            <a:rect l="l" t="t" r="r" b="b"/>
            <a:pathLst>
              <a:path w="38100" h="704850">
                <a:moveTo>
                  <a:pt x="38100" y="0"/>
                </a:moveTo>
                <a:lnTo>
                  <a:pt x="38100" y="0"/>
                </a:lnTo>
                <a:lnTo>
                  <a:pt x="38100" y="704850"/>
                </a:lnTo>
                <a:lnTo>
                  <a:pt x="38100" y="704850"/>
                </a:lnTo>
                <a:cubicBezTo>
                  <a:pt x="17072" y="704850"/>
                  <a:pt x="0" y="687778"/>
                  <a:pt x="0" y="6667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6C8C"/>
          </a:solidFill>
        </p:spPr>
      </p:sp>
      <p:sp>
        <p:nvSpPr>
          <p:cNvPr id="66" name="Shape 64"/>
          <p:cNvSpPr/>
          <p:nvPr/>
        </p:nvSpPr>
        <p:spPr>
          <a:xfrm>
            <a:off x="8410575" y="269557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40285" y="1994"/>
                </a:moveTo>
                <a:cubicBezTo>
                  <a:pt x="142190" y="179"/>
                  <a:pt x="144959" y="-476"/>
                  <a:pt x="147518" y="357"/>
                </a:cubicBezTo>
                <a:cubicBezTo>
                  <a:pt x="150435" y="1339"/>
                  <a:pt x="152400" y="4078"/>
                  <a:pt x="152400" y="7144"/>
                </a:cubicBezTo>
                <a:lnTo>
                  <a:pt x="152400" y="62776"/>
                </a:lnTo>
                <a:cubicBezTo>
                  <a:pt x="152400" y="101828"/>
                  <a:pt x="120223" y="133350"/>
                  <a:pt x="81320" y="133350"/>
                </a:cubicBezTo>
                <a:cubicBezTo>
                  <a:pt x="58400" y="133350"/>
                  <a:pt x="38636" y="118616"/>
                  <a:pt x="31462" y="98018"/>
                </a:cubicBezTo>
                <a:cubicBezTo>
                  <a:pt x="20925" y="107186"/>
                  <a:pt x="14287" y="120670"/>
                  <a:pt x="14287" y="135731"/>
                </a:cubicBezTo>
                <a:cubicBezTo>
                  <a:pt x="14287" y="139690"/>
                  <a:pt x="11103" y="142875"/>
                  <a:pt x="7144" y="142875"/>
                </a:cubicBezTo>
                <a:cubicBezTo>
                  <a:pt x="3185" y="142875"/>
                  <a:pt x="0" y="139690"/>
                  <a:pt x="0" y="135731"/>
                </a:cubicBezTo>
                <a:cubicBezTo>
                  <a:pt x="0" y="113437"/>
                  <a:pt x="11370" y="93791"/>
                  <a:pt x="28605" y="82242"/>
                </a:cubicBezTo>
                <a:cubicBezTo>
                  <a:pt x="39112" y="75218"/>
                  <a:pt x="51643" y="71438"/>
                  <a:pt x="64294" y="71438"/>
                </a:cubicBezTo>
                <a:lnTo>
                  <a:pt x="88106" y="71438"/>
                </a:lnTo>
                <a:cubicBezTo>
                  <a:pt x="92065" y="71438"/>
                  <a:pt x="95250" y="68253"/>
                  <a:pt x="95250" y="64294"/>
                </a:cubicBezTo>
                <a:cubicBezTo>
                  <a:pt x="95250" y="60335"/>
                  <a:pt x="92065" y="57150"/>
                  <a:pt x="88106" y="57150"/>
                </a:cubicBezTo>
                <a:lnTo>
                  <a:pt x="64294" y="57150"/>
                </a:lnTo>
                <a:cubicBezTo>
                  <a:pt x="52477" y="57150"/>
                  <a:pt x="41285" y="59769"/>
                  <a:pt x="31254" y="64443"/>
                </a:cubicBezTo>
                <a:cubicBezTo>
                  <a:pt x="38189" y="43607"/>
                  <a:pt x="57805" y="28575"/>
                  <a:pt x="80962" y="28575"/>
                </a:cubicBezTo>
                <a:cubicBezTo>
                  <a:pt x="100727" y="28575"/>
                  <a:pt x="115431" y="21997"/>
                  <a:pt x="125224" y="15478"/>
                </a:cubicBezTo>
                <a:cubicBezTo>
                  <a:pt x="130939" y="11668"/>
                  <a:pt x="135791" y="7114"/>
                  <a:pt x="140315" y="1994"/>
                </a:cubicBezTo>
                <a:close/>
              </a:path>
            </a:pathLst>
          </a:custGeom>
          <a:solidFill>
            <a:srgbClr val="4A6C8C"/>
          </a:solidFill>
        </p:spPr>
      </p:sp>
      <p:sp>
        <p:nvSpPr>
          <p:cNvPr id="67" name="Text 65"/>
          <p:cNvSpPr/>
          <p:nvPr/>
        </p:nvSpPr>
        <p:spPr>
          <a:xfrm>
            <a:off x="8658225" y="2657475"/>
            <a:ext cx="10858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0F0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绿电+储能捆绑</a:t>
            </a:r>
            <a:endParaRPr lang="en-US" sz="1600" dirty="0"/>
          </a:p>
        </p:txBody>
      </p:sp>
      <p:sp>
        <p:nvSpPr>
          <p:cNvPr id="68" name="Text 66"/>
          <p:cNvSpPr/>
          <p:nvPr/>
        </p:nvSpPr>
        <p:spPr>
          <a:xfrm>
            <a:off x="8391525" y="2924175"/>
            <a:ext cx="3219450" cy="2095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针对跨国企业零碳电力套餐</a:t>
            </a:r>
            <a:endParaRPr lang="en-US" sz="1600" dirty="0"/>
          </a:p>
        </p:txBody>
      </p:sp>
      <p:sp>
        <p:nvSpPr>
          <p:cNvPr id="69" name="Shape 67"/>
          <p:cNvSpPr/>
          <p:nvPr/>
        </p:nvSpPr>
        <p:spPr>
          <a:xfrm>
            <a:off x="8258175" y="3362325"/>
            <a:ext cx="3390900" cy="704850"/>
          </a:xfrm>
          <a:custGeom>
            <a:avLst/>
            <a:gdLst/>
            <a:ahLst/>
            <a:cxnLst/>
            <a:rect l="l" t="t" r="r" b="b"/>
            <a:pathLst>
              <a:path w="3390900" h="704850">
                <a:moveTo>
                  <a:pt x="38100" y="0"/>
                </a:moveTo>
                <a:lnTo>
                  <a:pt x="3314699" y="0"/>
                </a:lnTo>
                <a:cubicBezTo>
                  <a:pt x="3356784" y="0"/>
                  <a:pt x="3390900" y="34116"/>
                  <a:pt x="3390900" y="76201"/>
                </a:cubicBezTo>
                <a:lnTo>
                  <a:pt x="3390900" y="628649"/>
                </a:lnTo>
                <a:cubicBezTo>
                  <a:pt x="3390900" y="670734"/>
                  <a:pt x="3356784" y="704850"/>
                  <a:pt x="3314699" y="704850"/>
                </a:cubicBezTo>
                <a:lnTo>
                  <a:pt x="38100" y="704850"/>
                </a:lnTo>
                <a:cubicBezTo>
                  <a:pt x="17072" y="704850"/>
                  <a:pt x="0" y="687778"/>
                  <a:pt x="0" y="6667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</p:spPr>
      </p:sp>
      <p:sp>
        <p:nvSpPr>
          <p:cNvPr id="70" name="Shape 68"/>
          <p:cNvSpPr/>
          <p:nvPr/>
        </p:nvSpPr>
        <p:spPr>
          <a:xfrm>
            <a:off x="8258175" y="3362325"/>
            <a:ext cx="38100" cy="704850"/>
          </a:xfrm>
          <a:custGeom>
            <a:avLst/>
            <a:gdLst/>
            <a:ahLst/>
            <a:cxnLst/>
            <a:rect l="l" t="t" r="r" b="b"/>
            <a:pathLst>
              <a:path w="38100" h="704850">
                <a:moveTo>
                  <a:pt x="38100" y="0"/>
                </a:moveTo>
                <a:lnTo>
                  <a:pt x="38100" y="0"/>
                </a:lnTo>
                <a:lnTo>
                  <a:pt x="38100" y="704850"/>
                </a:lnTo>
                <a:lnTo>
                  <a:pt x="38100" y="704850"/>
                </a:lnTo>
                <a:cubicBezTo>
                  <a:pt x="17072" y="704850"/>
                  <a:pt x="0" y="687778"/>
                  <a:pt x="0" y="6667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D99AE"/>
          </a:solidFill>
        </p:spPr>
      </p:sp>
      <p:sp>
        <p:nvSpPr>
          <p:cNvPr id="71" name="Shape 69"/>
          <p:cNvSpPr/>
          <p:nvPr/>
        </p:nvSpPr>
        <p:spPr>
          <a:xfrm>
            <a:off x="8410575" y="351472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52400" y="9525"/>
                </a:moveTo>
                <a:cubicBezTo>
                  <a:pt x="152400" y="41702"/>
                  <a:pt x="129600" y="68550"/>
                  <a:pt x="99298" y="74831"/>
                </a:cubicBezTo>
                <a:cubicBezTo>
                  <a:pt x="96947" y="57537"/>
                  <a:pt x="89178" y="41970"/>
                  <a:pt x="77718" y="29914"/>
                </a:cubicBezTo>
                <a:cubicBezTo>
                  <a:pt x="89654" y="11906"/>
                  <a:pt x="110103" y="0"/>
                  <a:pt x="133350" y="0"/>
                </a:cubicBezTo>
                <a:lnTo>
                  <a:pt x="142875" y="0"/>
                </a:lnTo>
                <a:cubicBezTo>
                  <a:pt x="148144" y="0"/>
                  <a:pt x="152400" y="4256"/>
                  <a:pt x="152400" y="9525"/>
                </a:cubicBezTo>
                <a:close/>
                <a:moveTo>
                  <a:pt x="0" y="28575"/>
                </a:moveTo>
                <a:cubicBezTo>
                  <a:pt x="0" y="23306"/>
                  <a:pt x="4256" y="19050"/>
                  <a:pt x="9525" y="19050"/>
                </a:cubicBezTo>
                <a:lnTo>
                  <a:pt x="19050" y="19050"/>
                </a:lnTo>
                <a:cubicBezTo>
                  <a:pt x="55870" y="19050"/>
                  <a:pt x="85725" y="48905"/>
                  <a:pt x="85725" y="85725"/>
                </a:cubicBezTo>
                <a:lnTo>
                  <a:pt x="85725" y="142875"/>
                </a:lnTo>
                <a:cubicBezTo>
                  <a:pt x="85725" y="148144"/>
                  <a:pt x="81469" y="152400"/>
                  <a:pt x="76200" y="152400"/>
                </a:cubicBezTo>
                <a:cubicBezTo>
                  <a:pt x="70931" y="152400"/>
                  <a:pt x="66675" y="148144"/>
                  <a:pt x="66675" y="142875"/>
                </a:cubicBezTo>
                <a:lnTo>
                  <a:pt x="66675" y="95250"/>
                </a:lnTo>
                <a:cubicBezTo>
                  <a:pt x="29855" y="95250"/>
                  <a:pt x="0" y="65395"/>
                  <a:pt x="0" y="28575"/>
                </a:cubicBezTo>
                <a:close/>
              </a:path>
            </a:pathLst>
          </a:custGeom>
          <a:solidFill>
            <a:srgbClr val="8D99AE"/>
          </a:solidFill>
        </p:spPr>
      </p:sp>
      <p:sp>
        <p:nvSpPr>
          <p:cNvPr id="72" name="Text 70"/>
          <p:cNvSpPr/>
          <p:nvPr/>
        </p:nvSpPr>
        <p:spPr>
          <a:xfrm>
            <a:off x="8658225" y="3476625"/>
            <a:ext cx="11430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0F0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农业光储一体化</a:t>
            </a:r>
            <a:endParaRPr lang="en-US" sz="1600" dirty="0"/>
          </a:p>
        </p:txBody>
      </p:sp>
      <p:sp>
        <p:nvSpPr>
          <p:cNvPr id="73" name="Text 71"/>
          <p:cNvSpPr/>
          <p:nvPr/>
        </p:nvSpPr>
        <p:spPr>
          <a:xfrm>
            <a:off x="8391525" y="3743325"/>
            <a:ext cx="3219450" cy="2095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棕榈油种植园每公顷补贴5万令吉</a:t>
            </a:r>
            <a:endParaRPr lang="en-US" sz="1600" dirty="0"/>
          </a:p>
        </p:txBody>
      </p:sp>
      <p:sp>
        <p:nvSpPr>
          <p:cNvPr id="74" name="Shape 72"/>
          <p:cNvSpPr/>
          <p:nvPr/>
        </p:nvSpPr>
        <p:spPr>
          <a:xfrm>
            <a:off x="8081962" y="5262563"/>
            <a:ext cx="3724275" cy="1419225"/>
          </a:xfrm>
          <a:custGeom>
            <a:avLst/>
            <a:gdLst/>
            <a:ahLst/>
            <a:cxnLst/>
            <a:rect l="l" t="t" r="r" b="b"/>
            <a:pathLst>
              <a:path w="3724275" h="1419225">
                <a:moveTo>
                  <a:pt x="76198" y="0"/>
                </a:moveTo>
                <a:lnTo>
                  <a:pt x="3648077" y="0"/>
                </a:lnTo>
                <a:cubicBezTo>
                  <a:pt x="3690160" y="0"/>
                  <a:pt x="3724275" y="34115"/>
                  <a:pt x="3724275" y="76198"/>
                </a:cubicBezTo>
                <a:lnTo>
                  <a:pt x="3724275" y="1343027"/>
                </a:lnTo>
                <a:cubicBezTo>
                  <a:pt x="3724275" y="1385110"/>
                  <a:pt x="3690160" y="1419225"/>
                  <a:pt x="3648077" y="1419225"/>
                </a:cubicBezTo>
                <a:lnTo>
                  <a:pt x="76198" y="1419225"/>
                </a:lnTo>
                <a:cubicBezTo>
                  <a:pt x="34115" y="1419225"/>
                  <a:pt x="0" y="1385110"/>
                  <a:pt x="0" y="1343027"/>
                </a:cubicBezTo>
                <a:lnTo>
                  <a:pt x="0" y="76198"/>
                </a:lnTo>
                <a:cubicBezTo>
                  <a:pt x="0" y="34115"/>
                  <a:pt x="34115" y="0"/>
                  <a:pt x="76198" y="0"/>
                </a:cubicBezTo>
                <a:close/>
              </a:path>
            </a:pathLst>
          </a:custGeom>
          <a:gradFill flip="none" rotWithShape="1">
            <a:gsLst>
              <a:gs pos="0">
                <a:srgbClr val="D4A373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12700">
            <a:solidFill>
              <a:srgbClr val="D4A373">
                <a:alpha val="40000"/>
              </a:srgbClr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8262938" y="5467350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150019" y="85725"/>
                </a:moveTo>
                <a:cubicBezTo>
                  <a:pt x="150019" y="50240"/>
                  <a:pt x="121210" y="21431"/>
                  <a:pt x="85725" y="21431"/>
                </a:cubicBezTo>
                <a:cubicBezTo>
                  <a:pt x="50240" y="21431"/>
                  <a:pt x="21431" y="50240"/>
                  <a:pt x="21431" y="85725"/>
                </a:cubicBezTo>
                <a:cubicBezTo>
                  <a:pt x="21431" y="121210"/>
                  <a:pt x="50240" y="150019"/>
                  <a:pt x="85725" y="150019"/>
                </a:cubicBezTo>
                <a:cubicBezTo>
                  <a:pt x="121210" y="150019"/>
                  <a:pt x="150019" y="121210"/>
                  <a:pt x="150019" y="85725"/>
                </a:cubicBezTo>
                <a:close/>
                <a:moveTo>
                  <a:pt x="0" y="85725"/>
                </a:moveTo>
                <a:cubicBezTo>
                  <a:pt x="0" y="38412"/>
                  <a:pt x="38412" y="0"/>
                  <a:pt x="85725" y="0"/>
                </a:cubicBezTo>
                <a:cubicBezTo>
                  <a:pt x="133038" y="0"/>
                  <a:pt x="171450" y="38412"/>
                  <a:pt x="171450" y="85725"/>
                </a:cubicBezTo>
                <a:cubicBezTo>
                  <a:pt x="171450" y="133038"/>
                  <a:pt x="133038" y="171450"/>
                  <a:pt x="85725" y="171450"/>
                </a:cubicBezTo>
                <a:cubicBezTo>
                  <a:pt x="38412" y="171450"/>
                  <a:pt x="0" y="133038"/>
                  <a:pt x="0" y="85725"/>
                </a:cubicBezTo>
                <a:close/>
                <a:moveTo>
                  <a:pt x="85725" y="112514"/>
                </a:moveTo>
                <a:cubicBezTo>
                  <a:pt x="100510" y="112514"/>
                  <a:pt x="112514" y="100510"/>
                  <a:pt x="112514" y="85725"/>
                </a:cubicBezTo>
                <a:cubicBezTo>
                  <a:pt x="112514" y="70940"/>
                  <a:pt x="100510" y="58936"/>
                  <a:pt x="85725" y="58936"/>
                </a:cubicBezTo>
                <a:cubicBezTo>
                  <a:pt x="70940" y="58936"/>
                  <a:pt x="58936" y="70940"/>
                  <a:pt x="58936" y="85725"/>
                </a:cubicBezTo>
                <a:cubicBezTo>
                  <a:pt x="58936" y="100510"/>
                  <a:pt x="70940" y="112514"/>
                  <a:pt x="85725" y="112514"/>
                </a:cubicBezTo>
                <a:close/>
                <a:moveTo>
                  <a:pt x="85725" y="37505"/>
                </a:moveTo>
                <a:cubicBezTo>
                  <a:pt x="112339" y="37505"/>
                  <a:pt x="133945" y="59111"/>
                  <a:pt x="133945" y="85725"/>
                </a:cubicBezTo>
                <a:cubicBezTo>
                  <a:pt x="133945" y="112339"/>
                  <a:pt x="112339" y="133945"/>
                  <a:pt x="85725" y="133945"/>
                </a:cubicBezTo>
                <a:cubicBezTo>
                  <a:pt x="59111" y="133945"/>
                  <a:pt x="37505" y="112339"/>
                  <a:pt x="37505" y="85725"/>
                </a:cubicBezTo>
                <a:cubicBezTo>
                  <a:pt x="37505" y="59111"/>
                  <a:pt x="59111" y="37505"/>
                  <a:pt x="85725" y="37505"/>
                </a:cubicBezTo>
                <a:close/>
                <a:moveTo>
                  <a:pt x="75009" y="85725"/>
                </a:moveTo>
                <a:cubicBezTo>
                  <a:pt x="75009" y="79811"/>
                  <a:pt x="79811" y="75009"/>
                  <a:pt x="85725" y="75009"/>
                </a:cubicBezTo>
                <a:cubicBezTo>
                  <a:pt x="91639" y="75009"/>
                  <a:pt x="96441" y="79811"/>
                  <a:pt x="96441" y="85725"/>
                </a:cubicBezTo>
                <a:cubicBezTo>
                  <a:pt x="96441" y="91639"/>
                  <a:pt x="91639" y="96441"/>
                  <a:pt x="85725" y="96441"/>
                </a:cubicBezTo>
                <a:cubicBezTo>
                  <a:pt x="79811" y="96441"/>
                  <a:pt x="75009" y="91639"/>
                  <a:pt x="75009" y="85725"/>
                </a:cubicBezTo>
                <a:close/>
              </a:path>
            </a:pathLst>
          </a:custGeom>
          <a:solidFill>
            <a:srgbClr val="D4A373"/>
          </a:solidFill>
        </p:spPr>
      </p:sp>
      <p:sp>
        <p:nvSpPr>
          <p:cNvPr id="76" name="Text 74"/>
          <p:cNvSpPr/>
          <p:nvPr/>
        </p:nvSpPr>
        <p:spPr>
          <a:xfrm>
            <a:off x="8458200" y="5419725"/>
            <a:ext cx="327660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0F0F0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标杆场景</a:t>
            </a:r>
            <a:endParaRPr lang="en-US" sz="1600" dirty="0"/>
          </a:p>
        </p:txBody>
      </p:sp>
      <p:sp>
        <p:nvSpPr>
          <p:cNvPr id="77" name="Shape 75"/>
          <p:cNvSpPr/>
          <p:nvPr/>
        </p:nvSpPr>
        <p:spPr>
          <a:xfrm>
            <a:off x="8267700" y="579120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33350" y="61258"/>
                </a:moveTo>
                <a:cubicBezTo>
                  <a:pt x="128945" y="64175"/>
                  <a:pt x="123885" y="66526"/>
                  <a:pt x="118616" y="68401"/>
                </a:cubicBezTo>
                <a:cubicBezTo>
                  <a:pt x="104626" y="73402"/>
                  <a:pt x="86261" y="76200"/>
                  <a:pt x="66675" y="76200"/>
                </a:cubicBezTo>
                <a:cubicBezTo>
                  <a:pt x="47089" y="76200"/>
                  <a:pt x="28694" y="73372"/>
                  <a:pt x="14734" y="68401"/>
                </a:cubicBezTo>
                <a:cubicBezTo>
                  <a:pt x="9495" y="66526"/>
                  <a:pt x="4405" y="64175"/>
                  <a:pt x="0" y="61258"/>
                </a:cubicBezTo>
                <a:lnTo>
                  <a:pt x="0" y="85725"/>
                </a:lnTo>
                <a:cubicBezTo>
                  <a:pt x="0" y="98881"/>
                  <a:pt x="29855" y="109537"/>
                  <a:pt x="66675" y="109537"/>
                </a:cubicBezTo>
                <a:cubicBezTo>
                  <a:pt x="103495" y="109537"/>
                  <a:pt x="133350" y="98881"/>
                  <a:pt x="133350" y="85725"/>
                </a:cubicBezTo>
                <a:lnTo>
                  <a:pt x="133350" y="61258"/>
                </a:lnTo>
                <a:close/>
                <a:moveTo>
                  <a:pt x="133350" y="38100"/>
                </a:moveTo>
                <a:lnTo>
                  <a:pt x="133350" y="23813"/>
                </a:lnTo>
                <a:cubicBezTo>
                  <a:pt x="133350" y="10656"/>
                  <a:pt x="103495" y="0"/>
                  <a:pt x="66675" y="0"/>
                </a:cubicBezTo>
                <a:cubicBezTo>
                  <a:pt x="29855" y="0"/>
                  <a:pt x="0" y="10656"/>
                  <a:pt x="0" y="23813"/>
                </a:cubicBezTo>
                <a:lnTo>
                  <a:pt x="0" y="38100"/>
                </a:lnTo>
                <a:cubicBezTo>
                  <a:pt x="0" y="51256"/>
                  <a:pt x="29855" y="61912"/>
                  <a:pt x="66675" y="61912"/>
                </a:cubicBezTo>
                <a:cubicBezTo>
                  <a:pt x="103495" y="61912"/>
                  <a:pt x="133350" y="51256"/>
                  <a:pt x="133350" y="38100"/>
                </a:cubicBezTo>
                <a:close/>
                <a:moveTo>
                  <a:pt x="118616" y="116026"/>
                </a:moveTo>
                <a:cubicBezTo>
                  <a:pt x="104656" y="120997"/>
                  <a:pt x="86291" y="123825"/>
                  <a:pt x="66675" y="123825"/>
                </a:cubicBezTo>
                <a:cubicBezTo>
                  <a:pt x="47059" y="123825"/>
                  <a:pt x="28694" y="120997"/>
                  <a:pt x="14734" y="116026"/>
                </a:cubicBezTo>
                <a:cubicBezTo>
                  <a:pt x="9495" y="114151"/>
                  <a:pt x="4405" y="111800"/>
                  <a:pt x="0" y="108883"/>
                </a:cubicBezTo>
                <a:lnTo>
                  <a:pt x="0" y="128588"/>
                </a:lnTo>
                <a:cubicBezTo>
                  <a:pt x="0" y="141744"/>
                  <a:pt x="29855" y="152400"/>
                  <a:pt x="66675" y="152400"/>
                </a:cubicBezTo>
                <a:cubicBezTo>
                  <a:pt x="103495" y="152400"/>
                  <a:pt x="133350" y="141744"/>
                  <a:pt x="133350" y="128588"/>
                </a:cubicBezTo>
                <a:lnTo>
                  <a:pt x="133350" y="108883"/>
                </a:lnTo>
                <a:cubicBezTo>
                  <a:pt x="128945" y="111800"/>
                  <a:pt x="123885" y="114151"/>
                  <a:pt x="118616" y="116026"/>
                </a:cubicBezTo>
                <a:close/>
              </a:path>
            </a:pathLst>
          </a:custGeom>
          <a:solidFill>
            <a:srgbClr val="4A6C8C"/>
          </a:solidFill>
        </p:spPr>
      </p:sp>
      <p:sp>
        <p:nvSpPr>
          <p:cNvPr id="78" name="Text 76"/>
          <p:cNvSpPr/>
          <p:nvPr/>
        </p:nvSpPr>
        <p:spPr>
          <a:xfrm>
            <a:off x="8486775" y="5762625"/>
            <a:ext cx="32385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0F0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数据中心</a:t>
            </a:r>
            <a:endParaRPr lang="en-US" sz="1600" dirty="0"/>
          </a:p>
        </p:txBody>
      </p:sp>
      <p:sp>
        <p:nvSpPr>
          <p:cNvPr id="79" name="Shape 77"/>
          <p:cNvSpPr/>
          <p:nvPr/>
        </p:nvSpPr>
        <p:spPr>
          <a:xfrm>
            <a:off x="8258175" y="60579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52388" y="7144"/>
                </a:moveTo>
                <a:cubicBezTo>
                  <a:pt x="52388" y="3185"/>
                  <a:pt x="49203" y="0"/>
                  <a:pt x="45244" y="0"/>
                </a:cubicBezTo>
                <a:cubicBezTo>
                  <a:pt x="41285" y="0"/>
                  <a:pt x="38100" y="3185"/>
                  <a:pt x="38100" y="7144"/>
                </a:cubicBezTo>
                <a:lnTo>
                  <a:pt x="38100" y="19050"/>
                </a:lnTo>
                <a:cubicBezTo>
                  <a:pt x="27593" y="19050"/>
                  <a:pt x="19050" y="27593"/>
                  <a:pt x="19050" y="38100"/>
                </a:cubicBezTo>
                <a:lnTo>
                  <a:pt x="7144" y="38100"/>
                </a:lnTo>
                <a:cubicBezTo>
                  <a:pt x="3185" y="38100"/>
                  <a:pt x="0" y="41285"/>
                  <a:pt x="0" y="45244"/>
                </a:cubicBezTo>
                <a:cubicBezTo>
                  <a:pt x="0" y="49203"/>
                  <a:pt x="3185" y="52388"/>
                  <a:pt x="7144" y="52388"/>
                </a:cubicBezTo>
                <a:lnTo>
                  <a:pt x="19050" y="52388"/>
                </a:lnTo>
                <a:lnTo>
                  <a:pt x="19050" y="69056"/>
                </a:lnTo>
                <a:lnTo>
                  <a:pt x="7144" y="69056"/>
                </a:lnTo>
                <a:cubicBezTo>
                  <a:pt x="3185" y="69056"/>
                  <a:pt x="0" y="72241"/>
                  <a:pt x="0" y="76200"/>
                </a:cubicBezTo>
                <a:cubicBezTo>
                  <a:pt x="0" y="80159"/>
                  <a:pt x="3185" y="83344"/>
                  <a:pt x="7144" y="83344"/>
                </a:cubicBezTo>
                <a:lnTo>
                  <a:pt x="19050" y="83344"/>
                </a:lnTo>
                <a:lnTo>
                  <a:pt x="19050" y="100013"/>
                </a:lnTo>
                <a:lnTo>
                  <a:pt x="7144" y="100013"/>
                </a:lnTo>
                <a:cubicBezTo>
                  <a:pt x="3185" y="100013"/>
                  <a:pt x="0" y="103197"/>
                  <a:pt x="0" y="107156"/>
                </a:cubicBezTo>
                <a:cubicBezTo>
                  <a:pt x="0" y="111115"/>
                  <a:pt x="3185" y="114300"/>
                  <a:pt x="7144" y="114300"/>
                </a:cubicBezTo>
                <a:lnTo>
                  <a:pt x="19050" y="114300"/>
                </a:lnTo>
                <a:cubicBezTo>
                  <a:pt x="19050" y="124807"/>
                  <a:pt x="27593" y="133350"/>
                  <a:pt x="38100" y="133350"/>
                </a:cubicBezTo>
                <a:lnTo>
                  <a:pt x="38100" y="145256"/>
                </a:lnTo>
                <a:cubicBezTo>
                  <a:pt x="38100" y="149215"/>
                  <a:pt x="41285" y="152400"/>
                  <a:pt x="45244" y="152400"/>
                </a:cubicBezTo>
                <a:cubicBezTo>
                  <a:pt x="49203" y="152400"/>
                  <a:pt x="52388" y="149215"/>
                  <a:pt x="52388" y="145256"/>
                </a:cubicBezTo>
                <a:lnTo>
                  <a:pt x="52388" y="133350"/>
                </a:lnTo>
                <a:lnTo>
                  <a:pt x="69056" y="133350"/>
                </a:lnTo>
                <a:lnTo>
                  <a:pt x="69056" y="145256"/>
                </a:lnTo>
                <a:cubicBezTo>
                  <a:pt x="69056" y="149215"/>
                  <a:pt x="72241" y="152400"/>
                  <a:pt x="76200" y="152400"/>
                </a:cubicBezTo>
                <a:cubicBezTo>
                  <a:pt x="80159" y="152400"/>
                  <a:pt x="83344" y="149215"/>
                  <a:pt x="83344" y="145256"/>
                </a:cubicBezTo>
                <a:lnTo>
                  <a:pt x="83344" y="133350"/>
                </a:lnTo>
                <a:lnTo>
                  <a:pt x="100013" y="133350"/>
                </a:lnTo>
                <a:lnTo>
                  <a:pt x="100013" y="145256"/>
                </a:lnTo>
                <a:cubicBezTo>
                  <a:pt x="100013" y="149215"/>
                  <a:pt x="103197" y="152400"/>
                  <a:pt x="107156" y="152400"/>
                </a:cubicBezTo>
                <a:cubicBezTo>
                  <a:pt x="111115" y="152400"/>
                  <a:pt x="114300" y="149215"/>
                  <a:pt x="114300" y="145256"/>
                </a:cubicBezTo>
                <a:lnTo>
                  <a:pt x="114300" y="133350"/>
                </a:lnTo>
                <a:cubicBezTo>
                  <a:pt x="124807" y="133350"/>
                  <a:pt x="133350" y="124807"/>
                  <a:pt x="133350" y="114300"/>
                </a:cubicBezTo>
                <a:lnTo>
                  <a:pt x="145256" y="114300"/>
                </a:lnTo>
                <a:cubicBezTo>
                  <a:pt x="149215" y="114300"/>
                  <a:pt x="152400" y="111115"/>
                  <a:pt x="152400" y="107156"/>
                </a:cubicBezTo>
                <a:cubicBezTo>
                  <a:pt x="152400" y="103197"/>
                  <a:pt x="149215" y="100013"/>
                  <a:pt x="145256" y="100013"/>
                </a:cubicBezTo>
                <a:lnTo>
                  <a:pt x="133350" y="100013"/>
                </a:lnTo>
                <a:lnTo>
                  <a:pt x="133350" y="83344"/>
                </a:lnTo>
                <a:lnTo>
                  <a:pt x="145256" y="83344"/>
                </a:lnTo>
                <a:cubicBezTo>
                  <a:pt x="149215" y="83344"/>
                  <a:pt x="152400" y="80159"/>
                  <a:pt x="152400" y="76200"/>
                </a:cubicBezTo>
                <a:cubicBezTo>
                  <a:pt x="152400" y="72241"/>
                  <a:pt x="149215" y="69056"/>
                  <a:pt x="145256" y="69056"/>
                </a:cubicBezTo>
                <a:lnTo>
                  <a:pt x="133350" y="69056"/>
                </a:lnTo>
                <a:lnTo>
                  <a:pt x="133350" y="52388"/>
                </a:lnTo>
                <a:lnTo>
                  <a:pt x="145256" y="52388"/>
                </a:lnTo>
                <a:cubicBezTo>
                  <a:pt x="149215" y="52388"/>
                  <a:pt x="152400" y="49203"/>
                  <a:pt x="152400" y="45244"/>
                </a:cubicBezTo>
                <a:cubicBezTo>
                  <a:pt x="152400" y="41285"/>
                  <a:pt x="149215" y="38100"/>
                  <a:pt x="145256" y="38100"/>
                </a:cubicBezTo>
                <a:lnTo>
                  <a:pt x="133350" y="38100"/>
                </a:lnTo>
                <a:cubicBezTo>
                  <a:pt x="133350" y="27593"/>
                  <a:pt x="124807" y="19050"/>
                  <a:pt x="114300" y="19050"/>
                </a:cubicBezTo>
                <a:lnTo>
                  <a:pt x="114300" y="7144"/>
                </a:lnTo>
                <a:cubicBezTo>
                  <a:pt x="114300" y="3185"/>
                  <a:pt x="111115" y="0"/>
                  <a:pt x="107156" y="0"/>
                </a:cubicBezTo>
                <a:cubicBezTo>
                  <a:pt x="103197" y="0"/>
                  <a:pt x="100013" y="3185"/>
                  <a:pt x="100013" y="7144"/>
                </a:cubicBezTo>
                <a:lnTo>
                  <a:pt x="100013" y="19050"/>
                </a:lnTo>
                <a:lnTo>
                  <a:pt x="83344" y="19050"/>
                </a:lnTo>
                <a:lnTo>
                  <a:pt x="83344" y="7144"/>
                </a:lnTo>
                <a:cubicBezTo>
                  <a:pt x="83344" y="3185"/>
                  <a:pt x="80159" y="0"/>
                  <a:pt x="76200" y="0"/>
                </a:cubicBezTo>
                <a:cubicBezTo>
                  <a:pt x="72241" y="0"/>
                  <a:pt x="69056" y="3185"/>
                  <a:pt x="69056" y="7144"/>
                </a:cubicBezTo>
                <a:lnTo>
                  <a:pt x="69056" y="19050"/>
                </a:lnTo>
                <a:lnTo>
                  <a:pt x="52388" y="19050"/>
                </a:lnTo>
                <a:lnTo>
                  <a:pt x="52388" y="7144"/>
                </a:lnTo>
                <a:close/>
                <a:moveTo>
                  <a:pt x="47625" y="38100"/>
                </a:moveTo>
                <a:lnTo>
                  <a:pt x="104775" y="38100"/>
                </a:lnTo>
                <a:cubicBezTo>
                  <a:pt x="110044" y="38100"/>
                  <a:pt x="114300" y="42356"/>
                  <a:pt x="114300" y="47625"/>
                </a:cubicBezTo>
                <a:lnTo>
                  <a:pt x="114300" y="104775"/>
                </a:lnTo>
                <a:cubicBezTo>
                  <a:pt x="114300" y="110044"/>
                  <a:pt x="110044" y="114300"/>
                  <a:pt x="104775" y="114300"/>
                </a:cubicBezTo>
                <a:lnTo>
                  <a:pt x="47625" y="114300"/>
                </a:lnTo>
                <a:cubicBezTo>
                  <a:pt x="42356" y="114300"/>
                  <a:pt x="38100" y="110044"/>
                  <a:pt x="38100" y="104775"/>
                </a:cubicBezTo>
                <a:lnTo>
                  <a:pt x="38100" y="47625"/>
                </a:lnTo>
                <a:cubicBezTo>
                  <a:pt x="38100" y="42356"/>
                  <a:pt x="42356" y="38100"/>
                  <a:pt x="47625" y="38100"/>
                </a:cubicBezTo>
                <a:close/>
                <a:moveTo>
                  <a:pt x="52388" y="52388"/>
                </a:moveTo>
                <a:lnTo>
                  <a:pt x="52388" y="100013"/>
                </a:lnTo>
                <a:lnTo>
                  <a:pt x="100013" y="100013"/>
                </a:lnTo>
                <a:lnTo>
                  <a:pt x="100013" y="52388"/>
                </a:lnTo>
                <a:lnTo>
                  <a:pt x="52388" y="52388"/>
                </a:lnTo>
                <a:close/>
              </a:path>
            </a:pathLst>
          </a:custGeom>
          <a:solidFill>
            <a:srgbClr val="4A6C8C"/>
          </a:solidFill>
        </p:spPr>
      </p:sp>
      <p:sp>
        <p:nvSpPr>
          <p:cNvPr id="80" name="Text 78"/>
          <p:cNvSpPr/>
          <p:nvPr/>
        </p:nvSpPr>
        <p:spPr>
          <a:xfrm>
            <a:off x="8486775" y="6029325"/>
            <a:ext cx="32385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0F0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半导体工厂</a:t>
            </a:r>
            <a:endParaRPr lang="en-US" sz="1600" dirty="0"/>
          </a:p>
        </p:txBody>
      </p:sp>
      <p:sp>
        <p:nvSpPr>
          <p:cNvPr id="81" name="Shape 79"/>
          <p:cNvSpPr/>
          <p:nvPr/>
        </p:nvSpPr>
        <p:spPr>
          <a:xfrm>
            <a:off x="8258175" y="63246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9525" y="9525"/>
                </a:moveTo>
                <a:cubicBezTo>
                  <a:pt x="4256" y="9525"/>
                  <a:pt x="0" y="13781"/>
                  <a:pt x="0" y="19050"/>
                </a:cubicBezTo>
                <a:lnTo>
                  <a:pt x="0" y="128588"/>
                </a:lnTo>
                <a:cubicBezTo>
                  <a:pt x="0" y="136475"/>
                  <a:pt x="6400" y="142875"/>
                  <a:pt x="14288" y="142875"/>
                </a:cubicBezTo>
                <a:lnTo>
                  <a:pt x="138113" y="142875"/>
                </a:lnTo>
                <a:cubicBezTo>
                  <a:pt x="146000" y="142875"/>
                  <a:pt x="152400" y="136475"/>
                  <a:pt x="152400" y="128588"/>
                </a:cubicBezTo>
                <a:lnTo>
                  <a:pt x="152400" y="45303"/>
                </a:lnTo>
                <a:cubicBezTo>
                  <a:pt x="152400" y="39886"/>
                  <a:pt x="146625" y="36463"/>
                  <a:pt x="141863" y="39023"/>
                </a:cubicBezTo>
                <a:lnTo>
                  <a:pt x="95250" y="64115"/>
                </a:lnTo>
                <a:lnTo>
                  <a:pt x="95250" y="45303"/>
                </a:lnTo>
                <a:cubicBezTo>
                  <a:pt x="95250" y="39886"/>
                  <a:pt x="89475" y="36463"/>
                  <a:pt x="84713" y="39023"/>
                </a:cubicBezTo>
                <a:lnTo>
                  <a:pt x="38100" y="64115"/>
                </a:lnTo>
                <a:lnTo>
                  <a:pt x="38100" y="19050"/>
                </a:lnTo>
                <a:cubicBezTo>
                  <a:pt x="38100" y="13781"/>
                  <a:pt x="33844" y="9525"/>
                  <a:pt x="28575" y="9525"/>
                </a:cubicBezTo>
                <a:lnTo>
                  <a:pt x="9525" y="9525"/>
                </a:lnTo>
                <a:close/>
              </a:path>
            </a:pathLst>
          </a:custGeom>
          <a:solidFill>
            <a:srgbClr val="4A6C8C"/>
          </a:solidFill>
        </p:spPr>
      </p:sp>
      <p:sp>
        <p:nvSpPr>
          <p:cNvPr id="82" name="Text 80"/>
          <p:cNvSpPr/>
          <p:nvPr/>
        </p:nvSpPr>
        <p:spPr>
          <a:xfrm>
            <a:off x="8486775" y="6296025"/>
            <a:ext cx="32385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0F0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工业园区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0321" y="374353"/>
            <a:ext cx="34032" cy="272257"/>
          </a:xfrm>
          <a:custGeom>
            <a:avLst/>
            <a:gdLst/>
            <a:ahLst/>
            <a:cxnLst/>
            <a:rect l="l" t="t" r="r" b="b"/>
            <a:pathLst>
              <a:path w="34032" h="272257">
                <a:moveTo>
                  <a:pt x="0" y="0"/>
                </a:moveTo>
                <a:lnTo>
                  <a:pt x="34032" y="0"/>
                </a:lnTo>
                <a:lnTo>
                  <a:pt x="34032" y="272257"/>
                </a:lnTo>
                <a:lnTo>
                  <a:pt x="0" y="272257"/>
                </a:lnTo>
                <a:lnTo>
                  <a:pt x="0" y="0"/>
                </a:lnTo>
                <a:close/>
              </a:path>
            </a:pathLst>
          </a:custGeom>
          <a:solidFill>
            <a:srgbClr val="D4A373"/>
          </a:solidFill>
        </p:spPr>
      </p:sp>
      <p:sp>
        <p:nvSpPr>
          <p:cNvPr id="3" name="Text 1"/>
          <p:cNvSpPr/>
          <p:nvPr/>
        </p:nvSpPr>
        <p:spPr>
          <a:xfrm>
            <a:off x="476449" y="340321"/>
            <a:ext cx="2603456" cy="34032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410" b="1" dirty="0">
                <a:solidFill>
                  <a:srgbClr val="F0F0F0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技术壁垒与护城河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10482" y="748706"/>
            <a:ext cx="11417770" cy="2382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5" dirty="0">
                <a:solidFill>
                  <a:srgbClr val="8D99AE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TECHNICAL BARRIERS &amp; MOAT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44575" y="1127313"/>
            <a:ext cx="5657837" cy="4790018"/>
          </a:xfrm>
          <a:custGeom>
            <a:avLst/>
            <a:gdLst/>
            <a:ahLst/>
            <a:cxnLst/>
            <a:rect l="l" t="t" r="r" b="b"/>
            <a:pathLst>
              <a:path w="5657837" h="4790018">
                <a:moveTo>
                  <a:pt x="68066" y="0"/>
                </a:moveTo>
                <a:lnTo>
                  <a:pt x="5589771" y="0"/>
                </a:lnTo>
                <a:cubicBezTo>
                  <a:pt x="5627362" y="0"/>
                  <a:pt x="5657837" y="30474"/>
                  <a:pt x="5657837" y="68066"/>
                </a:cubicBezTo>
                <a:lnTo>
                  <a:pt x="5657837" y="4721952"/>
                </a:lnTo>
                <a:cubicBezTo>
                  <a:pt x="5657837" y="4759544"/>
                  <a:pt x="5627362" y="4790018"/>
                  <a:pt x="5589771" y="4790018"/>
                </a:cubicBezTo>
                <a:lnTo>
                  <a:pt x="68066" y="4790018"/>
                </a:lnTo>
                <a:cubicBezTo>
                  <a:pt x="30474" y="4790018"/>
                  <a:pt x="0" y="4759544"/>
                  <a:pt x="0" y="4721952"/>
                </a:cubicBezTo>
                <a:lnTo>
                  <a:pt x="0" y="68066"/>
                </a:lnTo>
                <a:cubicBezTo>
                  <a:pt x="0" y="30499"/>
                  <a:pt x="30499" y="0"/>
                  <a:pt x="68066" y="0"/>
                </a:cubicBezTo>
                <a:close/>
              </a:path>
            </a:pathLst>
          </a:custGeom>
          <a:gradFill flip="none" rotWithShape="1">
            <a:gsLst>
              <a:gs pos="0">
                <a:srgbClr val="4A6C8C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12700">
            <a:solidFill>
              <a:srgbClr val="4A6C8C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18990" y="1301728"/>
            <a:ext cx="476449" cy="476449"/>
          </a:xfrm>
          <a:custGeom>
            <a:avLst/>
            <a:gdLst/>
            <a:ahLst/>
            <a:cxnLst/>
            <a:rect l="l" t="t" r="r" b="b"/>
            <a:pathLst>
              <a:path w="476449" h="476449">
                <a:moveTo>
                  <a:pt x="68066" y="0"/>
                </a:moveTo>
                <a:lnTo>
                  <a:pt x="408384" y="0"/>
                </a:lnTo>
                <a:cubicBezTo>
                  <a:pt x="445975" y="0"/>
                  <a:pt x="476449" y="30474"/>
                  <a:pt x="476449" y="68066"/>
                </a:cubicBezTo>
                <a:lnTo>
                  <a:pt x="476449" y="408384"/>
                </a:lnTo>
                <a:cubicBezTo>
                  <a:pt x="476449" y="445975"/>
                  <a:pt x="445975" y="476449"/>
                  <a:pt x="408384" y="476449"/>
                </a:cubicBezTo>
                <a:lnTo>
                  <a:pt x="68066" y="476449"/>
                </a:lnTo>
                <a:cubicBezTo>
                  <a:pt x="30474" y="476449"/>
                  <a:pt x="0" y="445975"/>
                  <a:pt x="0" y="408384"/>
                </a:cubicBezTo>
                <a:lnTo>
                  <a:pt x="0" y="68066"/>
                </a:lnTo>
                <a:cubicBezTo>
                  <a:pt x="0" y="30474"/>
                  <a:pt x="30474" y="0"/>
                  <a:pt x="68066" y="0"/>
                </a:cubicBezTo>
                <a:close/>
              </a:path>
            </a:pathLst>
          </a:custGeom>
          <a:solidFill>
            <a:srgbClr val="4A6C8C"/>
          </a:solidFill>
        </p:spPr>
      </p:sp>
      <p:sp>
        <p:nvSpPr>
          <p:cNvPr id="7" name="Shape 5"/>
          <p:cNvSpPr/>
          <p:nvPr/>
        </p:nvSpPr>
        <p:spPr>
          <a:xfrm>
            <a:off x="655118" y="1437856"/>
            <a:ext cx="204193" cy="204193"/>
          </a:xfrm>
          <a:custGeom>
            <a:avLst/>
            <a:gdLst/>
            <a:ahLst/>
            <a:cxnLst/>
            <a:rect l="l" t="t" r="r" b="b"/>
            <a:pathLst>
              <a:path w="204193" h="204193">
                <a:moveTo>
                  <a:pt x="70191" y="9572"/>
                </a:moveTo>
                <a:cubicBezTo>
                  <a:pt x="70191" y="4267"/>
                  <a:pt x="65924" y="0"/>
                  <a:pt x="60620" y="0"/>
                </a:cubicBezTo>
                <a:cubicBezTo>
                  <a:pt x="55315" y="0"/>
                  <a:pt x="51048" y="4267"/>
                  <a:pt x="51048" y="9572"/>
                </a:cubicBezTo>
                <a:lnTo>
                  <a:pt x="51048" y="25524"/>
                </a:lnTo>
                <a:cubicBezTo>
                  <a:pt x="36970" y="25524"/>
                  <a:pt x="25524" y="36970"/>
                  <a:pt x="25524" y="51048"/>
                </a:cubicBezTo>
                <a:lnTo>
                  <a:pt x="9572" y="51048"/>
                </a:lnTo>
                <a:cubicBezTo>
                  <a:pt x="4267" y="51048"/>
                  <a:pt x="0" y="55315"/>
                  <a:pt x="0" y="60620"/>
                </a:cubicBezTo>
                <a:cubicBezTo>
                  <a:pt x="0" y="65924"/>
                  <a:pt x="4267" y="70191"/>
                  <a:pt x="9572" y="70191"/>
                </a:cubicBezTo>
                <a:lnTo>
                  <a:pt x="25524" y="70191"/>
                </a:lnTo>
                <a:lnTo>
                  <a:pt x="25524" y="92525"/>
                </a:lnTo>
                <a:lnTo>
                  <a:pt x="9572" y="92525"/>
                </a:lnTo>
                <a:cubicBezTo>
                  <a:pt x="4267" y="92525"/>
                  <a:pt x="0" y="96792"/>
                  <a:pt x="0" y="102096"/>
                </a:cubicBezTo>
                <a:cubicBezTo>
                  <a:pt x="0" y="107401"/>
                  <a:pt x="4267" y="111668"/>
                  <a:pt x="9572" y="111668"/>
                </a:cubicBezTo>
                <a:lnTo>
                  <a:pt x="25524" y="111668"/>
                </a:lnTo>
                <a:lnTo>
                  <a:pt x="25524" y="134001"/>
                </a:lnTo>
                <a:lnTo>
                  <a:pt x="9572" y="134001"/>
                </a:lnTo>
                <a:cubicBezTo>
                  <a:pt x="4267" y="134001"/>
                  <a:pt x="0" y="138269"/>
                  <a:pt x="0" y="143573"/>
                </a:cubicBezTo>
                <a:cubicBezTo>
                  <a:pt x="0" y="148877"/>
                  <a:pt x="4267" y="153144"/>
                  <a:pt x="9572" y="153144"/>
                </a:cubicBezTo>
                <a:lnTo>
                  <a:pt x="25524" y="153144"/>
                </a:lnTo>
                <a:cubicBezTo>
                  <a:pt x="25524" y="167223"/>
                  <a:pt x="36970" y="178669"/>
                  <a:pt x="51048" y="178669"/>
                </a:cubicBezTo>
                <a:lnTo>
                  <a:pt x="51048" y="194621"/>
                </a:lnTo>
                <a:cubicBezTo>
                  <a:pt x="51048" y="199925"/>
                  <a:pt x="55315" y="204193"/>
                  <a:pt x="60620" y="204193"/>
                </a:cubicBezTo>
                <a:cubicBezTo>
                  <a:pt x="65924" y="204193"/>
                  <a:pt x="70191" y="199925"/>
                  <a:pt x="70191" y="194621"/>
                </a:cubicBezTo>
                <a:lnTo>
                  <a:pt x="70191" y="178669"/>
                </a:lnTo>
                <a:lnTo>
                  <a:pt x="92525" y="178669"/>
                </a:lnTo>
                <a:lnTo>
                  <a:pt x="92525" y="194621"/>
                </a:lnTo>
                <a:cubicBezTo>
                  <a:pt x="92525" y="199925"/>
                  <a:pt x="96792" y="204193"/>
                  <a:pt x="102096" y="204193"/>
                </a:cubicBezTo>
                <a:cubicBezTo>
                  <a:pt x="107401" y="204193"/>
                  <a:pt x="111668" y="199925"/>
                  <a:pt x="111668" y="194621"/>
                </a:cubicBezTo>
                <a:lnTo>
                  <a:pt x="111668" y="178669"/>
                </a:lnTo>
                <a:lnTo>
                  <a:pt x="134001" y="178669"/>
                </a:lnTo>
                <a:lnTo>
                  <a:pt x="134001" y="194621"/>
                </a:lnTo>
                <a:cubicBezTo>
                  <a:pt x="134001" y="199925"/>
                  <a:pt x="138269" y="204193"/>
                  <a:pt x="143573" y="204193"/>
                </a:cubicBezTo>
                <a:cubicBezTo>
                  <a:pt x="148877" y="204193"/>
                  <a:pt x="153144" y="199925"/>
                  <a:pt x="153144" y="194621"/>
                </a:cubicBezTo>
                <a:lnTo>
                  <a:pt x="153144" y="178669"/>
                </a:lnTo>
                <a:cubicBezTo>
                  <a:pt x="167223" y="178669"/>
                  <a:pt x="178669" y="167223"/>
                  <a:pt x="178669" y="153144"/>
                </a:cubicBezTo>
                <a:lnTo>
                  <a:pt x="194621" y="153144"/>
                </a:lnTo>
                <a:cubicBezTo>
                  <a:pt x="199925" y="153144"/>
                  <a:pt x="204193" y="148877"/>
                  <a:pt x="204193" y="143573"/>
                </a:cubicBezTo>
                <a:cubicBezTo>
                  <a:pt x="204193" y="138269"/>
                  <a:pt x="199925" y="134001"/>
                  <a:pt x="194621" y="134001"/>
                </a:cubicBezTo>
                <a:lnTo>
                  <a:pt x="178669" y="134001"/>
                </a:lnTo>
                <a:lnTo>
                  <a:pt x="178669" y="111668"/>
                </a:lnTo>
                <a:lnTo>
                  <a:pt x="194621" y="111668"/>
                </a:lnTo>
                <a:cubicBezTo>
                  <a:pt x="199925" y="111668"/>
                  <a:pt x="204193" y="107401"/>
                  <a:pt x="204193" y="102096"/>
                </a:cubicBezTo>
                <a:cubicBezTo>
                  <a:pt x="204193" y="96792"/>
                  <a:pt x="199925" y="92525"/>
                  <a:pt x="194621" y="92525"/>
                </a:cubicBezTo>
                <a:lnTo>
                  <a:pt x="178669" y="92525"/>
                </a:lnTo>
                <a:lnTo>
                  <a:pt x="178669" y="70191"/>
                </a:lnTo>
                <a:lnTo>
                  <a:pt x="194621" y="70191"/>
                </a:lnTo>
                <a:cubicBezTo>
                  <a:pt x="199925" y="70191"/>
                  <a:pt x="204193" y="65924"/>
                  <a:pt x="204193" y="60620"/>
                </a:cubicBezTo>
                <a:cubicBezTo>
                  <a:pt x="204193" y="55315"/>
                  <a:pt x="199925" y="51048"/>
                  <a:pt x="194621" y="51048"/>
                </a:cubicBezTo>
                <a:lnTo>
                  <a:pt x="178669" y="51048"/>
                </a:lnTo>
                <a:cubicBezTo>
                  <a:pt x="178669" y="36970"/>
                  <a:pt x="167223" y="25524"/>
                  <a:pt x="153144" y="25524"/>
                </a:cubicBezTo>
                <a:lnTo>
                  <a:pt x="153144" y="9572"/>
                </a:lnTo>
                <a:cubicBezTo>
                  <a:pt x="153144" y="4267"/>
                  <a:pt x="148877" y="0"/>
                  <a:pt x="143573" y="0"/>
                </a:cubicBezTo>
                <a:cubicBezTo>
                  <a:pt x="138269" y="0"/>
                  <a:pt x="134001" y="4267"/>
                  <a:pt x="134001" y="9572"/>
                </a:cubicBezTo>
                <a:lnTo>
                  <a:pt x="134001" y="25524"/>
                </a:lnTo>
                <a:lnTo>
                  <a:pt x="111668" y="25524"/>
                </a:lnTo>
                <a:lnTo>
                  <a:pt x="111668" y="9572"/>
                </a:lnTo>
                <a:cubicBezTo>
                  <a:pt x="111668" y="4267"/>
                  <a:pt x="107401" y="0"/>
                  <a:pt x="102096" y="0"/>
                </a:cubicBezTo>
                <a:cubicBezTo>
                  <a:pt x="96792" y="0"/>
                  <a:pt x="92525" y="4267"/>
                  <a:pt x="92525" y="9572"/>
                </a:cubicBezTo>
                <a:lnTo>
                  <a:pt x="92525" y="25524"/>
                </a:lnTo>
                <a:lnTo>
                  <a:pt x="70191" y="25524"/>
                </a:lnTo>
                <a:lnTo>
                  <a:pt x="70191" y="9572"/>
                </a:lnTo>
                <a:close/>
                <a:moveTo>
                  <a:pt x="63810" y="51048"/>
                </a:moveTo>
                <a:lnTo>
                  <a:pt x="140382" y="51048"/>
                </a:lnTo>
                <a:cubicBezTo>
                  <a:pt x="147441" y="51048"/>
                  <a:pt x="153144" y="56751"/>
                  <a:pt x="153144" y="63810"/>
                </a:cubicBezTo>
                <a:lnTo>
                  <a:pt x="153144" y="140382"/>
                </a:lnTo>
                <a:cubicBezTo>
                  <a:pt x="153144" y="147441"/>
                  <a:pt x="147441" y="153144"/>
                  <a:pt x="140382" y="153144"/>
                </a:cubicBezTo>
                <a:lnTo>
                  <a:pt x="63810" y="153144"/>
                </a:lnTo>
                <a:cubicBezTo>
                  <a:pt x="56751" y="153144"/>
                  <a:pt x="51048" y="147441"/>
                  <a:pt x="51048" y="140382"/>
                </a:cubicBezTo>
                <a:lnTo>
                  <a:pt x="51048" y="63810"/>
                </a:lnTo>
                <a:cubicBezTo>
                  <a:pt x="51048" y="56751"/>
                  <a:pt x="56751" y="51048"/>
                  <a:pt x="63810" y="51048"/>
                </a:cubicBezTo>
                <a:close/>
                <a:moveTo>
                  <a:pt x="70191" y="70191"/>
                </a:moveTo>
                <a:lnTo>
                  <a:pt x="70191" y="134001"/>
                </a:lnTo>
                <a:lnTo>
                  <a:pt x="134001" y="134001"/>
                </a:lnTo>
                <a:lnTo>
                  <a:pt x="134001" y="70191"/>
                </a:lnTo>
                <a:lnTo>
                  <a:pt x="70191" y="70191"/>
                </a:lnTo>
                <a:close/>
              </a:path>
            </a:pathLst>
          </a:custGeom>
          <a:solidFill>
            <a:srgbClr val="FFFFFF"/>
          </a:solidFill>
        </p:spPr>
      </p:sp>
      <p:sp>
        <p:nvSpPr>
          <p:cNvPr id="8" name="Text 6"/>
          <p:cNvSpPr/>
          <p:nvPr/>
        </p:nvSpPr>
        <p:spPr>
          <a:xfrm>
            <a:off x="1097535" y="1403824"/>
            <a:ext cx="2050434" cy="27225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10" b="1" dirty="0">
                <a:solidFill>
                  <a:srgbClr val="F0F0F0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硬科技：高压级联SiC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36006" y="1914306"/>
            <a:ext cx="5291992" cy="816770"/>
          </a:xfrm>
          <a:custGeom>
            <a:avLst/>
            <a:gdLst/>
            <a:ahLst/>
            <a:cxnLst/>
            <a:rect l="l" t="t" r="r" b="b"/>
            <a:pathLst>
              <a:path w="5291992" h="816770">
                <a:moveTo>
                  <a:pt x="34032" y="0"/>
                </a:moveTo>
                <a:lnTo>
                  <a:pt x="5223930" y="0"/>
                </a:lnTo>
                <a:cubicBezTo>
                  <a:pt x="5261519" y="0"/>
                  <a:pt x="5291992" y="30472"/>
                  <a:pt x="5291992" y="68061"/>
                </a:cubicBezTo>
                <a:lnTo>
                  <a:pt x="5291992" y="748709"/>
                </a:lnTo>
                <a:cubicBezTo>
                  <a:pt x="5291992" y="786298"/>
                  <a:pt x="5261519" y="816770"/>
                  <a:pt x="5223930" y="816770"/>
                </a:cubicBezTo>
                <a:lnTo>
                  <a:pt x="34032" y="816770"/>
                </a:lnTo>
                <a:cubicBezTo>
                  <a:pt x="15237" y="816770"/>
                  <a:pt x="0" y="801534"/>
                  <a:pt x="0" y="782738"/>
                </a:cubicBezTo>
                <a:lnTo>
                  <a:pt x="0" y="34032"/>
                </a:lnTo>
                <a:cubicBezTo>
                  <a:pt x="0" y="15237"/>
                  <a:pt x="15237" y="0"/>
                  <a:pt x="34032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</p:spPr>
      </p:sp>
      <p:sp>
        <p:nvSpPr>
          <p:cNvPr id="10" name="Shape 8"/>
          <p:cNvSpPr/>
          <p:nvPr/>
        </p:nvSpPr>
        <p:spPr>
          <a:xfrm>
            <a:off x="536006" y="1914306"/>
            <a:ext cx="34032" cy="816770"/>
          </a:xfrm>
          <a:custGeom>
            <a:avLst/>
            <a:gdLst/>
            <a:ahLst/>
            <a:cxnLst/>
            <a:rect l="l" t="t" r="r" b="b"/>
            <a:pathLst>
              <a:path w="34032" h="816770">
                <a:moveTo>
                  <a:pt x="34032" y="0"/>
                </a:moveTo>
                <a:lnTo>
                  <a:pt x="34032" y="0"/>
                </a:lnTo>
                <a:lnTo>
                  <a:pt x="34032" y="816770"/>
                </a:lnTo>
                <a:lnTo>
                  <a:pt x="34032" y="816770"/>
                </a:lnTo>
                <a:cubicBezTo>
                  <a:pt x="15237" y="816770"/>
                  <a:pt x="0" y="801534"/>
                  <a:pt x="0" y="782738"/>
                </a:cubicBezTo>
                <a:lnTo>
                  <a:pt x="0" y="34032"/>
                </a:lnTo>
                <a:cubicBezTo>
                  <a:pt x="0" y="15237"/>
                  <a:pt x="15237" y="0"/>
                  <a:pt x="34032" y="0"/>
                </a:cubicBezTo>
                <a:close/>
              </a:path>
            </a:pathLst>
          </a:custGeom>
          <a:solidFill>
            <a:srgbClr val="4A6C8C"/>
          </a:solidFill>
        </p:spPr>
      </p:sp>
      <p:sp>
        <p:nvSpPr>
          <p:cNvPr id="11" name="Text 9"/>
          <p:cNvSpPr/>
          <p:nvPr/>
        </p:nvSpPr>
        <p:spPr>
          <a:xfrm>
            <a:off x="655118" y="2016402"/>
            <a:ext cx="5138847" cy="20419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0" b="1" dirty="0">
                <a:solidFill>
                  <a:srgbClr val="D4A373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技术架构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55118" y="2254627"/>
            <a:ext cx="5138847" cy="18717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70" dirty="0">
                <a:solidFill>
                  <a:srgbClr val="F0F0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10kV母线直挂 + 级联H桥拓扑结构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55118" y="2441803"/>
            <a:ext cx="5138847" cy="18717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7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11子模块SiC级联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36006" y="2833172"/>
            <a:ext cx="5291992" cy="748706"/>
          </a:xfrm>
          <a:custGeom>
            <a:avLst/>
            <a:gdLst/>
            <a:ahLst/>
            <a:cxnLst/>
            <a:rect l="l" t="t" r="r" b="b"/>
            <a:pathLst>
              <a:path w="5291992" h="748706">
                <a:moveTo>
                  <a:pt x="34032" y="0"/>
                </a:moveTo>
                <a:lnTo>
                  <a:pt x="5223927" y="0"/>
                </a:lnTo>
                <a:cubicBezTo>
                  <a:pt x="5261518" y="0"/>
                  <a:pt x="5291992" y="30474"/>
                  <a:pt x="5291992" y="68065"/>
                </a:cubicBezTo>
                <a:lnTo>
                  <a:pt x="5291992" y="680641"/>
                </a:lnTo>
                <a:cubicBezTo>
                  <a:pt x="5291992" y="718233"/>
                  <a:pt x="5261518" y="748706"/>
                  <a:pt x="5223927" y="748706"/>
                </a:cubicBezTo>
                <a:lnTo>
                  <a:pt x="34032" y="748706"/>
                </a:lnTo>
                <a:cubicBezTo>
                  <a:pt x="15237" y="748706"/>
                  <a:pt x="0" y="733470"/>
                  <a:pt x="0" y="714674"/>
                </a:cubicBezTo>
                <a:lnTo>
                  <a:pt x="0" y="34032"/>
                </a:lnTo>
                <a:cubicBezTo>
                  <a:pt x="0" y="15249"/>
                  <a:pt x="15249" y="0"/>
                  <a:pt x="34032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</p:spPr>
      </p:sp>
      <p:sp>
        <p:nvSpPr>
          <p:cNvPr id="15" name="Shape 13"/>
          <p:cNvSpPr/>
          <p:nvPr/>
        </p:nvSpPr>
        <p:spPr>
          <a:xfrm>
            <a:off x="536006" y="2833172"/>
            <a:ext cx="34032" cy="748706"/>
          </a:xfrm>
          <a:custGeom>
            <a:avLst/>
            <a:gdLst/>
            <a:ahLst/>
            <a:cxnLst/>
            <a:rect l="l" t="t" r="r" b="b"/>
            <a:pathLst>
              <a:path w="34032" h="748706">
                <a:moveTo>
                  <a:pt x="34032" y="0"/>
                </a:moveTo>
                <a:lnTo>
                  <a:pt x="34032" y="0"/>
                </a:lnTo>
                <a:lnTo>
                  <a:pt x="34032" y="748706"/>
                </a:lnTo>
                <a:lnTo>
                  <a:pt x="34032" y="748706"/>
                </a:lnTo>
                <a:cubicBezTo>
                  <a:pt x="15237" y="748706"/>
                  <a:pt x="0" y="733470"/>
                  <a:pt x="0" y="714674"/>
                </a:cubicBezTo>
                <a:lnTo>
                  <a:pt x="0" y="34032"/>
                </a:lnTo>
                <a:cubicBezTo>
                  <a:pt x="0" y="15237"/>
                  <a:pt x="15237" y="0"/>
                  <a:pt x="34032" y="0"/>
                </a:cubicBezTo>
                <a:close/>
              </a:path>
            </a:pathLst>
          </a:custGeom>
          <a:solidFill>
            <a:srgbClr val="D4A373"/>
          </a:solidFill>
        </p:spPr>
      </p:sp>
      <p:sp>
        <p:nvSpPr>
          <p:cNvPr id="16" name="Text 14"/>
          <p:cNvSpPr/>
          <p:nvPr/>
        </p:nvSpPr>
        <p:spPr>
          <a:xfrm>
            <a:off x="655118" y="2935269"/>
            <a:ext cx="5138847" cy="20419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0" b="1" dirty="0">
                <a:solidFill>
                  <a:srgbClr val="D4A373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转换效率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55118" y="3173493"/>
            <a:ext cx="876327" cy="30628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10" b="1" dirty="0">
                <a:solidFill>
                  <a:srgbClr val="D4A373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98.5%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471357" y="3258574"/>
            <a:ext cx="612578" cy="20419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行业领先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36006" y="3683975"/>
            <a:ext cx="5291992" cy="629594"/>
          </a:xfrm>
          <a:custGeom>
            <a:avLst/>
            <a:gdLst/>
            <a:ahLst/>
            <a:cxnLst/>
            <a:rect l="l" t="t" r="r" b="b"/>
            <a:pathLst>
              <a:path w="5291992" h="629594">
                <a:moveTo>
                  <a:pt x="34032" y="0"/>
                </a:moveTo>
                <a:lnTo>
                  <a:pt x="5223926" y="0"/>
                </a:lnTo>
                <a:cubicBezTo>
                  <a:pt x="5261518" y="0"/>
                  <a:pt x="5291992" y="30474"/>
                  <a:pt x="5291992" y="68065"/>
                </a:cubicBezTo>
                <a:lnTo>
                  <a:pt x="5291992" y="561528"/>
                </a:lnTo>
                <a:cubicBezTo>
                  <a:pt x="5291992" y="599120"/>
                  <a:pt x="5261518" y="629594"/>
                  <a:pt x="5223926" y="629594"/>
                </a:cubicBezTo>
                <a:lnTo>
                  <a:pt x="34032" y="629594"/>
                </a:lnTo>
                <a:cubicBezTo>
                  <a:pt x="15237" y="629594"/>
                  <a:pt x="0" y="614357"/>
                  <a:pt x="0" y="595562"/>
                </a:cubicBezTo>
                <a:lnTo>
                  <a:pt x="0" y="34032"/>
                </a:lnTo>
                <a:cubicBezTo>
                  <a:pt x="0" y="15249"/>
                  <a:pt x="15249" y="0"/>
                  <a:pt x="34032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</p:spPr>
      </p:sp>
      <p:sp>
        <p:nvSpPr>
          <p:cNvPr id="20" name="Shape 18"/>
          <p:cNvSpPr/>
          <p:nvPr/>
        </p:nvSpPr>
        <p:spPr>
          <a:xfrm>
            <a:off x="536006" y="3683975"/>
            <a:ext cx="34032" cy="629594"/>
          </a:xfrm>
          <a:custGeom>
            <a:avLst/>
            <a:gdLst/>
            <a:ahLst/>
            <a:cxnLst/>
            <a:rect l="l" t="t" r="r" b="b"/>
            <a:pathLst>
              <a:path w="34032" h="629594">
                <a:moveTo>
                  <a:pt x="34032" y="0"/>
                </a:moveTo>
                <a:lnTo>
                  <a:pt x="34032" y="0"/>
                </a:lnTo>
                <a:lnTo>
                  <a:pt x="34032" y="629594"/>
                </a:lnTo>
                <a:lnTo>
                  <a:pt x="34032" y="629594"/>
                </a:lnTo>
                <a:cubicBezTo>
                  <a:pt x="15237" y="629594"/>
                  <a:pt x="0" y="614357"/>
                  <a:pt x="0" y="595562"/>
                </a:cubicBezTo>
                <a:lnTo>
                  <a:pt x="0" y="34032"/>
                </a:lnTo>
                <a:cubicBezTo>
                  <a:pt x="0" y="15237"/>
                  <a:pt x="15237" y="0"/>
                  <a:pt x="34032" y="0"/>
                </a:cubicBezTo>
                <a:close/>
              </a:path>
            </a:pathLst>
          </a:custGeom>
          <a:solidFill>
            <a:srgbClr val="8D99AE"/>
          </a:solidFill>
        </p:spPr>
      </p:sp>
      <p:sp>
        <p:nvSpPr>
          <p:cNvPr id="21" name="Text 19"/>
          <p:cNvSpPr/>
          <p:nvPr/>
        </p:nvSpPr>
        <p:spPr>
          <a:xfrm>
            <a:off x="655118" y="3786071"/>
            <a:ext cx="5138847" cy="20419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0" b="1" dirty="0">
                <a:solidFill>
                  <a:srgbClr val="D4A373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空间优势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55118" y="4024296"/>
            <a:ext cx="5138847" cy="18717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70" dirty="0">
                <a:solidFill>
                  <a:srgbClr val="F0F0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占地减少</a:t>
            </a:r>
            <a:r>
              <a:rPr lang="en-US" sz="1070" b="1" dirty="0">
                <a:solidFill>
                  <a:srgbClr val="D4A373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30%</a:t>
            </a:r>
            <a:r>
              <a:rPr lang="en-US" sz="1070" dirty="0">
                <a:solidFill>
                  <a:srgbClr val="F0F0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（无升压变）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36006" y="4415665"/>
            <a:ext cx="5291992" cy="816770"/>
          </a:xfrm>
          <a:custGeom>
            <a:avLst/>
            <a:gdLst/>
            <a:ahLst/>
            <a:cxnLst/>
            <a:rect l="l" t="t" r="r" b="b"/>
            <a:pathLst>
              <a:path w="5291992" h="816770">
                <a:moveTo>
                  <a:pt x="34032" y="0"/>
                </a:moveTo>
                <a:lnTo>
                  <a:pt x="5223930" y="0"/>
                </a:lnTo>
                <a:cubicBezTo>
                  <a:pt x="5261519" y="0"/>
                  <a:pt x="5291992" y="30472"/>
                  <a:pt x="5291992" y="68061"/>
                </a:cubicBezTo>
                <a:lnTo>
                  <a:pt x="5291992" y="748709"/>
                </a:lnTo>
                <a:cubicBezTo>
                  <a:pt x="5291992" y="786298"/>
                  <a:pt x="5261519" y="816770"/>
                  <a:pt x="5223930" y="816770"/>
                </a:cubicBezTo>
                <a:lnTo>
                  <a:pt x="34032" y="816770"/>
                </a:lnTo>
                <a:cubicBezTo>
                  <a:pt x="15237" y="816770"/>
                  <a:pt x="0" y="801534"/>
                  <a:pt x="0" y="782738"/>
                </a:cubicBezTo>
                <a:lnTo>
                  <a:pt x="0" y="34032"/>
                </a:lnTo>
                <a:cubicBezTo>
                  <a:pt x="0" y="15237"/>
                  <a:pt x="15237" y="0"/>
                  <a:pt x="34032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</p:spPr>
      </p:sp>
      <p:sp>
        <p:nvSpPr>
          <p:cNvPr id="24" name="Shape 22"/>
          <p:cNvSpPr/>
          <p:nvPr/>
        </p:nvSpPr>
        <p:spPr>
          <a:xfrm>
            <a:off x="536006" y="4415665"/>
            <a:ext cx="34032" cy="816770"/>
          </a:xfrm>
          <a:custGeom>
            <a:avLst/>
            <a:gdLst/>
            <a:ahLst/>
            <a:cxnLst/>
            <a:rect l="l" t="t" r="r" b="b"/>
            <a:pathLst>
              <a:path w="34032" h="816770">
                <a:moveTo>
                  <a:pt x="34032" y="0"/>
                </a:moveTo>
                <a:lnTo>
                  <a:pt x="34032" y="0"/>
                </a:lnTo>
                <a:lnTo>
                  <a:pt x="34032" y="816770"/>
                </a:lnTo>
                <a:lnTo>
                  <a:pt x="34032" y="816770"/>
                </a:lnTo>
                <a:cubicBezTo>
                  <a:pt x="15237" y="816770"/>
                  <a:pt x="0" y="801534"/>
                  <a:pt x="0" y="782738"/>
                </a:cubicBezTo>
                <a:lnTo>
                  <a:pt x="0" y="34032"/>
                </a:lnTo>
                <a:cubicBezTo>
                  <a:pt x="0" y="15237"/>
                  <a:pt x="15237" y="0"/>
                  <a:pt x="34032" y="0"/>
                </a:cubicBezTo>
                <a:close/>
              </a:path>
            </a:pathLst>
          </a:custGeom>
          <a:solidFill>
            <a:srgbClr val="4A6C8C"/>
          </a:solidFill>
        </p:spPr>
      </p:sp>
      <p:sp>
        <p:nvSpPr>
          <p:cNvPr id="25" name="Text 23"/>
          <p:cNvSpPr/>
          <p:nvPr/>
        </p:nvSpPr>
        <p:spPr>
          <a:xfrm>
            <a:off x="655118" y="4517761"/>
            <a:ext cx="5138847" cy="20419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0" b="1" dirty="0">
                <a:solidFill>
                  <a:srgbClr val="D4A373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故障穿越能力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55118" y="4755986"/>
            <a:ext cx="5138847" cy="18717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70" dirty="0">
                <a:solidFill>
                  <a:srgbClr val="F0F0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LVRT/HVRT零序电压注入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55118" y="4943163"/>
            <a:ext cx="5138847" cy="18717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7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切换时间&lt;</a:t>
            </a:r>
            <a:r>
              <a:rPr lang="en-US" sz="1070" b="1" dirty="0">
                <a:solidFill>
                  <a:srgbClr val="D4A373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20ms</a:t>
            </a:r>
            <a:r>
              <a:rPr lang="en-US" sz="107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数据中心级零中断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184803" y="1127313"/>
            <a:ext cx="5657837" cy="4790018"/>
          </a:xfrm>
          <a:custGeom>
            <a:avLst/>
            <a:gdLst/>
            <a:ahLst/>
            <a:cxnLst/>
            <a:rect l="l" t="t" r="r" b="b"/>
            <a:pathLst>
              <a:path w="5657837" h="4790018">
                <a:moveTo>
                  <a:pt x="68066" y="0"/>
                </a:moveTo>
                <a:lnTo>
                  <a:pt x="5589771" y="0"/>
                </a:lnTo>
                <a:cubicBezTo>
                  <a:pt x="5627362" y="0"/>
                  <a:pt x="5657837" y="30474"/>
                  <a:pt x="5657837" y="68066"/>
                </a:cubicBezTo>
                <a:lnTo>
                  <a:pt x="5657837" y="4721952"/>
                </a:lnTo>
                <a:cubicBezTo>
                  <a:pt x="5657837" y="4759544"/>
                  <a:pt x="5627362" y="4790018"/>
                  <a:pt x="5589771" y="4790018"/>
                </a:cubicBezTo>
                <a:lnTo>
                  <a:pt x="68066" y="4790018"/>
                </a:lnTo>
                <a:cubicBezTo>
                  <a:pt x="30474" y="4790018"/>
                  <a:pt x="0" y="4759544"/>
                  <a:pt x="0" y="4721952"/>
                </a:cubicBezTo>
                <a:lnTo>
                  <a:pt x="0" y="68066"/>
                </a:lnTo>
                <a:cubicBezTo>
                  <a:pt x="0" y="30499"/>
                  <a:pt x="30499" y="0"/>
                  <a:pt x="68066" y="0"/>
                </a:cubicBezTo>
                <a:close/>
              </a:path>
            </a:pathLst>
          </a:custGeom>
          <a:gradFill flip="none" rotWithShape="1">
            <a:gsLst>
              <a:gs pos="0">
                <a:srgbClr val="D4A373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12700">
            <a:solidFill>
              <a:srgbClr val="D4A373">
                <a:alpha val="4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359217" y="1301728"/>
            <a:ext cx="476449" cy="476449"/>
          </a:xfrm>
          <a:custGeom>
            <a:avLst/>
            <a:gdLst/>
            <a:ahLst/>
            <a:cxnLst/>
            <a:rect l="l" t="t" r="r" b="b"/>
            <a:pathLst>
              <a:path w="476449" h="476449">
                <a:moveTo>
                  <a:pt x="68066" y="0"/>
                </a:moveTo>
                <a:lnTo>
                  <a:pt x="408384" y="0"/>
                </a:lnTo>
                <a:cubicBezTo>
                  <a:pt x="445975" y="0"/>
                  <a:pt x="476449" y="30474"/>
                  <a:pt x="476449" y="68066"/>
                </a:cubicBezTo>
                <a:lnTo>
                  <a:pt x="476449" y="408384"/>
                </a:lnTo>
                <a:cubicBezTo>
                  <a:pt x="476449" y="445975"/>
                  <a:pt x="445975" y="476449"/>
                  <a:pt x="408384" y="476449"/>
                </a:cubicBezTo>
                <a:lnTo>
                  <a:pt x="68066" y="476449"/>
                </a:lnTo>
                <a:cubicBezTo>
                  <a:pt x="30474" y="476449"/>
                  <a:pt x="0" y="445975"/>
                  <a:pt x="0" y="408384"/>
                </a:cubicBezTo>
                <a:lnTo>
                  <a:pt x="0" y="68066"/>
                </a:lnTo>
                <a:cubicBezTo>
                  <a:pt x="0" y="30474"/>
                  <a:pt x="30474" y="0"/>
                  <a:pt x="68066" y="0"/>
                </a:cubicBezTo>
                <a:close/>
              </a:path>
            </a:pathLst>
          </a:custGeom>
          <a:solidFill>
            <a:srgbClr val="D4A373"/>
          </a:solidFill>
        </p:spPr>
      </p:sp>
      <p:sp>
        <p:nvSpPr>
          <p:cNvPr id="30" name="Shape 28"/>
          <p:cNvSpPr/>
          <p:nvPr/>
        </p:nvSpPr>
        <p:spPr>
          <a:xfrm>
            <a:off x="6495345" y="1437856"/>
            <a:ext cx="204193" cy="204193"/>
          </a:xfrm>
          <a:custGeom>
            <a:avLst/>
            <a:gdLst/>
            <a:ahLst/>
            <a:cxnLst/>
            <a:rect l="l" t="t" r="r" b="b"/>
            <a:pathLst>
              <a:path w="204193" h="204193">
                <a:moveTo>
                  <a:pt x="47858" y="22334"/>
                </a:moveTo>
                <a:cubicBezTo>
                  <a:pt x="47858" y="10010"/>
                  <a:pt x="57868" y="0"/>
                  <a:pt x="70191" y="0"/>
                </a:cubicBezTo>
                <a:lnTo>
                  <a:pt x="79763" y="0"/>
                </a:lnTo>
                <a:cubicBezTo>
                  <a:pt x="86822" y="0"/>
                  <a:pt x="92525" y="5703"/>
                  <a:pt x="92525" y="12762"/>
                </a:cubicBezTo>
                <a:lnTo>
                  <a:pt x="92525" y="191431"/>
                </a:lnTo>
                <a:cubicBezTo>
                  <a:pt x="92525" y="198490"/>
                  <a:pt x="86822" y="204193"/>
                  <a:pt x="79763" y="204193"/>
                </a:cubicBezTo>
                <a:lnTo>
                  <a:pt x="67001" y="204193"/>
                </a:lnTo>
                <a:cubicBezTo>
                  <a:pt x="55116" y="204193"/>
                  <a:pt x="45106" y="196057"/>
                  <a:pt x="42274" y="185050"/>
                </a:cubicBezTo>
                <a:cubicBezTo>
                  <a:pt x="41995" y="185050"/>
                  <a:pt x="41756" y="185050"/>
                  <a:pt x="41477" y="185050"/>
                </a:cubicBezTo>
                <a:cubicBezTo>
                  <a:pt x="23849" y="185050"/>
                  <a:pt x="9572" y="170772"/>
                  <a:pt x="9572" y="153144"/>
                </a:cubicBezTo>
                <a:cubicBezTo>
                  <a:pt x="9572" y="145966"/>
                  <a:pt x="11964" y="139345"/>
                  <a:pt x="15953" y="134001"/>
                </a:cubicBezTo>
                <a:cubicBezTo>
                  <a:pt x="8216" y="128179"/>
                  <a:pt x="3191" y="118926"/>
                  <a:pt x="3191" y="108477"/>
                </a:cubicBezTo>
                <a:cubicBezTo>
                  <a:pt x="3191" y="96154"/>
                  <a:pt x="10210" y="85426"/>
                  <a:pt x="20419" y="80122"/>
                </a:cubicBezTo>
                <a:cubicBezTo>
                  <a:pt x="17588" y="75336"/>
                  <a:pt x="15953" y="69753"/>
                  <a:pt x="15953" y="63810"/>
                </a:cubicBezTo>
                <a:cubicBezTo>
                  <a:pt x="15953" y="46183"/>
                  <a:pt x="30230" y="31905"/>
                  <a:pt x="47858" y="31905"/>
                </a:cubicBezTo>
                <a:lnTo>
                  <a:pt x="47858" y="22334"/>
                </a:lnTo>
                <a:close/>
                <a:moveTo>
                  <a:pt x="156335" y="22334"/>
                </a:moveTo>
                <a:lnTo>
                  <a:pt x="156335" y="31905"/>
                </a:lnTo>
                <a:cubicBezTo>
                  <a:pt x="173963" y="31905"/>
                  <a:pt x="188240" y="46183"/>
                  <a:pt x="188240" y="63810"/>
                </a:cubicBezTo>
                <a:cubicBezTo>
                  <a:pt x="188240" y="69792"/>
                  <a:pt x="186605" y="75376"/>
                  <a:pt x="183773" y="80122"/>
                </a:cubicBezTo>
                <a:cubicBezTo>
                  <a:pt x="194023" y="85426"/>
                  <a:pt x="201002" y="96114"/>
                  <a:pt x="201002" y="108477"/>
                </a:cubicBezTo>
                <a:cubicBezTo>
                  <a:pt x="201002" y="118926"/>
                  <a:pt x="195977" y="128179"/>
                  <a:pt x="188240" y="134001"/>
                </a:cubicBezTo>
                <a:cubicBezTo>
                  <a:pt x="192228" y="139345"/>
                  <a:pt x="194621" y="145966"/>
                  <a:pt x="194621" y="153144"/>
                </a:cubicBezTo>
                <a:cubicBezTo>
                  <a:pt x="194621" y="170772"/>
                  <a:pt x="180344" y="185050"/>
                  <a:pt x="162716" y="185050"/>
                </a:cubicBezTo>
                <a:cubicBezTo>
                  <a:pt x="162437" y="185050"/>
                  <a:pt x="162198" y="185050"/>
                  <a:pt x="161918" y="185050"/>
                </a:cubicBezTo>
                <a:cubicBezTo>
                  <a:pt x="159087" y="196057"/>
                  <a:pt x="149077" y="204193"/>
                  <a:pt x="137192" y="204193"/>
                </a:cubicBezTo>
                <a:lnTo>
                  <a:pt x="124430" y="204193"/>
                </a:lnTo>
                <a:cubicBezTo>
                  <a:pt x="117371" y="204193"/>
                  <a:pt x="111668" y="198490"/>
                  <a:pt x="111668" y="191431"/>
                </a:cubicBezTo>
                <a:lnTo>
                  <a:pt x="111668" y="12762"/>
                </a:lnTo>
                <a:cubicBezTo>
                  <a:pt x="111668" y="5703"/>
                  <a:pt x="117371" y="0"/>
                  <a:pt x="124430" y="0"/>
                </a:cubicBezTo>
                <a:lnTo>
                  <a:pt x="134001" y="0"/>
                </a:lnTo>
                <a:cubicBezTo>
                  <a:pt x="146325" y="0"/>
                  <a:pt x="156335" y="10010"/>
                  <a:pt x="156335" y="22334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31" name="Text 29"/>
          <p:cNvSpPr/>
          <p:nvPr/>
        </p:nvSpPr>
        <p:spPr>
          <a:xfrm>
            <a:off x="6937763" y="1403824"/>
            <a:ext cx="1939830" cy="27225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10" b="1" dirty="0">
                <a:solidFill>
                  <a:srgbClr val="F0F0F0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软算法：AI双层优化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376233" y="1914306"/>
            <a:ext cx="5291992" cy="1140075"/>
          </a:xfrm>
          <a:custGeom>
            <a:avLst/>
            <a:gdLst/>
            <a:ahLst/>
            <a:cxnLst/>
            <a:rect l="l" t="t" r="r" b="b"/>
            <a:pathLst>
              <a:path w="5291992" h="1140075">
                <a:moveTo>
                  <a:pt x="34032" y="0"/>
                </a:moveTo>
                <a:lnTo>
                  <a:pt x="5223929" y="0"/>
                </a:lnTo>
                <a:cubicBezTo>
                  <a:pt x="5261519" y="0"/>
                  <a:pt x="5291992" y="30473"/>
                  <a:pt x="5291992" y="68062"/>
                </a:cubicBezTo>
                <a:lnTo>
                  <a:pt x="5291992" y="1072013"/>
                </a:lnTo>
                <a:cubicBezTo>
                  <a:pt x="5291992" y="1109603"/>
                  <a:pt x="5261519" y="1140075"/>
                  <a:pt x="5223929" y="1140075"/>
                </a:cubicBezTo>
                <a:lnTo>
                  <a:pt x="34032" y="1140075"/>
                </a:lnTo>
                <a:cubicBezTo>
                  <a:pt x="15237" y="1140075"/>
                  <a:pt x="0" y="1124839"/>
                  <a:pt x="0" y="1106043"/>
                </a:cubicBezTo>
                <a:lnTo>
                  <a:pt x="0" y="34032"/>
                </a:lnTo>
                <a:cubicBezTo>
                  <a:pt x="0" y="15237"/>
                  <a:pt x="15237" y="0"/>
                  <a:pt x="34032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</p:spPr>
      </p:sp>
      <p:sp>
        <p:nvSpPr>
          <p:cNvPr id="33" name="Shape 31"/>
          <p:cNvSpPr/>
          <p:nvPr/>
        </p:nvSpPr>
        <p:spPr>
          <a:xfrm>
            <a:off x="6376233" y="1914306"/>
            <a:ext cx="34032" cy="1140075"/>
          </a:xfrm>
          <a:custGeom>
            <a:avLst/>
            <a:gdLst/>
            <a:ahLst/>
            <a:cxnLst/>
            <a:rect l="l" t="t" r="r" b="b"/>
            <a:pathLst>
              <a:path w="34032" h="1140075">
                <a:moveTo>
                  <a:pt x="34032" y="0"/>
                </a:moveTo>
                <a:lnTo>
                  <a:pt x="34032" y="0"/>
                </a:lnTo>
                <a:lnTo>
                  <a:pt x="34032" y="1140075"/>
                </a:lnTo>
                <a:lnTo>
                  <a:pt x="34032" y="1140075"/>
                </a:lnTo>
                <a:cubicBezTo>
                  <a:pt x="15237" y="1140075"/>
                  <a:pt x="0" y="1124839"/>
                  <a:pt x="0" y="1106043"/>
                </a:cubicBezTo>
                <a:lnTo>
                  <a:pt x="0" y="34032"/>
                </a:lnTo>
                <a:cubicBezTo>
                  <a:pt x="0" y="15237"/>
                  <a:pt x="15237" y="0"/>
                  <a:pt x="34032" y="0"/>
                </a:cubicBezTo>
                <a:close/>
              </a:path>
            </a:pathLst>
          </a:custGeom>
          <a:solidFill>
            <a:srgbClr val="D4A373"/>
          </a:solidFill>
        </p:spPr>
      </p:sp>
      <p:sp>
        <p:nvSpPr>
          <p:cNvPr id="34" name="Text 32"/>
          <p:cNvSpPr/>
          <p:nvPr/>
        </p:nvSpPr>
        <p:spPr>
          <a:xfrm>
            <a:off x="6495345" y="2016402"/>
            <a:ext cx="5138847" cy="20419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0" b="1" dirty="0">
                <a:solidFill>
                  <a:srgbClr val="D4A373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预测引擎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495345" y="2254627"/>
            <a:ext cx="5138847" cy="18717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70" dirty="0">
                <a:solidFill>
                  <a:srgbClr val="F0F0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LSTM+Attention深度学习模型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495345" y="2509867"/>
            <a:ext cx="986931" cy="20419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电价预测MAPE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495345" y="2714060"/>
            <a:ext cx="1003947" cy="2382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40" b="1" dirty="0">
                <a:solidFill>
                  <a:srgbClr val="D4A373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&lt;8%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7549011" y="2509867"/>
            <a:ext cx="884835" cy="20419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负荷预测精度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7549011" y="2714060"/>
            <a:ext cx="901851" cy="2382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40" b="1" dirty="0">
                <a:solidFill>
                  <a:srgbClr val="D4A373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&gt;92%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376233" y="3156477"/>
            <a:ext cx="5291992" cy="816770"/>
          </a:xfrm>
          <a:custGeom>
            <a:avLst/>
            <a:gdLst/>
            <a:ahLst/>
            <a:cxnLst/>
            <a:rect l="l" t="t" r="r" b="b"/>
            <a:pathLst>
              <a:path w="5291992" h="816770">
                <a:moveTo>
                  <a:pt x="34032" y="0"/>
                </a:moveTo>
                <a:lnTo>
                  <a:pt x="5223930" y="0"/>
                </a:lnTo>
                <a:cubicBezTo>
                  <a:pt x="5261519" y="0"/>
                  <a:pt x="5291992" y="30472"/>
                  <a:pt x="5291992" y="68061"/>
                </a:cubicBezTo>
                <a:lnTo>
                  <a:pt x="5291992" y="748709"/>
                </a:lnTo>
                <a:cubicBezTo>
                  <a:pt x="5291992" y="786298"/>
                  <a:pt x="5261519" y="816770"/>
                  <a:pt x="5223930" y="816770"/>
                </a:cubicBezTo>
                <a:lnTo>
                  <a:pt x="34032" y="816770"/>
                </a:lnTo>
                <a:cubicBezTo>
                  <a:pt x="15237" y="816770"/>
                  <a:pt x="0" y="801534"/>
                  <a:pt x="0" y="782738"/>
                </a:cubicBezTo>
                <a:lnTo>
                  <a:pt x="0" y="34032"/>
                </a:lnTo>
                <a:cubicBezTo>
                  <a:pt x="0" y="15237"/>
                  <a:pt x="15237" y="0"/>
                  <a:pt x="34032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</p:spPr>
      </p:sp>
      <p:sp>
        <p:nvSpPr>
          <p:cNvPr id="41" name="Shape 39"/>
          <p:cNvSpPr/>
          <p:nvPr/>
        </p:nvSpPr>
        <p:spPr>
          <a:xfrm>
            <a:off x="6376233" y="3156477"/>
            <a:ext cx="34032" cy="816770"/>
          </a:xfrm>
          <a:custGeom>
            <a:avLst/>
            <a:gdLst/>
            <a:ahLst/>
            <a:cxnLst/>
            <a:rect l="l" t="t" r="r" b="b"/>
            <a:pathLst>
              <a:path w="34032" h="816770">
                <a:moveTo>
                  <a:pt x="34032" y="0"/>
                </a:moveTo>
                <a:lnTo>
                  <a:pt x="34032" y="0"/>
                </a:lnTo>
                <a:lnTo>
                  <a:pt x="34032" y="816770"/>
                </a:lnTo>
                <a:lnTo>
                  <a:pt x="34032" y="816770"/>
                </a:lnTo>
                <a:cubicBezTo>
                  <a:pt x="15237" y="816770"/>
                  <a:pt x="0" y="801534"/>
                  <a:pt x="0" y="782738"/>
                </a:cubicBezTo>
                <a:lnTo>
                  <a:pt x="0" y="34032"/>
                </a:lnTo>
                <a:cubicBezTo>
                  <a:pt x="0" y="15237"/>
                  <a:pt x="15237" y="0"/>
                  <a:pt x="34032" y="0"/>
                </a:cubicBezTo>
                <a:close/>
              </a:path>
            </a:pathLst>
          </a:custGeom>
          <a:solidFill>
            <a:srgbClr val="4A6C8C"/>
          </a:solidFill>
        </p:spPr>
      </p:sp>
      <p:sp>
        <p:nvSpPr>
          <p:cNvPr id="42" name="Text 40"/>
          <p:cNvSpPr/>
          <p:nvPr/>
        </p:nvSpPr>
        <p:spPr>
          <a:xfrm>
            <a:off x="6495345" y="3258574"/>
            <a:ext cx="5138847" cy="20419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0" b="1" dirty="0">
                <a:solidFill>
                  <a:srgbClr val="D4A373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优化决策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6495345" y="3496798"/>
            <a:ext cx="5138847" cy="18717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70" dirty="0">
                <a:solidFill>
                  <a:srgbClr val="F0F0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双层博弈模型 + MPC滚动优化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6495345" y="3683975"/>
            <a:ext cx="5138847" cy="18717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7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偏差控制&lt;</a:t>
            </a:r>
            <a:r>
              <a:rPr lang="en-US" sz="1070" b="1" dirty="0">
                <a:solidFill>
                  <a:srgbClr val="D4A373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2%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6376233" y="4075344"/>
            <a:ext cx="5291992" cy="748706"/>
          </a:xfrm>
          <a:custGeom>
            <a:avLst/>
            <a:gdLst/>
            <a:ahLst/>
            <a:cxnLst/>
            <a:rect l="l" t="t" r="r" b="b"/>
            <a:pathLst>
              <a:path w="5291992" h="748706">
                <a:moveTo>
                  <a:pt x="34032" y="0"/>
                </a:moveTo>
                <a:lnTo>
                  <a:pt x="5223927" y="0"/>
                </a:lnTo>
                <a:cubicBezTo>
                  <a:pt x="5261518" y="0"/>
                  <a:pt x="5291992" y="30474"/>
                  <a:pt x="5291992" y="68065"/>
                </a:cubicBezTo>
                <a:lnTo>
                  <a:pt x="5291992" y="680641"/>
                </a:lnTo>
                <a:cubicBezTo>
                  <a:pt x="5291992" y="718233"/>
                  <a:pt x="5261518" y="748706"/>
                  <a:pt x="5223927" y="748706"/>
                </a:cubicBezTo>
                <a:lnTo>
                  <a:pt x="34032" y="748706"/>
                </a:lnTo>
                <a:cubicBezTo>
                  <a:pt x="15237" y="748706"/>
                  <a:pt x="0" y="733470"/>
                  <a:pt x="0" y="714674"/>
                </a:cubicBezTo>
                <a:lnTo>
                  <a:pt x="0" y="34032"/>
                </a:lnTo>
                <a:cubicBezTo>
                  <a:pt x="0" y="15249"/>
                  <a:pt x="15249" y="0"/>
                  <a:pt x="34032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</p:spPr>
      </p:sp>
      <p:sp>
        <p:nvSpPr>
          <p:cNvPr id="46" name="Shape 44"/>
          <p:cNvSpPr/>
          <p:nvPr/>
        </p:nvSpPr>
        <p:spPr>
          <a:xfrm>
            <a:off x="6376233" y="4075344"/>
            <a:ext cx="34032" cy="748706"/>
          </a:xfrm>
          <a:custGeom>
            <a:avLst/>
            <a:gdLst/>
            <a:ahLst/>
            <a:cxnLst/>
            <a:rect l="l" t="t" r="r" b="b"/>
            <a:pathLst>
              <a:path w="34032" h="748706">
                <a:moveTo>
                  <a:pt x="34032" y="0"/>
                </a:moveTo>
                <a:lnTo>
                  <a:pt x="34032" y="0"/>
                </a:lnTo>
                <a:lnTo>
                  <a:pt x="34032" y="748706"/>
                </a:lnTo>
                <a:lnTo>
                  <a:pt x="34032" y="748706"/>
                </a:lnTo>
                <a:cubicBezTo>
                  <a:pt x="15237" y="748706"/>
                  <a:pt x="0" y="733470"/>
                  <a:pt x="0" y="714674"/>
                </a:cubicBezTo>
                <a:lnTo>
                  <a:pt x="0" y="34032"/>
                </a:lnTo>
                <a:cubicBezTo>
                  <a:pt x="0" y="15237"/>
                  <a:pt x="15237" y="0"/>
                  <a:pt x="34032" y="0"/>
                </a:cubicBezTo>
                <a:close/>
              </a:path>
            </a:pathLst>
          </a:custGeom>
          <a:solidFill>
            <a:srgbClr val="8D99AE"/>
          </a:solidFill>
        </p:spPr>
      </p:sp>
      <p:sp>
        <p:nvSpPr>
          <p:cNvPr id="47" name="Text 45"/>
          <p:cNvSpPr/>
          <p:nvPr/>
        </p:nvSpPr>
        <p:spPr>
          <a:xfrm>
            <a:off x="6495345" y="4177440"/>
            <a:ext cx="5138847" cy="20419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0" b="1" dirty="0">
                <a:solidFill>
                  <a:srgbClr val="D4A373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收益提升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6495345" y="4415665"/>
            <a:ext cx="1054995" cy="30628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10" b="1" dirty="0">
                <a:solidFill>
                  <a:srgbClr val="D4A373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10-15%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7490518" y="4500745"/>
            <a:ext cx="884835" cy="20419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预期收益提升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6376233" y="4926147"/>
            <a:ext cx="5291992" cy="816770"/>
          </a:xfrm>
          <a:custGeom>
            <a:avLst/>
            <a:gdLst/>
            <a:ahLst/>
            <a:cxnLst/>
            <a:rect l="l" t="t" r="r" b="b"/>
            <a:pathLst>
              <a:path w="5291992" h="816770">
                <a:moveTo>
                  <a:pt x="34032" y="0"/>
                </a:moveTo>
                <a:lnTo>
                  <a:pt x="5223930" y="0"/>
                </a:lnTo>
                <a:cubicBezTo>
                  <a:pt x="5261519" y="0"/>
                  <a:pt x="5291992" y="30472"/>
                  <a:pt x="5291992" y="68061"/>
                </a:cubicBezTo>
                <a:lnTo>
                  <a:pt x="5291992" y="748709"/>
                </a:lnTo>
                <a:cubicBezTo>
                  <a:pt x="5291992" y="786298"/>
                  <a:pt x="5261519" y="816770"/>
                  <a:pt x="5223930" y="816770"/>
                </a:cubicBezTo>
                <a:lnTo>
                  <a:pt x="34032" y="816770"/>
                </a:lnTo>
                <a:cubicBezTo>
                  <a:pt x="15237" y="816770"/>
                  <a:pt x="0" y="801534"/>
                  <a:pt x="0" y="782738"/>
                </a:cubicBezTo>
                <a:lnTo>
                  <a:pt x="0" y="34032"/>
                </a:lnTo>
                <a:cubicBezTo>
                  <a:pt x="0" y="15237"/>
                  <a:pt x="15237" y="0"/>
                  <a:pt x="34032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</p:spPr>
      </p:sp>
      <p:sp>
        <p:nvSpPr>
          <p:cNvPr id="51" name="Shape 49"/>
          <p:cNvSpPr/>
          <p:nvPr/>
        </p:nvSpPr>
        <p:spPr>
          <a:xfrm>
            <a:off x="6376233" y="4926147"/>
            <a:ext cx="34032" cy="816770"/>
          </a:xfrm>
          <a:custGeom>
            <a:avLst/>
            <a:gdLst/>
            <a:ahLst/>
            <a:cxnLst/>
            <a:rect l="l" t="t" r="r" b="b"/>
            <a:pathLst>
              <a:path w="34032" h="816770">
                <a:moveTo>
                  <a:pt x="34032" y="0"/>
                </a:moveTo>
                <a:lnTo>
                  <a:pt x="34032" y="0"/>
                </a:lnTo>
                <a:lnTo>
                  <a:pt x="34032" y="816770"/>
                </a:lnTo>
                <a:lnTo>
                  <a:pt x="34032" y="816770"/>
                </a:lnTo>
                <a:cubicBezTo>
                  <a:pt x="15237" y="816770"/>
                  <a:pt x="0" y="801534"/>
                  <a:pt x="0" y="782738"/>
                </a:cubicBezTo>
                <a:lnTo>
                  <a:pt x="0" y="34032"/>
                </a:lnTo>
                <a:cubicBezTo>
                  <a:pt x="0" y="15237"/>
                  <a:pt x="15237" y="0"/>
                  <a:pt x="34032" y="0"/>
                </a:cubicBezTo>
                <a:close/>
              </a:path>
            </a:pathLst>
          </a:custGeom>
          <a:solidFill>
            <a:srgbClr val="4A6C8C"/>
          </a:solidFill>
        </p:spPr>
      </p:sp>
      <p:sp>
        <p:nvSpPr>
          <p:cNvPr id="52" name="Text 50"/>
          <p:cNvSpPr/>
          <p:nvPr/>
        </p:nvSpPr>
        <p:spPr>
          <a:xfrm>
            <a:off x="6495345" y="5028243"/>
            <a:ext cx="5138847" cy="20419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0" b="1" dirty="0">
                <a:solidFill>
                  <a:srgbClr val="D4A373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独家数据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6495345" y="5266468"/>
            <a:ext cx="5138847" cy="18717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70" dirty="0">
                <a:solidFill>
                  <a:srgbClr val="F0F0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广东现货历史出清数据训练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6495345" y="5453644"/>
            <a:ext cx="5138847" cy="18717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7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负荷曲线特征库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344575" y="6061968"/>
            <a:ext cx="11502850" cy="791246"/>
          </a:xfrm>
          <a:custGeom>
            <a:avLst/>
            <a:gdLst/>
            <a:ahLst/>
            <a:cxnLst/>
            <a:rect l="l" t="t" r="r" b="b"/>
            <a:pathLst>
              <a:path w="11502850" h="791246">
                <a:moveTo>
                  <a:pt x="68063" y="0"/>
                </a:moveTo>
                <a:lnTo>
                  <a:pt x="11434787" y="0"/>
                </a:lnTo>
                <a:cubicBezTo>
                  <a:pt x="11472377" y="0"/>
                  <a:pt x="11502850" y="30473"/>
                  <a:pt x="11502850" y="68063"/>
                </a:cubicBezTo>
                <a:lnTo>
                  <a:pt x="11502850" y="723183"/>
                </a:lnTo>
                <a:cubicBezTo>
                  <a:pt x="11502850" y="760773"/>
                  <a:pt x="11472377" y="791246"/>
                  <a:pt x="11434787" y="791246"/>
                </a:cubicBezTo>
                <a:lnTo>
                  <a:pt x="68063" y="791246"/>
                </a:lnTo>
                <a:cubicBezTo>
                  <a:pt x="30473" y="791246"/>
                  <a:pt x="0" y="760773"/>
                  <a:pt x="0" y="723183"/>
                </a:cubicBezTo>
                <a:lnTo>
                  <a:pt x="0" y="68063"/>
                </a:lnTo>
                <a:cubicBezTo>
                  <a:pt x="0" y="30473"/>
                  <a:pt x="30473" y="0"/>
                  <a:pt x="68063" y="0"/>
                </a:cubicBezTo>
                <a:close/>
              </a:path>
            </a:pathLst>
          </a:custGeom>
          <a:gradFill flip="none" rotWithShape="1">
            <a:gsLst>
              <a:gs pos="0">
                <a:srgbClr val="4A6C8C">
                  <a:alpha val="30000"/>
                </a:srgbClr>
              </a:gs>
              <a:gs pos="100000">
                <a:srgbClr val="D4A373">
                  <a:alpha val="30000"/>
                </a:srgbClr>
              </a:gs>
            </a:gsLst>
            <a:lin ang="0" scaled="1"/>
          </a:gradFill>
          <a:ln w="12700">
            <a:solidFill>
              <a:srgbClr val="D4A373">
                <a:alpha val="50196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510482" y="6355495"/>
            <a:ext cx="204193" cy="204193"/>
          </a:xfrm>
          <a:custGeom>
            <a:avLst/>
            <a:gdLst/>
            <a:ahLst/>
            <a:cxnLst/>
            <a:rect l="l" t="t" r="r" b="b"/>
            <a:pathLst>
              <a:path w="204193" h="204193">
                <a:moveTo>
                  <a:pt x="102096" y="0"/>
                </a:moveTo>
                <a:cubicBezTo>
                  <a:pt x="103931" y="0"/>
                  <a:pt x="105765" y="399"/>
                  <a:pt x="107440" y="1157"/>
                </a:cubicBezTo>
                <a:lnTo>
                  <a:pt x="182577" y="33022"/>
                </a:lnTo>
                <a:cubicBezTo>
                  <a:pt x="191351" y="36731"/>
                  <a:pt x="197891" y="45385"/>
                  <a:pt x="197851" y="55834"/>
                </a:cubicBezTo>
                <a:cubicBezTo>
                  <a:pt x="197652" y="95396"/>
                  <a:pt x="181380" y="167781"/>
                  <a:pt x="112665" y="200683"/>
                </a:cubicBezTo>
                <a:cubicBezTo>
                  <a:pt x="106005" y="203874"/>
                  <a:pt x="98268" y="203874"/>
                  <a:pt x="91608" y="200683"/>
                </a:cubicBezTo>
                <a:cubicBezTo>
                  <a:pt x="22852" y="167781"/>
                  <a:pt x="6620" y="95396"/>
                  <a:pt x="6421" y="55834"/>
                </a:cubicBezTo>
                <a:cubicBezTo>
                  <a:pt x="6381" y="45385"/>
                  <a:pt x="12922" y="36731"/>
                  <a:pt x="21695" y="33022"/>
                </a:cubicBezTo>
                <a:lnTo>
                  <a:pt x="96792" y="1157"/>
                </a:lnTo>
                <a:cubicBezTo>
                  <a:pt x="98467" y="399"/>
                  <a:pt x="100262" y="0"/>
                  <a:pt x="102096" y="0"/>
                </a:cubicBezTo>
                <a:close/>
                <a:moveTo>
                  <a:pt x="102096" y="26641"/>
                </a:moveTo>
                <a:lnTo>
                  <a:pt x="102096" y="177432"/>
                </a:lnTo>
                <a:cubicBezTo>
                  <a:pt x="157133" y="150791"/>
                  <a:pt x="171929" y="91767"/>
                  <a:pt x="172288" y="56432"/>
                </a:cubicBezTo>
                <a:lnTo>
                  <a:pt x="102096" y="26681"/>
                </a:lnTo>
                <a:lnTo>
                  <a:pt x="102096" y="26681"/>
                </a:lnTo>
                <a:close/>
              </a:path>
            </a:pathLst>
          </a:custGeom>
          <a:solidFill>
            <a:srgbClr val="D4A373"/>
          </a:solidFill>
        </p:spPr>
      </p:sp>
      <p:sp>
        <p:nvSpPr>
          <p:cNvPr id="57" name="Text 55"/>
          <p:cNvSpPr/>
          <p:nvPr/>
        </p:nvSpPr>
        <p:spPr>
          <a:xfrm>
            <a:off x="842294" y="6236382"/>
            <a:ext cx="2611964" cy="2382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5" b="1" dirty="0">
                <a:solidFill>
                  <a:srgbClr val="F0F0F0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核心竞争优势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842294" y="6474607"/>
            <a:ext cx="2603456" cy="20419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硬科技+软算法双轮驱动，构建技术护城河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8859779" y="6202350"/>
            <a:ext cx="663626" cy="20419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7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效率领先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8842763" y="6440575"/>
            <a:ext cx="697658" cy="27225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610" b="1" dirty="0">
                <a:solidFill>
                  <a:srgbClr val="D4A373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98.5%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9696623" y="6202350"/>
            <a:ext cx="8508" cy="510482"/>
          </a:xfrm>
          <a:custGeom>
            <a:avLst/>
            <a:gdLst/>
            <a:ahLst/>
            <a:cxnLst/>
            <a:rect l="l" t="t" r="r" b="b"/>
            <a:pathLst>
              <a:path w="8508" h="510482">
                <a:moveTo>
                  <a:pt x="0" y="0"/>
                </a:moveTo>
                <a:lnTo>
                  <a:pt x="8508" y="0"/>
                </a:lnTo>
                <a:lnTo>
                  <a:pt x="8508" y="510482"/>
                </a:lnTo>
                <a:lnTo>
                  <a:pt x="0" y="510482"/>
                </a:lnTo>
                <a:lnTo>
                  <a:pt x="0" y="0"/>
                </a:lnTo>
                <a:close/>
              </a:path>
            </a:pathLst>
          </a:custGeom>
          <a:solidFill>
            <a:srgbClr val="8D99AE">
              <a:alpha val="30196"/>
            </a:srgbClr>
          </a:solidFill>
        </p:spPr>
      </p:sp>
      <p:sp>
        <p:nvSpPr>
          <p:cNvPr id="62" name="Text 60"/>
          <p:cNvSpPr/>
          <p:nvPr/>
        </p:nvSpPr>
        <p:spPr>
          <a:xfrm>
            <a:off x="9875291" y="6202350"/>
            <a:ext cx="808262" cy="20419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7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收益提升</a:t>
            </a: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9858275" y="6440575"/>
            <a:ext cx="842294" cy="27225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610" b="1" dirty="0">
                <a:solidFill>
                  <a:srgbClr val="D4A373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10-15%</a:t>
            </a:r>
            <a:endParaRPr lang="en-US" sz="1600" dirty="0"/>
          </a:p>
        </p:txBody>
      </p:sp>
      <p:sp>
        <p:nvSpPr>
          <p:cNvPr id="64" name="Shape 62"/>
          <p:cNvSpPr/>
          <p:nvPr/>
        </p:nvSpPr>
        <p:spPr>
          <a:xfrm>
            <a:off x="10855177" y="6202350"/>
            <a:ext cx="8508" cy="510482"/>
          </a:xfrm>
          <a:custGeom>
            <a:avLst/>
            <a:gdLst/>
            <a:ahLst/>
            <a:cxnLst/>
            <a:rect l="l" t="t" r="r" b="b"/>
            <a:pathLst>
              <a:path w="8508" h="510482">
                <a:moveTo>
                  <a:pt x="0" y="0"/>
                </a:moveTo>
                <a:lnTo>
                  <a:pt x="8508" y="0"/>
                </a:lnTo>
                <a:lnTo>
                  <a:pt x="8508" y="510482"/>
                </a:lnTo>
                <a:lnTo>
                  <a:pt x="0" y="510482"/>
                </a:lnTo>
                <a:lnTo>
                  <a:pt x="0" y="0"/>
                </a:lnTo>
                <a:close/>
              </a:path>
            </a:pathLst>
          </a:custGeom>
          <a:solidFill>
            <a:srgbClr val="8D99AE">
              <a:alpha val="30196"/>
            </a:srgbClr>
          </a:solidFill>
        </p:spPr>
      </p:sp>
      <p:sp>
        <p:nvSpPr>
          <p:cNvPr id="65" name="Text 63"/>
          <p:cNvSpPr/>
          <p:nvPr/>
        </p:nvSpPr>
        <p:spPr>
          <a:xfrm>
            <a:off x="11033845" y="6202350"/>
            <a:ext cx="706166" cy="20419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7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切换时间</a:t>
            </a:r>
            <a:endParaRPr lang="en-US" sz="1600" dirty="0"/>
          </a:p>
        </p:txBody>
      </p:sp>
      <p:sp>
        <p:nvSpPr>
          <p:cNvPr id="66" name="Text 64"/>
          <p:cNvSpPr/>
          <p:nvPr/>
        </p:nvSpPr>
        <p:spPr>
          <a:xfrm>
            <a:off x="11016829" y="6440575"/>
            <a:ext cx="740198" cy="27225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610" b="1" dirty="0">
                <a:solidFill>
                  <a:srgbClr val="D4A373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&lt;20ms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9847" y="373831"/>
            <a:ext cx="33985" cy="271877"/>
          </a:xfrm>
          <a:custGeom>
            <a:avLst/>
            <a:gdLst/>
            <a:ahLst/>
            <a:cxnLst/>
            <a:rect l="l" t="t" r="r" b="b"/>
            <a:pathLst>
              <a:path w="33985" h="271877">
                <a:moveTo>
                  <a:pt x="0" y="0"/>
                </a:moveTo>
                <a:lnTo>
                  <a:pt x="33985" y="0"/>
                </a:lnTo>
                <a:lnTo>
                  <a:pt x="33985" y="271877"/>
                </a:lnTo>
                <a:lnTo>
                  <a:pt x="0" y="271877"/>
                </a:lnTo>
                <a:lnTo>
                  <a:pt x="0" y="0"/>
                </a:lnTo>
                <a:close/>
              </a:path>
            </a:pathLst>
          </a:custGeom>
          <a:solidFill>
            <a:srgbClr val="D4A373"/>
          </a:solidFill>
        </p:spPr>
      </p:sp>
      <p:sp>
        <p:nvSpPr>
          <p:cNvPr id="3" name="Text 1"/>
          <p:cNvSpPr/>
          <p:nvPr/>
        </p:nvSpPr>
        <p:spPr>
          <a:xfrm>
            <a:off x="475785" y="339847"/>
            <a:ext cx="3211551" cy="33984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410" b="1" dirty="0">
                <a:solidFill>
                  <a:srgbClr val="F0F0F0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财务模型与敏感性分析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09770" y="747663"/>
            <a:ext cx="11418849" cy="23789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5" dirty="0">
                <a:solidFill>
                  <a:srgbClr val="8D99AE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FINANCIAL MODEL &amp; SENSITIVITY ANALYSIS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44095" y="1125742"/>
            <a:ext cx="11503810" cy="3551398"/>
          </a:xfrm>
          <a:custGeom>
            <a:avLst/>
            <a:gdLst/>
            <a:ahLst/>
            <a:cxnLst/>
            <a:rect l="l" t="t" r="r" b="b"/>
            <a:pathLst>
              <a:path w="11503810" h="3551398">
                <a:moveTo>
                  <a:pt x="67974" y="0"/>
                </a:moveTo>
                <a:lnTo>
                  <a:pt x="11435837" y="0"/>
                </a:lnTo>
                <a:cubicBezTo>
                  <a:pt x="11473378" y="0"/>
                  <a:pt x="11503810" y="30433"/>
                  <a:pt x="11503810" y="67974"/>
                </a:cubicBezTo>
                <a:lnTo>
                  <a:pt x="11503810" y="3483424"/>
                </a:lnTo>
                <a:cubicBezTo>
                  <a:pt x="11503810" y="3520965"/>
                  <a:pt x="11473378" y="3551398"/>
                  <a:pt x="11435837" y="3551398"/>
                </a:cubicBezTo>
                <a:lnTo>
                  <a:pt x="67974" y="3551398"/>
                </a:lnTo>
                <a:cubicBezTo>
                  <a:pt x="30433" y="3551398"/>
                  <a:pt x="0" y="3520965"/>
                  <a:pt x="0" y="3483424"/>
                </a:cubicBezTo>
                <a:lnTo>
                  <a:pt x="0" y="67974"/>
                </a:lnTo>
                <a:cubicBezTo>
                  <a:pt x="0" y="30458"/>
                  <a:pt x="30458" y="0"/>
                  <a:pt x="67974" y="0"/>
                </a:cubicBezTo>
                <a:close/>
              </a:path>
            </a:pathLst>
          </a:custGeom>
          <a:gradFill flip="none" rotWithShape="1">
            <a:gsLst>
              <a:gs pos="0">
                <a:srgbClr val="4A6C8C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12700">
            <a:solidFill>
              <a:srgbClr val="4A6C8C">
                <a:alpha val="40000"/>
              </a:srgbClr>
            </a:solidFill>
            <a:prstDash val="solid"/>
          </a:ln>
        </p:spPr>
      </p:sp>
      <p:graphicFrame>
        <p:nvGraphicFramePr>
          <p:cNvPr id="11" name="Table 0"/>
          <p:cNvGraphicFramePr>
            <a:graphicFrameLocks noGrp="1"/>
          </p:cNvGraphicFramePr>
          <p:nvPr/>
        </p:nvGraphicFramePr>
        <p:xfrm>
          <a:off x="518266" y="1299914"/>
          <a:ext cx="11155468" cy="3203055"/>
        </p:xfrm>
        <a:graphic>
          <a:graphicData uri="http://schemas.openxmlformats.org/drawingml/2006/table">
            <a:tbl>
              <a:tblPr/>
              <a:tblGrid>
                <a:gridCol w="3111967"/>
                <a:gridCol w="2635819"/>
                <a:gridCol w="2627317"/>
                <a:gridCol w="2780364"/>
              </a:tblGrid>
              <a:tr h="355895">
                <a:tc>
                  <a:txBody>
                    <a:bodyPr/>
                    <a:lstStyle/>
                    <a:p>
                      <a:pPr algn="l"/>
                      <a:r>
                        <a:rPr lang="en-US" sz="1000" b="1" u="none" dirty="0">
                          <a:solidFill>
                            <a:srgbClr val="F0F0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指标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954" marR="101954" marT="67969" marB="6796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4A6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u="none" dirty="0">
                          <a:solidFill>
                            <a:srgbClr val="F0F0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基准情景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954" marR="101954" marT="67969" marB="6796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4A6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u="none" dirty="0">
                          <a:solidFill>
                            <a:srgbClr val="F0F0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悲观情景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954" marR="101954" marT="67969" marB="6796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4A6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u="none" dirty="0">
                          <a:solidFill>
                            <a:srgbClr val="F0F0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乐观情景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954" marR="101954" marT="67969" marB="6796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4A6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55895">
                <a:tc>
                  <a:txBody>
                    <a:bodyPr/>
                    <a:lstStyle/>
                    <a:p>
                      <a:r>
                        <a:rPr lang="en-US" sz="1000" b="1" u="none" dirty="0">
                          <a:solidFill>
                            <a:srgbClr val="F0F0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上海项目IRR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954" marR="101954" marT="67969" marB="6796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rgbClr val="F0F0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11%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954" marR="101954" marT="67969" marB="6796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rgbClr val="F0F0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7%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954" marR="101954" marT="67969" marB="6796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rgbClr val="F0F0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15%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954" marR="101954" marT="67969" marB="6796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55895">
                <a:tc>
                  <a:txBody>
                    <a:bodyPr/>
                    <a:lstStyle/>
                    <a:p>
                      <a:r>
                        <a:rPr lang="en-US" sz="1000" b="1" u="none" dirty="0">
                          <a:solidFill>
                            <a:srgbClr val="F0F0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广东项目IRR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954" marR="101954" marT="67969" marB="6796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rgbClr val="F0F0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13%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954" marR="101954" marT="67969" marB="6796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rgbClr val="F0F0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8%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954" marR="101954" marT="67969" marB="6796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rgbClr val="F0F0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18%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954" marR="101954" marT="67969" marB="6796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55895">
                <a:tc>
                  <a:txBody>
                    <a:bodyPr/>
                    <a:lstStyle/>
                    <a:p>
                      <a:r>
                        <a:rPr lang="en-US" sz="1000" b="1" u="none" dirty="0">
                          <a:solidFill>
                            <a:srgbClr val="F0F0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静态回收期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954" marR="101954" marT="67969" marB="6796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rgbClr val="4A6C8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3.5-4.5年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954" marR="101954" marT="67969" marB="6796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rgbClr val="8D99A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5-6年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954" marR="101954" marT="67969" marB="6796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rgbClr val="D4A37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2.8-3.5年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954" marR="101954" marT="67969" marB="6796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55895">
                <a:tc>
                  <a:txBody>
                    <a:bodyPr/>
                    <a:lstStyle/>
                    <a:p>
                      <a:r>
                        <a:rPr lang="en-US" sz="1000" b="1" u="none" dirty="0">
                          <a:solidFill>
                            <a:srgbClr val="F0F0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自发自用率假设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954" marR="101954" marT="67969" marB="6796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rgbClr val="4A6C8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65%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954" marR="101954" marT="67969" marB="6796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rgbClr val="8D99A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50%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954" marR="101954" marT="67969" marB="6796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rgbClr val="D4A37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80%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954" marR="101954" marT="67969" marB="6796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55895">
                <a:tc>
                  <a:txBody>
                    <a:bodyPr/>
                    <a:lstStyle/>
                    <a:p>
                      <a:r>
                        <a:rPr lang="en-US" sz="1000" b="1" u="none" dirty="0">
                          <a:solidFill>
                            <a:srgbClr val="F0F0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电价假设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954" marR="101954" marT="67969" marB="6796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rgbClr val="4A6C8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0.40元/kWh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954" marR="101954" marT="67969" marB="6796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rgbClr val="8D99A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0.30元/kWh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954" marR="101954" marT="67969" marB="6796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rgbClr val="D4A37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0.50元/kWh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954" marR="101954" marT="67969" marB="6796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55895">
                <a:tc>
                  <a:txBody>
                    <a:bodyPr/>
                    <a:lstStyle/>
                    <a:p>
                      <a:r>
                        <a:rPr lang="en-US" sz="1000" b="1" u="none" dirty="0">
                          <a:solidFill>
                            <a:srgbClr val="F0F0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负电价影响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954" marR="101954" marT="67969" marB="6796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rgbClr val="4A6C8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已计提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954" marR="101954" marT="67969" marB="6796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rgbClr val="8D99A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极端-30%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954" marR="101954" marT="67969" marB="6796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rgbClr val="D4A37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轻微-10%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954" marR="101954" marT="67969" marB="6796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55895">
                <a:tc>
                  <a:txBody>
                    <a:bodyPr/>
                    <a:lstStyle/>
                    <a:p>
                      <a:r>
                        <a:rPr lang="en-US" sz="1000" b="1" u="none" dirty="0">
                          <a:solidFill>
                            <a:srgbClr val="F0F0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债务成本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954" marR="101954" marT="67969" marB="6796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rgbClr val="4A6C8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4.5%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954" marR="101954" marT="67969" marB="6796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rgbClr val="8D99A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4.5%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954" marR="101954" marT="67969" marB="6796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rgbClr val="D4A37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4.5%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954" marR="101954" marT="67969" marB="6796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55895">
                <a:tc>
                  <a:txBody>
                    <a:bodyPr/>
                    <a:lstStyle/>
                    <a:p>
                      <a:r>
                        <a:rPr lang="en-US" sz="1000" b="1" u="none" dirty="0">
                          <a:solidFill>
                            <a:srgbClr val="F0F0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LP退出估值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954" marR="101954" marT="67969" marB="6796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rgbClr val="4A6C8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EBITDA×8倍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954" marR="101954" marT="67969" marB="6796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rgbClr val="8D99A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EBITDA×6倍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954" marR="101954" marT="67969" marB="6796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rgbClr val="D4A37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EBITDA×10倍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954" marR="101954" marT="67969" marB="6796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344095" y="4821575"/>
            <a:ext cx="3738314" cy="1028036"/>
          </a:xfrm>
          <a:custGeom>
            <a:avLst/>
            <a:gdLst/>
            <a:ahLst/>
            <a:cxnLst/>
            <a:rect l="l" t="t" r="r" b="b"/>
            <a:pathLst>
              <a:path w="3738314" h="1028036">
                <a:moveTo>
                  <a:pt x="67974" y="0"/>
                </a:moveTo>
                <a:lnTo>
                  <a:pt x="3670340" y="0"/>
                </a:lnTo>
                <a:cubicBezTo>
                  <a:pt x="3707881" y="0"/>
                  <a:pt x="3738314" y="30433"/>
                  <a:pt x="3738314" y="67974"/>
                </a:cubicBezTo>
                <a:lnTo>
                  <a:pt x="3738314" y="960062"/>
                </a:lnTo>
                <a:cubicBezTo>
                  <a:pt x="3738314" y="997603"/>
                  <a:pt x="3707881" y="1028036"/>
                  <a:pt x="3670340" y="1028036"/>
                </a:cubicBezTo>
                <a:lnTo>
                  <a:pt x="67974" y="1028036"/>
                </a:lnTo>
                <a:cubicBezTo>
                  <a:pt x="30433" y="1028036"/>
                  <a:pt x="0" y="997603"/>
                  <a:pt x="0" y="960062"/>
                </a:cubicBezTo>
                <a:lnTo>
                  <a:pt x="0" y="67974"/>
                </a:lnTo>
                <a:cubicBezTo>
                  <a:pt x="0" y="30458"/>
                  <a:pt x="30458" y="0"/>
                  <a:pt x="67974" y="0"/>
                </a:cubicBezTo>
                <a:close/>
              </a:path>
            </a:pathLst>
          </a:custGeom>
          <a:gradFill flip="none" rotWithShape="1">
            <a:gsLst>
              <a:gs pos="0">
                <a:srgbClr val="4A6C8C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12700">
            <a:solidFill>
              <a:srgbClr val="4A6C8C">
                <a:alpha val="4000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05522" y="4995746"/>
            <a:ext cx="169923" cy="169923"/>
          </a:xfrm>
          <a:custGeom>
            <a:avLst/>
            <a:gdLst/>
            <a:ahLst/>
            <a:cxnLst/>
            <a:rect l="l" t="t" r="r" b="b"/>
            <a:pathLst>
              <a:path w="169923" h="169923">
                <a:moveTo>
                  <a:pt x="21240" y="21240"/>
                </a:moveTo>
                <a:cubicBezTo>
                  <a:pt x="21240" y="15366"/>
                  <a:pt x="16495" y="10620"/>
                  <a:pt x="10620" y="10620"/>
                </a:cubicBezTo>
                <a:cubicBezTo>
                  <a:pt x="4746" y="10620"/>
                  <a:pt x="0" y="15366"/>
                  <a:pt x="0" y="21240"/>
                </a:cubicBezTo>
                <a:lnTo>
                  <a:pt x="0" y="132753"/>
                </a:lnTo>
                <a:cubicBezTo>
                  <a:pt x="0" y="147422"/>
                  <a:pt x="11881" y="159303"/>
                  <a:pt x="26551" y="159303"/>
                </a:cubicBezTo>
                <a:lnTo>
                  <a:pt x="159303" y="159303"/>
                </a:lnTo>
                <a:cubicBezTo>
                  <a:pt x="165177" y="159303"/>
                  <a:pt x="169923" y="154557"/>
                  <a:pt x="169923" y="148683"/>
                </a:cubicBezTo>
                <a:cubicBezTo>
                  <a:pt x="169923" y="142809"/>
                  <a:pt x="165177" y="138063"/>
                  <a:pt x="159303" y="138063"/>
                </a:cubicBezTo>
                <a:lnTo>
                  <a:pt x="26551" y="138063"/>
                </a:lnTo>
                <a:cubicBezTo>
                  <a:pt x="23630" y="138063"/>
                  <a:pt x="21240" y="135673"/>
                  <a:pt x="21240" y="132753"/>
                </a:cubicBezTo>
                <a:lnTo>
                  <a:pt x="21240" y="21240"/>
                </a:lnTo>
                <a:close/>
                <a:moveTo>
                  <a:pt x="156183" y="49981"/>
                </a:moveTo>
                <a:cubicBezTo>
                  <a:pt x="160332" y="45833"/>
                  <a:pt x="160332" y="39096"/>
                  <a:pt x="156183" y="34947"/>
                </a:cubicBezTo>
                <a:cubicBezTo>
                  <a:pt x="152035" y="30799"/>
                  <a:pt x="145298" y="30799"/>
                  <a:pt x="141149" y="34947"/>
                </a:cubicBezTo>
                <a:lnTo>
                  <a:pt x="106202" y="69927"/>
                </a:lnTo>
                <a:lnTo>
                  <a:pt x="87152" y="50911"/>
                </a:lnTo>
                <a:cubicBezTo>
                  <a:pt x="83004" y="46762"/>
                  <a:pt x="76266" y="46762"/>
                  <a:pt x="72118" y="50911"/>
                </a:cubicBezTo>
                <a:lnTo>
                  <a:pt x="40257" y="82771"/>
                </a:lnTo>
                <a:cubicBezTo>
                  <a:pt x="36109" y="86920"/>
                  <a:pt x="36109" y="93657"/>
                  <a:pt x="40257" y="97805"/>
                </a:cubicBezTo>
                <a:cubicBezTo>
                  <a:pt x="44406" y="101954"/>
                  <a:pt x="51143" y="101954"/>
                  <a:pt x="55291" y="97805"/>
                </a:cubicBezTo>
                <a:lnTo>
                  <a:pt x="79652" y="73445"/>
                </a:lnTo>
                <a:lnTo>
                  <a:pt x="98702" y="92495"/>
                </a:lnTo>
                <a:cubicBezTo>
                  <a:pt x="102850" y="96644"/>
                  <a:pt x="109587" y="96644"/>
                  <a:pt x="113736" y="92495"/>
                </a:cubicBezTo>
                <a:lnTo>
                  <a:pt x="156217" y="50015"/>
                </a:lnTo>
                <a:close/>
              </a:path>
            </a:pathLst>
          </a:custGeom>
          <a:solidFill>
            <a:srgbClr val="4A6C8C"/>
          </a:solidFill>
        </p:spPr>
      </p:sp>
      <p:sp>
        <p:nvSpPr>
          <p:cNvPr id="9" name="Text 6"/>
          <p:cNvSpPr/>
          <p:nvPr/>
        </p:nvSpPr>
        <p:spPr>
          <a:xfrm>
            <a:off x="764655" y="4961762"/>
            <a:ext cx="688190" cy="23789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5" b="1" dirty="0">
                <a:solidFill>
                  <a:srgbClr val="F0F0F0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基准情景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484282" y="5267624"/>
            <a:ext cx="3525909" cy="44180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7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自发自用率65%，电价0.40元/kWh，负电价影响已充分计提</a:t>
            </a:r>
            <a:endParaRPr lang="en-US" sz="1600" dirty="0"/>
          </a:p>
        </p:txBody>
      </p:sp>
      <p:sp>
        <p:nvSpPr>
          <p:cNvPr id="6" name="Shape 8"/>
          <p:cNvSpPr/>
          <p:nvPr/>
        </p:nvSpPr>
        <p:spPr>
          <a:xfrm>
            <a:off x="4225781" y="4821575"/>
            <a:ext cx="3738314" cy="1028036"/>
          </a:xfrm>
          <a:custGeom>
            <a:avLst/>
            <a:gdLst/>
            <a:ahLst/>
            <a:cxnLst/>
            <a:rect l="l" t="t" r="r" b="b"/>
            <a:pathLst>
              <a:path w="3738314" h="1028036">
                <a:moveTo>
                  <a:pt x="67974" y="0"/>
                </a:moveTo>
                <a:lnTo>
                  <a:pt x="3670340" y="0"/>
                </a:lnTo>
                <a:cubicBezTo>
                  <a:pt x="3707881" y="0"/>
                  <a:pt x="3738314" y="30433"/>
                  <a:pt x="3738314" y="67974"/>
                </a:cubicBezTo>
                <a:lnTo>
                  <a:pt x="3738314" y="960062"/>
                </a:lnTo>
                <a:cubicBezTo>
                  <a:pt x="3738314" y="997603"/>
                  <a:pt x="3707881" y="1028036"/>
                  <a:pt x="3670340" y="1028036"/>
                </a:cubicBezTo>
                <a:lnTo>
                  <a:pt x="67974" y="1028036"/>
                </a:lnTo>
                <a:cubicBezTo>
                  <a:pt x="30433" y="1028036"/>
                  <a:pt x="0" y="997603"/>
                  <a:pt x="0" y="960062"/>
                </a:cubicBezTo>
                <a:lnTo>
                  <a:pt x="0" y="67974"/>
                </a:lnTo>
                <a:cubicBezTo>
                  <a:pt x="0" y="30458"/>
                  <a:pt x="30458" y="0"/>
                  <a:pt x="67974" y="0"/>
                </a:cubicBezTo>
                <a:close/>
              </a:path>
            </a:pathLst>
          </a:custGeom>
          <a:gradFill flip="none" rotWithShape="1">
            <a:gsLst>
              <a:gs pos="0">
                <a:srgbClr val="8D99AE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12700">
            <a:solidFill>
              <a:srgbClr val="8D99AE">
                <a:alpha val="4000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387208" y="4995746"/>
            <a:ext cx="169923" cy="169923"/>
          </a:xfrm>
          <a:custGeom>
            <a:avLst/>
            <a:gdLst/>
            <a:ahLst/>
            <a:cxnLst/>
            <a:rect l="l" t="t" r="r" b="b"/>
            <a:pathLst>
              <a:path w="169923" h="169923">
                <a:moveTo>
                  <a:pt x="84962" y="0"/>
                </a:moveTo>
                <a:cubicBezTo>
                  <a:pt x="89840" y="0"/>
                  <a:pt x="94321" y="2688"/>
                  <a:pt x="96644" y="6970"/>
                </a:cubicBezTo>
                <a:lnTo>
                  <a:pt x="168330" y="139722"/>
                </a:lnTo>
                <a:cubicBezTo>
                  <a:pt x="170554" y="143837"/>
                  <a:pt x="170454" y="148816"/>
                  <a:pt x="168065" y="152831"/>
                </a:cubicBezTo>
                <a:cubicBezTo>
                  <a:pt x="165675" y="156847"/>
                  <a:pt x="161328" y="159303"/>
                  <a:pt x="156648" y="159303"/>
                </a:cubicBezTo>
                <a:lnTo>
                  <a:pt x="13275" y="159303"/>
                </a:lnTo>
                <a:cubicBezTo>
                  <a:pt x="8596" y="159303"/>
                  <a:pt x="4281" y="156847"/>
                  <a:pt x="1859" y="152831"/>
                </a:cubicBezTo>
                <a:cubicBezTo>
                  <a:pt x="-564" y="148816"/>
                  <a:pt x="-631" y="143837"/>
                  <a:pt x="1593" y="139722"/>
                </a:cubicBezTo>
                <a:lnTo>
                  <a:pt x="73279" y="6970"/>
                </a:lnTo>
                <a:cubicBezTo>
                  <a:pt x="75603" y="2688"/>
                  <a:pt x="80083" y="0"/>
                  <a:pt x="84962" y="0"/>
                </a:cubicBezTo>
                <a:close/>
                <a:moveTo>
                  <a:pt x="84962" y="55756"/>
                </a:moveTo>
                <a:cubicBezTo>
                  <a:pt x="80548" y="55756"/>
                  <a:pt x="76997" y="59307"/>
                  <a:pt x="76997" y="63721"/>
                </a:cubicBezTo>
                <a:lnTo>
                  <a:pt x="76997" y="100892"/>
                </a:lnTo>
                <a:cubicBezTo>
                  <a:pt x="76997" y="105306"/>
                  <a:pt x="80548" y="108857"/>
                  <a:pt x="84962" y="108857"/>
                </a:cubicBezTo>
                <a:cubicBezTo>
                  <a:pt x="89376" y="108857"/>
                  <a:pt x="92927" y="105306"/>
                  <a:pt x="92927" y="100892"/>
                </a:cubicBezTo>
                <a:lnTo>
                  <a:pt x="92927" y="63721"/>
                </a:lnTo>
                <a:cubicBezTo>
                  <a:pt x="92927" y="59307"/>
                  <a:pt x="89376" y="55756"/>
                  <a:pt x="84962" y="55756"/>
                </a:cubicBezTo>
                <a:close/>
                <a:moveTo>
                  <a:pt x="93823" y="127443"/>
                </a:moveTo>
                <a:cubicBezTo>
                  <a:pt x="94024" y="124153"/>
                  <a:pt x="92384" y="121024"/>
                  <a:pt x="89565" y="119318"/>
                </a:cubicBezTo>
                <a:cubicBezTo>
                  <a:pt x="86745" y="117613"/>
                  <a:pt x="83212" y="117613"/>
                  <a:pt x="80392" y="119318"/>
                </a:cubicBezTo>
                <a:cubicBezTo>
                  <a:pt x="77572" y="121024"/>
                  <a:pt x="75932" y="124153"/>
                  <a:pt x="76134" y="127443"/>
                </a:cubicBezTo>
                <a:cubicBezTo>
                  <a:pt x="75932" y="130732"/>
                  <a:pt x="77572" y="133861"/>
                  <a:pt x="80392" y="135567"/>
                </a:cubicBezTo>
                <a:cubicBezTo>
                  <a:pt x="83212" y="137272"/>
                  <a:pt x="86745" y="137272"/>
                  <a:pt x="89565" y="135567"/>
                </a:cubicBezTo>
                <a:cubicBezTo>
                  <a:pt x="92384" y="133861"/>
                  <a:pt x="94024" y="130732"/>
                  <a:pt x="93823" y="127443"/>
                </a:cubicBezTo>
                <a:close/>
              </a:path>
            </a:pathLst>
          </a:custGeom>
          <a:solidFill>
            <a:srgbClr val="8D99AE"/>
          </a:solidFill>
        </p:spPr>
      </p:sp>
      <p:sp>
        <p:nvSpPr>
          <p:cNvPr id="13" name="Text 10"/>
          <p:cNvSpPr/>
          <p:nvPr/>
        </p:nvSpPr>
        <p:spPr>
          <a:xfrm>
            <a:off x="4646341" y="4961762"/>
            <a:ext cx="688190" cy="23789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5" b="1" dirty="0">
                <a:solidFill>
                  <a:srgbClr val="F0F0F0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悲观情景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4365968" y="5267624"/>
            <a:ext cx="3525909" cy="44180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7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自发自用率50%，电价0.30元/kWh，负电价极端影响-30%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8107600" y="4821575"/>
            <a:ext cx="3738314" cy="1028036"/>
          </a:xfrm>
          <a:custGeom>
            <a:avLst/>
            <a:gdLst/>
            <a:ahLst/>
            <a:cxnLst/>
            <a:rect l="l" t="t" r="r" b="b"/>
            <a:pathLst>
              <a:path w="3738314" h="1028036">
                <a:moveTo>
                  <a:pt x="67974" y="0"/>
                </a:moveTo>
                <a:lnTo>
                  <a:pt x="3670340" y="0"/>
                </a:lnTo>
                <a:cubicBezTo>
                  <a:pt x="3707881" y="0"/>
                  <a:pt x="3738314" y="30433"/>
                  <a:pt x="3738314" y="67974"/>
                </a:cubicBezTo>
                <a:lnTo>
                  <a:pt x="3738314" y="960062"/>
                </a:lnTo>
                <a:cubicBezTo>
                  <a:pt x="3738314" y="997603"/>
                  <a:pt x="3707881" y="1028036"/>
                  <a:pt x="3670340" y="1028036"/>
                </a:cubicBezTo>
                <a:lnTo>
                  <a:pt x="67974" y="1028036"/>
                </a:lnTo>
                <a:cubicBezTo>
                  <a:pt x="30433" y="1028036"/>
                  <a:pt x="0" y="997603"/>
                  <a:pt x="0" y="960062"/>
                </a:cubicBezTo>
                <a:lnTo>
                  <a:pt x="0" y="67974"/>
                </a:lnTo>
                <a:cubicBezTo>
                  <a:pt x="0" y="30458"/>
                  <a:pt x="30458" y="0"/>
                  <a:pt x="67974" y="0"/>
                </a:cubicBezTo>
                <a:close/>
              </a:path>
            </a:pathLst>
          </a:custGeom>
          <a:gradFill flip="none" rotWithShape="1">
            <a:gsLst>
              <a:gs pos="0">
                <a:srgbClr val="D4A373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12700">
            <a:solidFill>
              <a:srgbClr val="D4A373">
                <a:alpha val="40000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8269028" y="4995746"/>
            <a:ext cx="169923" cy="169923"/>
          </a:xfrm>
          <a:custGeom>
            <a:avLst/>
            <a:gdLst/>
            <a:ahLst/>
            <a:cxnLst/>
            <a:rect l="l" t="t" r="r" b="b"/>
            <a:pathLst>
              <a:path w="169923" h="169923">
                <a:moveTo>
                  <a:pt x="42481" y="106202"/>
                </a:moveTo>
                <a:lnTo>
                  <a:pt x="8131" y="106202"/>
                </a:lnTo>
                <a:cubicBezTo>
                  <a:pt x="-133" y="106202"/>
                  <a:pt x="-5211" y="97208"/>
                  <a:pt x="-962" y="90106"/>
                </a:cubicBezTo>
                <a:lnTo>
                  <a:pt x="16594" y="60834"/>
                </a:lnTo>
                <a:cubicBezTo>
                  <a:pt x="19481" y="56022"/>
                  <a:pt x="24659" y="53101"/>
                  <a:pt x="30268" y="53101"/>
                </a:cubicBezTo>
                <a:lnTo>
                  <a:pt x="61796" y="53101"/>
                </a:lnTo>
                <a:cubicBezTo>
                  <a:pt x="87053" y="10322"/>
                  <a:pt x="124721" y="8164"/>
                  <a:pt x="149911" y="11848"/>
                </a:cubicBezTo>
                <a:cubicBezTo>
                  <a:pt x="154159" y="12479"/>
                  <a:pt x="157478" y="15798"/>
                  <a:pt x="158075" y="20012"/>
                </a:cubicBezTo>
                <a:cubicBezTo>
                  <a:pt x="161759" y="45202"/>
                  <a:pt x="159602" y="82871"/>
                  <a:pt x="116822" y="108127"/>
                </a:cubicBezTo>
                <a:lnTo>
                  <a:pt x="116822" y="139656"/>
                </a:lnTo>
                <a:cubicBezTo>
                  <a:pt x="116822" y="145265"/>
                  <a:pt x="113902" y="150442"/>
                  <a:pt x="109089" y="153329"/>
                </a:cubicBezTo>
                <a:lnTo>
                  <a:pt x="79818" y="170886"/>
                </a:lnTo>
                <a:cubicBezTo>
                  <a:pt x="72748" y="175134"/>
                  <a:pt x="63721" y="170023"/>
                  <a:pt x="63721" y="161792"/>
                </a:cubicBezTo>
                <a:lnTo>
                  <a:pt x="63721" y="127443"/>
                </a:lnTo>
                <a:cubicBezTo>
                  <a:pt x="63721" y="115727"/>
                  <a:pt x="54196" y="106202"/>
                  <a:pt x="42481" y="106202"/>
                </a:cubicBezTo>
                <a:lnTo>
                  <a:pt x="42448" y="106202"/>
                </a:lnTo>
                <a:close/>
                <a:moveTo>
                  <a:pt x="132753" y="53101"/>
                </a:moveTo>
                <a:cubicBezTo>
                  <a:pt x="132753" y="44309"/>
                  <a:pt x="125614" y="37171"/>
                  <a:pt x="116822" y="37171"/>
                </a:cubicBezTo>
                <a:cubicBezTo>
                  <a:pt x="108030" y="37171"/>
                  <a:pt x="100892" y="44309"/>
                  <a:pt x="100892" y="53101"/>
                </a:cubicBezTo>
                <a:cubicBezTo>
                  <a:pt x="100892" y="61893"/>
                  <a:pt x="108030" y="69031"/>
                  <a:pt x="116822" y="69031"/>
                </a:cubicBezTo>
                <a:cubicBezTo>
                  <a:pt x="125614" y="69031"/>
                  <a:pt x="132753" y="61893"/>
                  <a:pt x="132753" y="53101"/>
                </a:cubicBezTo>
                <a:close/>
              </a:path>
            </a:pathLst>
          </a:custGeom>
          <a:solidFill>
            <a:srgbClr val="D4A373"/>
          </a:solidFill>
        </p:spPr>
      </p:sp>
      <p:sp>
        <p:nvSpPr>
          <p:cNvPr id="17" name="Text 14"/>
          <p:cNvSpPr/>
          <p:nvPr/>
        </p:nvSpPr>
        <p:spPr>
          <a:xfrm>
            <a:off x="8528161" y="4961762"/>
            <a:ext cx="688190" cy="23789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5" b="1" dirty="0">
                <a:solidFill>
                  <a:srgbClr val="F0F0F0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乐观情景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8247787" y="5267624"/>
            <a:ext cx="3525909" cy="44180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7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自发自用率80%，电价0.50元/kWh，负电价轻微影响-10%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344095" y="5994046"/>
            <a:ext cx="11503810" cy="858113"/>
          </a:xfrm>
          <a:custGeom>
            <a:avLst/>
            <a:gdLst/>
            <a:ahLst/>
            <a:cxnLst/>
            <a:rect l="l" t="t" r="r" b="b"/>
            <a:pathLst>
              <a:path w="11503810" h="858113">
                <a:moveTo>
                  <a:pt x="67971" y="0"/>
                </a:moveTo>
                <a:lnTo>
                  <a:pt x="11435839" y="0"/>
                </a:lnTo>
                <a:cubicBezTo>
                  <a:pt x="11473379" y="0"/>
                  <a:pt x="11503810" y="30432"/>
                  <a:pt x="11503810" y="67971"/>
                </a:cubicBezTo>
                <a:lnTo>
                  <a:pt x="11503810" y="790142"/>
                </a:lnTo>
                <a:cubicBezTo>
                  <a:pt x="11503810" y="827681"/>
                  <a:pt x="11473379" y="858113"/>
                  <a:pt x="11435839" y="858113"/>
                </a:cubicBezTo>
                <a:lnTo>
                  <a:pt x="67971" y="858113"/>
                </a:lnTo>
                <a:cubicBezTo>
                  <a:pt x="30432" y="858113"/>
                  <a:pt x="0" y="827681"/>
                  <a:pt x="0" y="790142"/>
                </a:cubicBezTo>
                <a:lnTo>
                  <a:pt x="0" y="67971"/>
                </a:lnTo>
                <a:cubicBezTo>
                  <a:pt x="0" y="30457"/>
                  <a:pt x="30457" y="0"/>
                  <a:pt x="67971" y="0"/>
                </a:cubicBezTo>
                <a:close/>
              </a:path>
            </a:pathLst>
          </a:custGeom>
          <a:gradFill flip="none" rotWithShape="1">
            <a:gsLst>
              <a:gs pos="0">
                <a:srgbClr val="4A6C8C">
                  <a:alpha val="30000"/>
                </a:srgbClr>
              </a:gs>
              <a:gs pos="100000">
                <a:srgbClr val="D4A373">
                  <a:alpha val="30000"/>
                </a:srgbClr>
              </a:gs>
            </a:gsLst>
            <a:lin ang="0" scaled="1"/>
          </a:gradFill>
          <a:ln w="12700">
            <a:solidFill>
              <a:srgbClr val="D4A373">
                <a:alpha val="50196"/>
              </a:srgbClr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518266" y="6295660"/>
            <a:ext cx="254885" cy="254885"/>
          </a:xfrm>
          <a:custGeom>
            <a:avLst/>
            <a:gdLst/>
            <a:ahLst/>
            <a:cxnLst/>
            <a:rect l="l" t="t" r="r" b="b"/>
            <a:pathLst>
              <a:path w="254885" h="254885">
                <a:moveTo>
                  <a:pt x="127443" y="0"/>
                </a:moveTo>
                <a:cubicBezTo>
                  <a:pt x="129732" y="0"/>
                  <a:pt x="132022" y="498"/>
                  <a:pt x="134113" y="1444"/>
                </a:cubicBezTo>
                <a:lnTo>
                  <a:pt x="227903" y="41220"/>
                </a:lnTo>
                <a:cubicBezTo>
                  <a:pt x="238855" y="45849"/>
                  <a:pt x="247019" y="56652"/>
                  <a:pt x="246970" y="69695"/>
                </a:cubicBezTo>
                <a:cubicBezTo>
                  <a:pt x="246721" y="119079"/>
                  <a:pt x="226410" y="209434"/>
                  <a:pt x="140635" y="250504"/>
                </a:cubicBezTo>
                <a:cubicBezTo>
                  <a:pt x="132321" y="254487"/>
                  <a:pt x="122663" y="254487"/>
                  <a:pt x="114350" y="250504"/>
                </a:cubicBezTo>
                <a:cubicBezTo>
                  <a:pt x="28525" y="209434"/>
                  <a:pt x="8264" y="119079"/>
                  <a:pt x="8015" y="69695"/>
                </a:cubicBezTo>
                <a:cubicBezTo>
                  <a:pt x="7965" y="56652"/>
                  <a:pt x="16129" y="45849"/>
                  <a:pt x="27082" y="41220"/>
                </a:cubicBezTo>
                <a:lnTo>
                  <a:pt x="120821" y="1444"/>
                </a:lnTo>
                <a:cubicBezTo>
                  <a:pt x="122912" y="498"/>
                  <a:pt x="125153" y="0"/>
                  <a:pt x="127443" y="0"/>
                </a:cubicBezTo>
                <a:close/>
                <a:moveTo>
                  <a:pt x="127443" y="33255"/>
                </a:moveTo>
                <a:lnTo>
                  <a:pt x="127443" y="221481"/>
                </a:lnTo>
                <a:cubicBezTo>
                  <a:pt x="196142" y="188227"/>
                  <a:pt x="214611" y="114549"/>
                  <a:pt x="215059" y="70442"/>
                </a:cubicBezTo>
                <a:lnTo>
                  <a:pt x="127443" y="33304"/>
                </a:lnTo>
                <a:lnTo>
                  <a:pt x="127443" y="33304"/>
                </a:lnTo>
                <a:close/>
              </a:path>
            </a:pathLst>
          </a:custGeom>
          <a:solidFill>
            <a:srgbClr val="D4A373"/>
          </a:solidFill>
        </p:spPr>
      </p:sp>
      <p:sp>
        <p:nvSpPr>
          <p:cNvPr id="21" name="Text 18"/>
          <p:cNvSpPr/>
          <p:nvPr/>
        </p:nvSpPr>
        <p:spPr>
          <a:xfrm>
            <a:off x="904842" y="6185210"/>
            <a:ext cx="2625316" cy="23789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40" b="1" dirty="0">
                <a:solidFill>
                  <a:srgbClr val="F0F0F0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底线思维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04842" y="6457087"/>
            <a:ext cx="2608323" cy="2039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7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悲观情景下IRR仍&gt;7%，高于债务成本4.5%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10920761" y="6134233"/>
            <a:ext cx="781647" cy="2039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07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安全边际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10835799" y="6372125"/>
            <a:ext cx="866609" cy="33984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r">
              <a:lnSpc>
                <a:spcPct val="90000"/>
              </a:lnSpc>
            </a:pPr>
            <a:r>
              <a:rPr lang="en-US" sz="2410" b="1" dirty="0">
                <a:solidFill>
                  <a:srgbClr val="D4A373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2.5%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419100"/>
            <a:ext cx="38100" cy="304800"/>
          </a:xfrm>
          <a:custGeom>
            <a:avLst/>
            <a:gdLst/>
            <a:ahLst/>
            <a:cxnLst/>
            <a:rect l="l" t="t" r="r" b="b"/>
            <a:pathLst>
              <a:path w="38100" h="304800">
                <a:moveTo>
                  <a:pt x="0" y="0"/>
                </a:moveTo>
                <a:lnTo>
                  <a:pt x="38100" y="0"/>
                </a:lnTo>
                <a:lnTo>
                  <a:pt x="38100" y="304800"/>
                </a:lnTo>
                <a:lnTo>
                  <a:pt x="0" y="304800"/>
                </a:lnTo>
                <a:lnTo>
                  <a:pt x="0" y="0"/>
                </a:lnTo>
                <a:close/>
              </a:path>
            </a:pathLst>
          </a:custGeom>
          <a:solidFill>
            <a:srgbClr val="D4A373"/>
          </a:solidFill>
        </p:spPr>
      </p:sp>
      <p:sp>
        <p:nvSpPr>
          <p:cNvPr id="3" name="Text 1"/>
          <p:cNvSpPr/>
          <p:nvPr/>
        </p:nvSpPr>
        <p:spPr>
          <a:xfrm>
            <a:off x="533400" y="381000"/>
            <a:ext cx="5362575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F0F0F0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实施路线图：2026-2029战略规划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71500" y="838200"/>
            <a:ext cx="113252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8D99AE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IMPLEMENTATION ROADMAP: 2026-2029 STRATEGIC PLANNING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5763" y="1185863"/>
            <a:ext cx="3724275" cy="4010025"/>
          </a:xfrm>
          <a:custGeom>
            <a:avLst/>
            <a:gdLst/>
            <a:ahLst/>
            <a:cxnLst/>
            <a:rect l="l" t="t" r="r" b="b"/>
            <a:pathLst>
              <a:path w="3724275" h="4010025">
                <a:moveTo>
                  <a:pt x="76199" y="0"/>
                </a:moveTo>
                <a:lnTo>
                  <a:pt x="3648076" y="0"/>
                </a:lnTo>
                <a:cubicBezTo>
                  <a:pt x="3690160" y="0"/>
                  <a:pt x="3724275" y="34115"/>
                  <a:pt x="3724275" y="76199"/>
                </a:cubicBezTo>
                <a:lnTo>
                  <a:pt x="3724275" y="3933826"/>
                </a:lnTo>
                <a:cubicBezTo>
                  <a:pt x="3724275" y="3975910"/>
                  <a:pt x="3690160" y="4010025"/>
                  <a:pt x="3648076" y="4010025"/>
                </a:cubicBezTo>
                <a:lnTo>
                  <a:pt x="76199" y="4010025"/>
                </a:lnTo>
                <a:cubicBezTo>
                  <a:pt x="34115" y="4010025"/>
                  <a:pt x="0" y="3975910"/>
                  <a:pt x="0" y="3933826"/>
                </a:cubicBezTo>
                <a:lnTo>
                  <a:pt x="0" y="76199"/>
                </a:lnTo>
                <a:cubicBezTo>
                  <a:pt x="0" y="34143"/>
                  <a:pt x="34143" y="0"/>
                  <a:pt x="76199" y="0"/>
                </a:cubicBezTo>
                <a:close/>
              </a:path>
            </a:pathLst>
          </a:custGeom>
          <a:gradFill flip="none" rotWithShape="1">
            <a:gsLst>
              <a:gs pos="0">
                <a:srgbClr val="4A6C8C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12700">
            <a:solidFill>
              <a:srgbClr val="4A6C8C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2925" y="1343025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76202" y="0"/>
                </a:moveTo>
                <a:lnTo>
                  <a:pt x="457198" y="0"/>
                </a:lnTo>
                <a:cubicBezTo>
                  <a:pt x="499283" y="0"/>
                  <a:pt x="533400" y="34117"/>
                  <a:pt x="533400" y="76202"/>
                </a:cubicBezTo>
                <a:lnTo>
                  <a:pt x="533400" y="457198"/>
                </a:lnTo>
                <a:cubicBezTo>
                  <a:pt x="533400" y="499283"/>
                  <a:pt x="499283" y="533400"/>
                  <a:pt x="457198" y="533400"/>
                </a:cubicBezTo>
                <a:lnTo>
                  <a:pt x="76202" y="533400"/>
                </a:lnTo>
                <a:cubicBezTo>
                  <a:pt x="34117" y="533400"/>
                  <a:pt x="0" y="499283"/>
                  <a:pt x="0" y="4571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4A6C8C"/>
          </a:solidFill>
        </p:spPr>
      </p:sp>
      <p:sp>
        <p:nvSpPr>
          <p:cNvPr id="7" name="Text 5"/>
          <p:cNvSpPr/>
          <p:nvPr/>
        </p:nvSpPr>
        <p:spPr>
          <a:xfrm>
            <a:off x="674638" y="1457325"/>
            <a:ext cx="3810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90625" y="1362075"/>
            <a:ext cx="98107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0F0F0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验证期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90625" y="1628775"/>
            <a:ext cx="9620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2026 Q2-Q4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61975" y="1990725"/>
            <a:ext cx="3390900" cy="704850"/>
          </a:xfrm>
          <a:custGeom>
            <a:avLst/>
            <a:gdLst/>
            <a:ahLst/>
            <a:cxnLst/>
            <a:rect l="l" t="t" r="r" b="b"/>
            <a:pathLst>
              <a:path w="3390900" h="704850">
                <a:moveTo>
                  <a:pt x="38100" y="0"/>
                </a:moveTo>
                <a:lnTo>
                  <a:pt x="3314699" y="0"/>
                </a:lnTo>
                <a:cubicBezTo>
                  <a:pt x="3356784" y="0"/>
                  <a:pt x="3390900" y="34116"/>
                  <a:pt x="3390900" y="76201"/>
                </a:cubicBezTo>
                <a:lnTo>
                  <a:pt x="3390900" y="628649"/>
                </a:lnTo>
                <a:cubicBezTo>
                  <a:pt x="3390900" y="670734"/>
                  <a:pt x="3356784" y="704850"/>
                  <a:pt x="3314699" y="704850"/>
                </a:cubicBezTo>
                <a:lnTo>
                  <a:pt x="38100" y="704850"/>
                </a:lnTo>
                <a:cubicBezTo>
                  <a:pt x="17072" y="704850"/>
                  <a:pt x="0" y="687778"/>
                  <a:pt x="0" y="6667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</p:spPr>
      </p:sp>
      <p:sp>
        <p:nvSpPr>
          <p:cNvPr id="11" name="Shape 9"/>
          <p:cNvSpPr/>
          <p:nvPr/>
        </p:nvSpPr>
        <p:spPr>
          <a:xfrm>
            <a:off x="561975" y="1990725"/>
            <a:ext cx="38100" cy="704850"/>
          </a:xfrm>
          <a:custGeom>
            <a:avLst/>
            <a:gdLst/>
            <a:ahLst/>
            <a:cxnLst/>
            <a:rect l="l" t="t" r="r" b="b"/>
            <a:pathLst>
              <a:path w="38100" h="704850">
                <a:moveTo>
                  <a:pt x="38100" y="0"/>
                </a:moveTo>
                <a:lnTo>
                  <a:pt x="38100" y="0"/>
                </a:lnTo>
                <a:lnTo>
                  <a:pt x="38100" y="704850"/>
                </a:lnTo>
                <a:lnTo>
                  <a:pt x="38100" y="704850"/>
                </a:lnTo>
                <a:cubicBezTo>
                  <a:pt x="17072" y="704850"/>
                  <a:pt x="0" y="687778"/>
                  <a:pt x="0" y="6667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6C8C"/>
          </a:solidFill>
        </p:spPr>
      </p:sp>
      <p:sp>
        <p:nvSpPr>
          <p:cNvPr id="12" name="Shape 10"/>
          <p:cNvSpPr/>
          <p:nvPr/>
        </p:nvSpPr>
        <p:spPr>
          <a:xfrm>
            <a:off x="733425" y="2143125"/>
            <a:ext cx="114300" cy="152400"/>
          </a:xfrm>
          <a:custGeom>
            <a:avLst/>
            <a:gdLst/>
            <a:ahLst/>
            <a:cxnLst/>
            <a:rect l="l" t="t" r="r" b="b"/>
            <a:pathLst>
              <a:path w="114300" h="152400">
                <a:moveTo>
                  <a:pt x="0" y="56138"/>
                </a:moveTo>
                <a:cubicBezTo>
                  <a:pt x="0" y="25122"/>
                  <a:pt x="25598" y="0"/>
                  <a:pt x="57150" y="0"/>
                </a:cubicBezTo>
                <a:cubicBezTo>
                  <a:pt x="88702" y="0"/>
                  <a:pt x="114300" y="25122"/>
                  <a:pt x="114300" y="56138"/>
                </a:cubicBezTo>
                <a:cubicBezTo>
                  <a:pt x="114300" y="91648"/>
                  <a:pt x="78522" y="134213"/>
                  <a:pt x="63579" y="150435"/>
                </a:cubicBezTo>
                <a:cubicBezTo>
                  <a:pt x="60067" y="154245"/>
                  <a:pt x="54203" y="154245"/>
                  <a:pt x="50691" y="150435"/>
                </a:cubicBezTo>
                <a:cubicBezTo>
                  <a:pt x="35749" y="134213"/>
                  <a:pt x="-30" y="91648"/>
                  <a:pt x="-30" y="56138"/>
                </a:cubicBezTo>
                <a:close/>
                <a:moveTo>
                  <a:pt x="57150" y="76200"/>
                </a:moveTo>
                <a:cubicBezTo>
                  <a:pt x="67664" y="76200"/>
                  <a:pt x="76200" y="67664"/>
                  <a:pt x="76200" y="57150"/>
                </a:cubicBezTo>
                <a:cubicBezTo>
                  <a:pt x="76200" y="46636"/>
                  <a:pt x="67664" y="38100"/>
                  <a:pt x="57150" y="38100"/>
                </a:cubicBezTo>
                <a:cubicBezTo>
                  <a:pt x="46636" y="38100"/>
                  <a:pt x="38100" y="46636"/>
                  <a:pt x="38100" y="57150"/>
                </a:cubicBezTo>
                <a:cubicBezTo>
                  <a:pt x="38100" y="67664"/>
                  <a:pt x="46636" y="76200"/>
                  <a:pt x="57150" y="76200"/>
                </a:cubicBezTo>
                <a:close/>
              </a:path>
            </a:pathLst>
          </a:custGeom>
          <a:solidFill>
            <a:srgbClr val="4A6C8C"/>
          </a:solidFill>
        </p:spPr>
      </p:sp>
      <p:sp>
        <p:nvSpPr>
          <p:cNvPr id="13" name="Text 11"/>
          <p:cNvSpPr/>
          <p:nvPr/>
        </p:nvSpPr>
        <p:spPr>
          <a:xfrm>
            <a:off x="962025" y="2105025"/>
            <a:ext cx="685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0F0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上海浦东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95325" y="2371725"/>
            <a:ext cx="3219450" cy="2095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5MW+0.5MWh投运，验证自发自用率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61975" y="2771775"/>
            <a:ext cx="3390900" cy="704850"/>
          </a:xfrm>
          <a:custGeom>
            <a:avLst/>
            <a:gdLst/>
            <a:ahLst/>
            <a:cxnLst/>
            <a:rect l="l" t="t" r="r" b="b"/>
            <a:pathLst>
              <a:path w="3390900" h="704850">
                <a:moveTo>
                  <a:pt x="38100" y="0"/>
                </a:moveTo>
                <a:lnTo>
                  <a:pt x="3314699" y="0"/>
                </a:lnTo>
                <a:cubicBezTo>
                  <a:pt x="3356784" y="0"/>
                  <a:pt x="3390900" y="34116"/>
                  <a:pt x="3390900" y="76201"/>
                </a:cubicBezTo>
                <a:lnTo>
                  <a:pt x="3390900" y="628649"/>
                </a:lnTo>
                <a:cubicBezTo>
                  <a:pt x="3390900" y="670734"/>
                  <a:pt x="3356784" y="704850"/>
                  <a:pt x="3314699" y="704850"/>
                </a:cubicBezTo>
                <a:lnTo>
                  <a:pt x="38100" y="704850"/>
                </a:lnTo>
                <a:cubicBezTo>
                  <a:pt x="17072" y="704850"/>
                  <a:pt x="0" y="687778"/>
                  <a:pt x="0" y="6667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</p:spPr>
      </p:sp>
      <p:sp>
        <p:nvSpPr>
          <p:cNvPr id="16" name="Shape 14"/>
          <p:cNvSpPr/>
          <p:nvPr/>
        </p:nvSpPr>
        <p:spPr>
          <a:xfrm>
            <a:off x="561975" y="2771775"/>
            <a:ext cx="38100" cy="704850"/>
          </a:xfrm>
          <a:custGeom>
            <a:avLst/>
            <a:gdLst/>
            <a:ahLst/>
            <a:cxnLst/>
            <a:rect l="l" t="t" r="r" b="b"/>
            <a:pathLst>
              <a:path w="38100" h="704850">
                <a:moveTo>
                  <a:pt x="38100" y="0"/>
                </a:moveTo>
                <a:lnTo>
                  <a:pt x="38100" y="0"/>
                </a:lnTo>
                <a:lnTo>
                  <a:pt x="38100" y="704850"/>
                </a:lnTo>
                <a:lnTo>
                  <a:pt x="38100" y="704850"/>
                </a:lnTo>
                <a:cubicBezTo>
                  <a:pt x="17072" y="704850"/>
                  <a:pt x="0" y="687778"/>
                  <a:pt x="0" y="6667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4A373"/>
          </a:solidFill>
        </p:spPr>
      </p:sp>
      <p:sp>
        <p:nvSpPr>
          <p:cNvPr id="17" name="Shape 15"/>
          <p:cNvSpPr/>
          <p:nvPr/>
        </p:nvSpPr>
        <p:spPr>
          <a:xfrm>
            <a:off x="733425" y="2924175"/>
            <a:ext cx="114300" cy="152400"/>
          </a:xfrm>
          <a:custGeom>
            <a:avLst/>
            <a:gdLst/>
            <a:ahLst/>
            <a:cxnLst/>
            <a:rect l="l" t="t" r="r" b="b"/>
            <a:pathLst>
              <a:path w="114300" h="152400">
                <a:moveTo>
                  <a:pt x="0" y="56138"/>
                </a:moveTo>
                <a:cubicBezTo>
                  <a:pt x="0" y="25122"/>
                  <a:pt x="25598" y="0"/>
                  <a:pt x="57150" y="0"/>
                </a:cubicBezTo>
                <a:cubicBezTo>
                  <a:pt x="88702" y="0"/>
                  <a:pt x="114300" y="25122"/>
                  <a:pt x="114300" y="56138"/>
                </a:cubicBezTo>
                <a:cubicBezTo>
                  <a:pt x="114300" y="91648"/>
                  <a:pt x="78522" y="134213"/>
                  <a:pt x="63579" y="150435"/>
                </a:cubicBezTo>
                <a:cubicBezTo>
                  <a:pt x="60067" y="154245"/>
                  <a:pt x="54203" y="154245"/>
                  <a:pt x="50691" y="150435"/>
                </a:cubicBezTo>
                <a:cubicBezTo>
                  <a:pt x="35749" y="134213"/>
                  <a:pt x="-30" y="91648"/>
                  <a:pt x="-30" y="56138"/>
                </a:cubicBezTo>
                <a:close/>
                <a:moveTo>
                  <a:pt x="57150" y="76200"/>
                </a:moveTo>
                <a:cubicBezTo>
                  <a:pt x="67664" y="76200"/>
                  <a:pt x="76200" y="67664"/>
                  <a:pt x="76200" y="57150"/>
                </a:cubicBezTo>
                <a:cubicBezTo>
                  <a:pt x="76200" y="46636"/>
                  <a:pt x="67664" y="38100"/>
                  <a:pt x="57150" y="38100"/>
                </a:cubicBezTo>
                <a:cubicBezTo>
                  <a:pt x="46636" y="38100"/>
                  <a:pt x="38100" y="46636"/>
                  <a:pt x="38100" y="57150"/>
                </a:cubicBezTo>
                <a:cubicBezTo>
                  <a:pt x="38100" y="67664"/>
                  <a:pt x="46636" y="76200"/>
                  <a:pt x="57150" y="76200"/>
                </a:cubicBezTo>
                <a:close/>
              </a:path>
            </a:pathLst>
          </a:custGeom>
          <a:solidFill>
            <a:srgbClr val="D4A373"/>
          </a:solidFill>
        </p:spPr>
      </p:sp>
      <p:sp>
        <p:nvSpPr>
          <p:cNvPr id="18" name="Text 16"/>
          <p:cNvSpPr/>
          <p:nvPr/>
        </p:nvSpPr>
        <p:spPr>
          <a:xfrm>
            <a:off x="962025" y="2886075"/>
            <a:ext cx="838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0F0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东莞松山湖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95325" y="3152775"/>
            <a:ext cx="3219450" cy="2095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5MW+2MWh接入现货市场，验证AI优化效果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61975" y="3552825"/>
            <a:ext cx="3390900" cy="704850"/>
          </a:xfrm>
          <a:custGeom>
            <a:avLst/>
            <a:gdLst/>
            <a:ahLst/>
            <a:cxnLst/>
            <a:rect l="l" t="t" r="r" b="b"/>
            <a:pathLst>
              <a:path w="3390900" h="704850">
                <a:moveTo>
                  <a:pt x="38100" y="0"/>
                </a:moveTo>
                <a:lnTo>
                  <a:pt x="3314699" y="0"/>
                </a:lnTo>
                <a:cubicBezTo>
                  <a:pt x="3356784" y="0"/>
                  <a:pt x="3390900" y="34116"/>
                  <a:pt x="3390900" y="76201"/>
                </a:cubicBezTo>
                <a:lnTo>
                  <a:pt x="3390900" y="628649"/>
                </a:lnTo>
                <a:cubicBezTo>
                  <a:pt x="3390900" y="670734"/>
                  <a:pt x="3356784" y="704850"/>
                  <a:pt x="3314699" y="704850"/>
                </a:cubicBezTo>
                <a:lnTo>
                  <a:pt x="38100" y="704850"/>
                </a:lnTo>
                <a:cubicBezTo>
                  <a:pt x="17072" y="704850"/>
                  <a:pt x="0" y="687778"/>
                  <a:pt x="0" y="6667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</p:spPr>
      </p:sp>
      <p:sp>
        <p:nvSpPr>
          <p:cNvPr id="21" name="Shape 19"/>
          <p:cNvSpPr/>
          <p:nvPr/>
        </p:nvSpPr>
        <p:spPr>
          <a:xfrm>
            <a:off x="561975" y="3552825"/>
            <a:ext cx="38100" cy="704850"/>
          </a:xfrm>
          <a:custGeom>
            <a:avLst/>
            <a:gdLst/>
            <a:ahLst/>
            <a:cxnLst/>
            <a:rect l="l" t="t" r="r" b="b"/>
            <a:pathLst>
              <a:path w="38100" h="704850">
                <a:moveTo>
                  <a:pt x="38100" y="0"/>
                </a:moveTo>
                <a:lnTo>
                  <a:pt x="38100" y="0"/>
                </a:lnTo>
                <a:lnTo>
                  <a:pt x="38100" y="704850"/>
                </a:lnTo>
                <a:lnTo>
                  <a:pt x="38100" y="704850"/>
                </a:lnTo>
                <a:cubicBezTo>
                  <a:pt x="17072" y="704850"/>
                  <a:pt x="0" y="687778"/>
                  <a:pt x="0" y="6667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D99AE"/>
          </a:solidFill>
        </p:spPr>
      </p:sp>
      <p:sp>
        <p:nvSpPr>
          <p:cNvPr id="22" name="Shape 20"/>
          <p:cNvSpPr/>
          <p:nvPr/>
        </p:nvSpPr>
        <p:spPr>
          <a:xfrm>
            <a:off x="723900" y="3705225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9525" y="0"/>
                </a:moveTo>
                <a:cubicBezTo>
                  <a:pt x="14794" y="0"/>
                  <a:pt x="19050" y="4256"/>
                  <a:pt x="19050" y="9525"/>
                </a:cubicBezTo>
                <a:lnTo>
                  <a:pt x="19050" y="14288"/>
                </a:lnTo>
                <a:lnTo>
                  <a:pt x="39588" y="9168"/>
                </a:lnTo>
                <a:cubicBezTo>
                  <a:pt x="50929" y="6340"/>
                  <a:pt x="62895" y="7650"/>
                  <a:pt x="73372" y="12889"/>
                </a:cubicBezTo>
                <a:cubicBezTo>
                  <a:pt x="87154" y="19794"/>
                  <a:pt x="103376" y="19794"/>
                  <a:pt x="117157" y="12889"/>
                </a:cubicBezTo>
                <a:lnTo>
                  <a:pt x="120015" y="11460"/>
                </a:lnTo>
                <a:cubicBezTo>
                  <a:pt x="126147" y="8364"/>
                  <a:pt x="133350" y="12829"/>
                  <a:pt x="133350" y="19675"/>
                </a:cubicBezTo>
                <a:lnTo>
                  <a:pt x="133350" y="102930"/>
                </a:lnTo>
                <a:cubicBezTo>
                  <a:pt x="133350" y="106888"/>
                  <a:pt x="130879" y="110460"/>
                  <a:pt x="127159" y="111859"/>
                </a:cubicBezTo>
                <a:lnTo>
                  <a:pt x="116830" y="115729"/>
                </a:lnTo>
                <a:cubicBezTo>
                  <a:pt x="103078" y="120878"/>
                  <a:pt x="87779" y="120075"/>
                  <a:pt x="74652" y="113526"/>
                </a:cubicBezTo>
                <a:cubicBezTo>
                  <a:pt x="63371" y="107871"/>
                  <a:pt x="50423" y="106472"/>
                  <a:pt x="38189" y="109537"/>
                </a:cubicBezTo>
                <a:lnTo>
                  <a:pt x="19050" y="114300"/>
                </a:lnTo>
                <a:lnTo>
                  <a:pt x="19050" y="142875"/>
                </a:lnTo>
                <a:cubicBezTo>
                  <a:pt x="19050" y="148144"/>
                  <a:pt x="14794" y="152400"/>
                  <a:pt x="9525" y="152400"/>
                </a:cubicBezTo>
                <a:cubicBezTo>
                  <a:pt x="4256" y="152400"/>
                  <a:pt x="0" y="148144"/>
                  <a:pt x="0" y="142875"/>
                </a:cubicBezTo>
                <a:lnTo>
                  <a:pt x="0" y="9525"/>
                </a:lnTo>
                <a:cubicBezTo>
                  <a:pt x="0" y="4256"/>
                  <a:pt x="4256" y="0"/>
                  <a:pt x="9525" y="0"/>
                </a:cubicBezTo>
                <a:close/>
                <a:moveTo>
                  <a:pt x="19050" y="55691"/>
                </a:moveTo>
                <a:lnTo>
                  <a:pt x="38100" y="51554"/>
                </a:lnTo>
                <a:lnTo>
                  <a:pt x="38100" y="71051"/>
                </a:lnTo>
                <a:lnTo>
                  <a:pt x="19050" y="75188"/>
                </a:lnTo>
                <a:lnTo>
                  <a:pt x="19050" y="94684"/>
                </a:lnTo>
                <a:lnTo>
                  <a:pt x="33576" y="91053"/>
                </a:lnTo>
                <a:cubicBezTo>
                  <a:pt x="35094" y="90666"/>
                  <a:pt x="36582" y="90339"/>
                  <a:pt x="38100" y="90071"/>
                </a:cubicBezTo>
                <a:lnTo>
                  <a:pt x="38100" y="71051"/>
                </a:lnTo>
                <a:lnTo>
                  <a:pt x="49679" y="68550"/>
                </a:lnTo>
                <a:cubicBezTo>
                  <a:pt x="52149" y="68014"/>
                  <a:pt x="54650" y="67806"/>
                  <a:pt x="57150" y="67925"/>
                </a:cubicBezTo>
                <a:lnTo>
                  <a:pt x="57150" y="48875"/>
                </a:lnTo>
                <a:cubicBezTo>
                  <a:pt x="61198" y="48994"/>
                  <a:pt x="65246" y="49649"/>
                  <a:pt x="69175" y="50780"/>
                </a:cubicBezTo>
                <a:lnTo>
                  <a:pt x="76200" y="52834"/>
                </a:lnTo>
                <a:lnTo>
                  <a:pt x="76200" y="72688"/>
                </a:lnTo>
                <a:lnTo>
                  <a:pt x="63788" y="69026"/>
                </a:lnTo>
                <a:cubicBezTo>
                  <a:pt x="61615" y="68401"/>
                  <a:pt x="59382" y="68014"/>
                  <a:pt x="57150" y="67895"/>
                </a:cubicBezTo>
                <a:lnTo>
                  <a:pt x="57150" y="89148"/>
                </a:lnTo>
                <a:cubicBezTo>
                  <a:pt x="63639" y="89714"/>
                  <a:pt x="70039" y="91142"/>
                  <a:pt x="76200" y="93434"/>
                </a:cubicBezTo>
                <a:lnTo>
                  <a:pt x="76200" y="72658"/>
                </a:lnTo>
                <a:lnTo>
                  <a:pt x="82957" y="74652"/>
                </a:lnTo>
                <a:cubicBezTo>
                  <a:pt x="86975" y="75843"/>
                  <a:pt x="91083" y="76557"/>
                  <a:pt x="95250" y="76855"/>
                </a:cubicBezTo>
                <a:lnTo>
                  <a:pt x="95250" y="57745"/>
                </a:lnTo>
                <a:cubicBezTo>
                  <a:pt x="92928" y="57507"/>
                  <a:pt x="90607" y="57061"/>
                  <a:pt x="88344" y="56406"/>
                </a:cubicBezTo>
                <a:lnTo>
                  <a:pt x="76200" y="52834"/>
                </a:lnTo>
                <a:lnTo>
                  <a:pt x="76200" y="34379"/>
                </a:lnTo>
                <a:cubicBezTo>
                  <a:pt x="72330" y="33248"/>
                  <a:pt x="68520" y="31760"/>
                  <a:pt x="64830" y="29914"/>
                </a:cubicBezTo>
                <a:cubicBezTo>
                  <a:pt x="62389" y="28694"/>
                  <a:pt x="59799" y="27831"/>
                  <a:pt x="57150" y="27295"/>
                </a:cubicBezTo>
                <a:lnTo>
                  <a:pt x="57150" y="48845"/>
                </a:lnTo>
                <a:cubicBezTo>
                  <a:pt x="53280" y="48726"/>
                  <a:pt x="49411" y="49084"/>
                  <a:pt x="45631" y="49917"/>
                </a:cubicBezTo>
                <a:lnTo>
                  <a:pt x="38100" y="51554"/>
                </a:lnTo>
                <a:lnTo>
                  <a:pt x="38100" y="29170"/>
                </a:lnTo>
                <a:lnTo>
                  <a:pt x="19050" y="33933"/>
                </a:lnTo>
                <a:lnTo>
                  <a:pt x="19050" y="55691"/>
                </a:lnTo>
                <a:close/>
                <a:moveTo>
                  <a:pt x="95250" y="99923"/>
                </a:moveTo>
                <a:cubicBezTo>
                  <a:pt x="100251" y="100370"/>
                  <a:pt x="105341" y="99715"/>
                  <a:pt x="110133" y="97899"/>
                </a:cubicBezTo>
                <a:lnTo>
                  <a:pt x="114300" y="96351"/>
                </a:lnTo>
                <a:lnTo>
                  <a:pt x="114300" y="75009"/>
                </a:lnTo>
                <a:lnTo>
                  <a:pt x="111949" y="75545"/>
                </a:lnTo>
                <a:cubicBezTo>
                  <a:pt x="106472" y="76825"/>
                  <a:pt x="100846" y="77242"/>
                  <a:pt x="95250" y="76885"/>
                </a:cubicBezTo>
                <a:lnTo>
                  <a:pt x="95250" y="99923"/>
                </a:lnTo>
                <a:close/>
                <a:moveTo>
                  <a:pt x="114300" y="55453"/>
                </a:moveTo>
                <a:lnTo>
                  <a:pt x="114300" y="34379"/>
                </a:lnTo>
                <a:cubicBezTo>
                  <a:pt x="108079" y="36195"/>
                  <a:pt x="101679" y="37088"/>
                  <a:pt x="95250" y="37088"/>
                </a:cubicBezTo>
                <a:lnTo>
                  <a:pt x="95250" y="57745"/>
                </a:lnTo>
                <a:cubicBezTo>
                  <a:pt x="99387" y="58162"/>
                  <a:pt x="103584" y="57894"/>
                  <a:pt x="107662" y="56971"/>
                </a:cubicBezTo>
                <a:lnTo>
                  <a:pt x="114300" y="55424"/>
                </a:lnTo>
                <a:close/>
              </a:path>
            </a:pathLst>
          </a:custGeom>
          <a:solidFill>
            <a:srgbClr val="8D99AE"/>
          </a:solidFill>
        </p:spPr>
      </p:sp>
      <p:sp>
        <p:nvSpPr>
          <p:cNvPr id="23" name="Text 21"/>
          <p:cNvSpPr/>
          <p:nvPr/>
        </p:nvSpPr>
        <p:spPr>
          <a:xfrm>
            <a:off x="962025" y="3667125"/>
            <a:ext cx="838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0F0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关键里程碑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95325" y="3933825"/>
            <a:ext cx="3219450" cy="2095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实际运营数据支撑财务模型修正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233863" y="1185863"/>
            <a:ext cx="3724275" cy="4010025"/>
          </a:xfrm>
          <a:custGeom>
            <a:avLst/>
            <a:gdLst/>
            <a:ahLst/>
            <a:cxnLst/>
            <a:rect l="l" t="t" r="r" b="b"/>
            <a:pathLst>
              <a:path w="3724275" h="4010025">
                <a:moveTo>
                  <a:pt x="76199" y="0"/>
                </a:moveTo>
                <a:lnTo>
                  <a:pt x="3648076" y="0"/>
                </a:lnTo>
                <a:cubicBezTo>
                  <a:pt x="3690160" y="0"/>
                  <a:pt x="3724275" y="34115"/>
                  <a:pt x="3724275" y="76199"/>
                </a:cubicBezTo>
                <a:lnTo>
                  <a:pt x="3724275" y="3933826"/>
                </a:lnTo>
                <a:cubicBezTo>
                  <a:pt x="3724275" y="3975910"/>
                  <a:pt x="3690160" y="4010025"/>
                  <a:pt x="3648076" y="4010025"/>
                </a:cubicBezTo>
                <a:lnTo>
                  <a:pt x="76199" y="4010025"/>
                </a:lnTo>
                <a:cubicBezTo>
                  <a:pt x="34115" y="4010025"/>
                  <a:pt x="0" y="3975910"/>
                  <a:pt x="0" y="3933826"/>
                </a:cubicBezTo>
                <a:lnTo>
                  <a:pt x="0" y="76199"/>
                </a:lnTo>
                <a:cubicBezTo>
                  <a:pt x="0" y="34143"/>
                  <a:pt x="34143" y="0"/>
                  <a:pt x="76199" y="0"/>
                </a:cubicBezTo>
                <a:close/>
              </a:path>
            </a:pathLst>
          </a:custGeom>
          <a:gradFill flip="none" rotWithShape="1">
            <a:gsLst>
              <a:gs pos="0">
                <a:srgbClr val="D4A373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12700">
            <a:solidFill>
              <a:srgbClr val="D4A373">
                <a:alpha val="4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391025" y="1343025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76202" y="0"/>
                </a:moveTo>
                <a:lnTo>
                  <a:pt x="457198" y="0"/>
                </a:lnTo>
                <a:cubicBezTo>
                  <a:pt x="499283" y="0"/>
                  <a:pt x="533400" y="34117"/>
                  <a:pt x="533400" y="76202"/>
                </a:cubicBezTo>
                <a:lnTo>
                  <a:pt x="533400" y="457198"/>
                </a:lnTo>
                <a:cubicBezTo>
                  <a:pt x="533400" y="499283"/>
                  <a:pt x="499283" y="533400"/>
                  <a:pt x="457198" y="533400"/>
                </a:cubicBezTo>
                <a:lnTo>
                  <a:pt x="76202" y="533400"/>
                </a:lnTo>
                <a:cubicBezTo>
                  <a:pt x="34117" y="533400"/>
                  <a:pt x="0" y="499283"/>
                  <a:pt x="0" y="4571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D4A373"/>
          </a:solidFill>
        </p:spPr>
      </p:sp>
      <p:sp>
        <p:nvSpPr>
          <p:cNvPr id="27" name="Text 25"/>
          <p:cNvSpPr/>
          <p:nvPr/>
        </p:nvSpPr>
        <p:spPr>
          <a:xfrm>
            <a:off x="4522738" y="1457325"/>
            <a:ext cx="3810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02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038725" y="1362075"/>
            <a:ext cx="86677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0F0F0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培育期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038725" y="1628775"/>
            <a:ext cx="8477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2027-2028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4410075" y="1990725"/>
            <a:ext cx="3390900" cy="704850"/>
          </a:xfrm>
          <a:custGeom>
            <a:avLst/>
            <a:gdLst/>
            <a:ahLst/>
            <a:cxnLst/>
            <a:rect l="l" t="t" r="r" b="b"/>
            <a:pathLst>
              <a:path w="3390900" h="704850">
                <a:moveTo>
                  <a:pt x="38100" y="0"/>
                </a:moveTo>
                <a:lnTo>
                  <a:pt x="3314699" y="0"/>
                </a:lnTo>
                <a:cubicBezTo>
                  <a:pt x="3356784" y="0"/>
                  <a:pt x="3390900" y="34116"/>
                  <a:pt x="3390900" y="76201"/>
                </a:cubicBezTo>
                <a:lnTo>
                  <a:pt x="3390900" y="628649"/>
                </a:lnTo>
                <a:cubicBezTo>
                  <a:pt x="3390900" y="670734"/>
                  <a:pt x="3356784" y="704850"/>
                  <a:pt x="3314699" y="704850"/>
                </a:cubicBezTo>
                <a:lnTo>
                  <a:pt x="38100" y="704850"/>
                </a:lnTo>
                <a:cubicBezTo>
                  <a:pt x="17072" y="704850"/>
                  <a:pt x="0" y="687778"/>
                  <a:pt x="0" y="6667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</p:spPr>
      </p:sp>
      <p:sp>
        <p:nvSpPr>
          <p:cNvPr id="31" name="Shape 29"/>
          <p:cNvSpPr/>
          <p:nvPr/>
        </p:nvSpPr>
        <p:spPr>
          <a:xfrm>
            <a:off x="4410075" y="1990725"/>
            <a:ext cx="38100" cy="704850"/>
          </a:xfrm>
          <a:custGeom>
            <a:avLst/>
            <a:gdLst/>
            <a:ahLst/>
            <a:cxnLst/>
            <a:rect l="l" t="t" r="r" b="b"/>
            <a:pathLst>
              <a:path w="38100" h="704850">
                <a:moveTo>
                  <a:pt x="38100" y="0"/>
                </a:moveTo>
                <a:lnTo>
                  <a:pt x="38100" y="0"/>
                </a:lnTo>
                <a:lnTo>
                  <a:pt x="38100" y="704850"/>
                </a:lnTo>
                <a:lnTo>
                  <a:pt x="38100" y="704850"/>
                </a:lnTo>
                <a:cubicBezTo>
                  <a:pt x="17072" y="704850"/>
                  <a:pt x="0" y="687778"/>
                  <a:pt x="0" y="6667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6C8C"/>
          </a:solidFill>
        </p:spPr>
      </p:sp>
      <p:sp>
        <p:nvSpPr>
          <p:cNvPr id="32" name="Shape 30"/>
          <p:cNvSpPr/>
          <p:nvPr/>
        </p:nvSpPr>
        <p:spPr>
          <a:xfrm>
            <a:off x="4572000" y="2143125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57150" y="0"/>
                </a:moveTo>
                <a:cubicBezTo>
                  <a:pt x="46643" y="0"/>
                  <a:pt x="38100" y="8543"/>
                  <a:pt x="38100" y="19050"/>
                </a:cubicBezTo>
                <a:lnTo>
                  <a:pt x="38100" y="95250"/>
                </a:lnTo>
                <a:cubicBezTo>
                  <a:pt x="38100" y="105757"/>
                  <a:pt x="46643" y="114300"/>
                  <a:pt x="57150" y="114300"/>
                </a:cubicBezTo>
                <a:lnTo>
                  <a:pt x="114300" y="114300"/>
                </a:lnTo>
                <a:cubicBezTo>
                  <a:pt x="124807" y="114300"/>
                  <a:pt x="133350" y="105757"/>
                  <a:pt x="133350" y="95250"/>
                </a:cubicBezTo>
                <a:lnTo>
                  <a:pt x="133350" y="35540"/>
                </a:lnTo>
                <a:cubicBezTo>
                  <a:pt x="133350" y="30361"/>
                  <a:pt x="131237" y="25390"/>
                  <a:pt x="127486" y="21788"/>
                </a:cubicBezTo>
                <a:lnTo>
                  <a:pt x="110311" y="5298"/>
                </a:lnTo>
                <a:cubicBezTo>
                  <a:pt x="106769" y="1905"/>
                  <a:pt x="102037" y="0"/>
                  <a:pt x="97125" y="0"/>
                </a:cubicBezTo>
                <a:lnTo>
                  <a:pt x="57150" y="0"/>
                </a:lnTo>
                <a:close/>
                <a:moveTo>
                  <a:pt x="19050" y="38100"/>
                </a:moveTo>
                <a:cubicBezTo>
                  <a:pt x="8543" y="38100"/>
                  <a:pt x="0" y="46643"/>
                  <a:pt x="0" y="57150"/>
                </a:cubicBezTo>
                <a:lnTo>
                  <a:pt x="0" y="133350"/>
                </a:lnTo>
                <a:cubicBezTo>
                  <a:pt x="0" y="143857"/>
                  <a:pt x="8543" y="152400"/>
                  <a:pt x="19050" y="152400"/>
                </a:cubicBezTo>
                <a:lnTo>
                  <a:pt x="76200" y="152400"/>
                </a:lnTo>
                <a:cubicBezTo>
                  <a:pt x="86707" y="152400"/>
                  <a:pt x="95250" y="143857"/>
                  <a:pt x="95250" y="133350"/>
                </a:cubicBezTo>
                <a:lnTo>
                  <a:pt x="95250" y="128588"/>
                </a:lnTo>
                <a:lnTo>
                  <a:pt x="76200" y="128588"/>
                </a:lnTo>
                <a:lnTo>
                  <a:pt x="76200" y="133350"/>
                </a:lnTo>
                <a:lnTo>
                  <a:pt x="19050" y="133350"/>
                </a:lnTo>
                <a:lnTo>
                  <a:pt x="19050" y="57150"/>
                </a:lnTo>
                <a:lnTo>
                  <a:pt x="23813" y="57150"/>
                </a:lnTo>
                <a:lnTo>
                  <a:pt x="23813" y="38100"/>
                </a:lnTo>
                <a:lnTo>
                  <a:pt x="19050" y="38100"/>
                </a:lnTo>
                <a:close/>
              </a:path>
            </a:pathLst>
          </a:custGeom>
          <a:solidFill>
            <a:srgbClr val="4A6C8C"/>
          </a:solidFill>
        </p:spPr>
      </p:sp>
      <p:sp>
        <p:nvSpPr>
          <p:cNvPr id="33" name="Text 31"/>
          <p:cNvSpPr/>
          <p:nvPr/>
        </p:nvSpPr>
        <p:spPr>
          <a:xfrm>
            <a:off x="4810125" y="2105025"/>
            <a:ext cx="838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0F0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长三角复制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4543425" y="2371725"/>
            <a:ext cx="3219450" cy="2095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3个项目（20MW），IRR验证后规模化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4410075" y="2771775"/>
            <a:ext cx="3390900" cy="704850"/>
          </a:xfrm>
          <a:custGeom>
            <a:avLst/>
            <a:gdLst/>
            <a:ahLst/>
            <a:cxnLst/>
            <a:rect l="l" t="t" r="r" b="b"/>
            <a:pathLst>
              <a:path w="3390900" h="704850">
                <a:moveTo>
                  <a:pt x="38100" y="0"/>
                </a:moveTo>
                <a:lnTo>
                  <a:pt x="3314699" y="0"/>
                </a:lnTo>
                <a:cubicBezTo>
                  <a:pt x="3356784" y="0"/>
                  <a:pt x="3390900" y="34116"/>
                  <a:pt x="3390900" y="76201"/>
                </a:cubicBezTo>
                <a:lnTo>
                  <a:pt x="3390900" y="628649"/>
                </a:lnTo>
                <a:cubicBezTo>
                  <a:pt x="3390900" y="670734"/>
                  <a:pt x="3356784" y="704850"/>
                  <a:pt x="3314699" y="704850"/>
                </a:cubicBezTo>
                <a:lnTo>
                  <a:pt x="38100" y="704850"/>
                </a:lnTo>
                <a:cubicBezTo>
                  <a:pt x="17072" y="704850"/>
                  <a:pt x="0" y="687778"/>
                  <a:pt x="0" y="6667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</p:spPr>
      </p:sp>
      <p:sp>
        <p:nvSpPr>
          <p:cNvPr id="36" name="Shape 34"/>
          <p:cNvSpPr/>
          <p:nvPr/>
        </p:nvSpPr>
        <p:spPr>
          <a:xfrm>
            <a:off x="4410075" y="2771775"/>
            <a:ext cx="38100" cy="704850"/>
          </a:xfrm>
          <a:custGeom>
            <a:avLst/>
            <a:gdLst/>
            <a:ahLst/>
            <a:cxnLst/>
            <a:rect l="l" t="t" r="r" b="b"/>
            <a:pathLst>
              <a:path w="38100" h="704850">
                <a:moveTo>
                  <a:pt x="38100" y="0"/>
                </a:moveTo>
                <a:lnTo>
                  <a:pt x="38100" y="0"/>
                </a:lnTo>
                <a:lnTo>
                  <a:pt x="38100" y="704850"/>
                </a:lnTo>
                <a:lnTo>
                  <a:pt x="38100" y="704850"/>
                </a:lnTo>
                <a:cubicBezTo>
                  <a:pt x="17072" y="704850"/>
                  <a:pt x="0" y="687778"/>
                  <a:pt x="0" y="6667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4A373"/>
          </a:solidFill>
        </p:spPr>
      </p:sp>
      <p:sp>
        <p:nvSpPr>
          <p:cNvPr id="37" name="Shape 35"/>
          <p:cNvSpPr/>
          <p:nvPr/>
        </p:nvSpPr>
        <p:spPr>
          <a:xfrm>
            <a:off x="4572000" y="2924175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57150" y="0"/>
                </a:moveTo>
                <a:cubicBezTo>
                  <a:pt x="46643" y="0"/>
                  <a:pt x="38100" y="8543"/>
                  <a:pt x="38100" y="19050"/>
                </a:cubicBezTo>
                <a:lnTo>
                  <a:pt x="38100" y="95250"/>
                </a:lnTo>
                <a:cubicBezTo>
                  <a:pt x="38100" y="105757"/>
                  <a:pt x="46643" y="114300"/>
                  <a:pt x="57150" y="114300"/>
                </a:cubicBezTo>
                <a:lnTo>
                  <a:pt x="114300" y="114300"/>
                </a:lnTo>
                <a:cubicBezTo>
                  <a:pt x="124807" y="114300"/>
                  <a:pt x="133350" y="105757"/>
                  <a:pt x="133350" y="95250"/>
                </a:cubicBezTo>
                <a:lnTo>
                  <a:pt x="133350" y="35540"/>
                </a:lnTo>
                <a:cubicBezTo>
                  <a:pt x="133350" y="30361"/>
                  <a:pt x="131237" y="25390"/>
                  <a:pt x="127486" y="21788"/>
                </a:cubicBezTo>
                <a:lnTo>
                  <a:pt x="110311" y="5298"/>
                </a:lnTo>
                <a:cubicBezTo>
                  <a:pt x="106769" y="1905"/>
                  <a:pt x="102037" y="0"/>
                  <a:pt x="97125" y="0"/>
                </a:cubicBezTo>
                <a:lnTo>
                  <a:pt x="57150" y="0"/>
                </a:lnTo>
                <a:close/>
                <a:moveTo>
                  <a:pt x="19050" y="38100"/>
                </a:moveTo>
                <a:cubicBezTo>
                  <a:pt x="8543" y="38100"/>
                  <a:pt x="0" y="46643"/>
                  <a:pt x="0" y="57150"/>
                </a:cubicBezTo>
                <a:lnTo>
                  <a:pt x="0" y="133350"/>
                </a:lnTo>
                <a:cubicBezTo>
                  <a:pt x="0" y="143857"/>
                  <a:pt x="8543" y="152400"/>
                  <a:pt x="19050" y="152400"/>
                </a:cubicBezTo>
                <a:lnTo>
                  <a:pt x="76200" y="152400"/>
                </a:lnTo>
                <a:cubicBezTo>
                  <a:pt x="86707" y="152400"/>
                  <a:pt x="95250" y="143857"/>
                  <a:pt x="95250" y="133350"/>
                </a:cubicBezTo>
                <a:lnTo>
                  <a:pt x="95250" y="128588"/>
                </a:lnTo>
                <a:lnTo>
                  <a:pt x="76200" y="128588"/>
                </a:lnTo>
                <a:lnTo>
                  <a:pt x="76200" y="133350"/>
                </a:lnTo>
                <a:lnTo>
                  <a:pt x="19050" y="133350"/>
                </a:lnTo>
                <a:lnTo>
                  <a:pt x="19050" y="57150"/>
                </a:lnTo>
                <a:lnTo>
                  <a:pt x="23813" y="57150"/>
                </a:lnTo>
                <a:lnTo>
                  <a:pt x="23813" y="38100"/>
                </a:lnTo>
                <a:lnTo>
                  <a:pt x="19050" y="38100"/>
                </a:lnTo>
                <a:close/>
              </a:path>
            </a:pathLst>
          </a:custGeom>
          <a:solidFill>
            <a:srgbClr val="D4A373"/>
          </a:solidFill>
        </p:spPr>
      </p:sp>
      <p:sp>
        <p:nvSpPr>
          <p:cNvPr id="38" name="Text 36"/>
          <p:cNvSpPr/>
          <p:nvPr/>
        </p:nvSpPr>
        <p:spPr>
          <a:xfrm>
            <a:off x="4810125" y="2886075"/>
            <a:ext cx="838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0F0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珠三角复制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4543425" y="3152775"/>
            <a:ext cx="3219450" cy="2095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5个项目（25MW），打磨AI算法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4410075" y="3552825"/>
            <a:ext cx="3390900" cy="704850"/>
          </a:xfrm>
          <a:custGeom>
            <a:avLst/>
            <a:gdLst/>
            <a:ahLst/>
            <a:cxnLst/>
            <a:rect l="l" t="t" r="r" b="b"/>
            <a:pathLst>
              <a:path w="3390900" h="704850">
                <a:moveTo>
                  <a:pt x="38100" y="0"/>
                </a:moveTo>
                <a:lnTo>
                  <a:pt x="3314699" y="0"/>
                </a:lnTo>
                <a:cubicBezTo>
                  <a:pt x="3356784" y="0"/>
                  <a:pt x="3390900" y="34116"/>
                  <a:pt x="3390900" y="76201"/>
                </a:cubicBezTo>
                <a:lnTo>
                  <a:pt x="3390900" y="628649"/>
                </a:lnTo>
                <a:cubicBezTo>
                  <a:pt x="3390900" y="670734"/>
                  <a:pt x="3356784" y="704850"/>
                  <a:pt x="3314699" y="704850"/>
                </a:cubicBezTo>
                <a:lnTo>
                  <a:pt x="38100" y="704850"/>
                </a:lnTo>
                <a:cubicBezTo>
                  <a:pt x="17072" y="704850"/>
                  <a:pt x="0" y="687778"/>
                  <a:pt x="0" y="6667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</p:spPr>
      </p:sp>
      <p:sp>
        <p:nvSpPr>
          <p:cNvPr id="41" name="Shape 39"/>
          <p:cNvSpPr/>
          <p:nvPr/>
        </p:nvSpPr>
        <p:spPr>
          <a:xfrm>
            <a:off x="4410075" y="3552825"/>
            <a:ext cx="38100" cy="704850"/>
          </a:xfrm>
          <a:custGeom>
            <a:avLst/>
            <a:gdLst/>
            <a:ahLst/>
            <a:cxnLst/>
            <a:rect l="l" t="t" r="r" b="b"/>
            <a:pathLst>
              <a:path w="38100" h="704850">
                <a:moveTo>
                  <a:pt x="38100" y="0"/>
                </a:moveTo>
                <a:lnTo>
                  <a:pt x="38100" y="0"/>
                </a:lnTo>
                <a:lnTo>
                  <a:pt x="38100" y="704850"/>
                </a:lnTo>
                <a:lnTo>
                  <a:pt x="38100" y="704850"/>
                </a:lnTo>
                <a:cubicBezTo>
                  <a:pt x="17072" y="704850"/>
                  <a:pt x="0" y="687778"/>
                  <a:pt x="0" y="6667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D99AE"/>
          </a:solidFill>
        </p:spPr>
      </p:sp>
      <p:sp>
        <p:nvSpPr>
          <p:cNvPr id="42" name="Shape 40"/>
          <p:cNvSpPr/>
          <p:nvPr/>
        </p:nvSpPr>
        <p:spPr>
          <a:xfrm>
            <a:off x="4552950" y="3705225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80040" y="25360"/>
                </a:moveTo>
                <a:lnTo>
                  <a:pt x="45333" y="63937"/>
                </a:lnTo>
                <a:cubicBezTo>
                  <a:pt x="43964" y="65455"/>
                  <a:pt x="44023" y="67806"/>
                  <a:pt x="45482" y="69265"/>
                </a:cubicBezTo>
                <a:cubicBezTo>
                  <a:pt x="54560" y="78343"/>
                  <a:pt x="69294" y="78343"/>
                  <a:pt x="78373" y="69265"/>
                </a:cubicBezTo>
                <a:lnTo>
                  <a:pt x="87838" y="59799"/>
                </a:lnTo>
                <a:cubicBezTo>
                  <a:pt x="89089" y="58549"/>
                  <a:pt x="90666" y="57864"/>
                  <a:pt x="92273" y="57745"/>
                </a:cubicBezTo>
                <a:cubicBezTo>
                  <a:pt x="94298" y="57567"/>
                  <a:pt x="96381" y="58251"/>
                  <a:pt x="97929" y="59799"/>
                </a:cubicBezTo>
                <a:lnTo>
                  <a:pt x="150495" y="111919"/>
                </a:lnTo>
                <a:lnTo>
                  <a:pt x="171450" y="95250"/>
                </a:lnTo>
                <a:lnTo>
                  <a:pt x="171450" y="9525"/>
                </a:lnTo>
                <a:lnTo>
                  <a:pt x="138113" y="28575"/>
                </a:lnTo>
                <a:lnTo>
                  <a:pt x="131028" y="23842"/>
                </a:lnTo>
                <a:cubicBezTo>
                  <a:pt x="126325" y="20717"/>
                  <a:pt x="120819" y="19050"/>
                  <a:pt x="115163" y="19050"/>
                </a:cubicBezTo>
                <a:lnTo>
                  <a:pt x="94208" y="19050"/>
                </a:lnTo>
                <a:cubicBezTo>
                  <a:pt x="93881" y="19050"/>
                  <a:pt x="93524" y="19050"/>
                  <a:pt x="93196" y="19080"/>
                </a:cubicBezTo>
                <a:cubicBezTo>
                  <a:pt x="88166" y="19348"/>
                  <a:pt x="83433" y="21610"/>
                  <a:pt x="80040" y="25360"/>
                </a:cubicBezTo>
                <a:close/>
                <a:moveTo>
                  <a:pt x="34707" y="54382"/>
                </a:moveTo>
                <a:lnTo>
                  <a:pt x="66496" y="19050"/>
                </a:lnTo>
                <a:lnTo>
                  <a:pt x="54709" y="19050"/>
                </a:lnTo>
                <a:cubicBezTo>
                  <a:pt x="47119" y="19050"/>
                  <a:pt x="39856" y="22056"/>
                  <a:pt x="34498" y="27414"/>
                </a:cubicBezTo>
                <a:lnTo>
                  <a:pt x="33338" y="28575"/>
                </a:lnTo>
                <a:lnTo>
                  <a:pt x="0" y="9525"/>
                </a:lnTo>
                <a:lnTo>
                  <a:pt x="0" y="95250"/>
                </a:lnTo>
                <a:lnTo>
                  <a:pt x="46553" y="134035"/>
                </a:lnTo>
                <a:cubicBezTo>
                  <a:pt x="53400" y="139750"/>
                  <a:pt x="62032" y="142875"/>
                  <a:pt x="70931" y="142875"/>
                </a:cubicBezTo>
                <a:lnTo>
                  <a:pt x="75605" y="142875"/>
                </a:lnTo>
                <a:lnTo>
                  <a:pt x="73521" y="140791"/>
                </a:lnTo>
                <a:cubicBezTo>
                  <a:pt x="70723" y="137993"/>
                  <a:pt x="70723" y="133469"/>
                  <a:pt x="73521" y="130701"/>
                </a:cubicBezTo>
                <a:cubicBezTo>
                  <a:pt x="76319" y="127933"/>
                  <a:pt x="80843" y="127903"/>
                  <a:pt x="83612" y="130701"/>
                </a:cubicBezTo>
                <a:lnTo>
                  <a:pt x="95816" y="142905"/>
                </a:lnTo>
                <a:lnTo>
                  <a:pt x="98494" y="142905"/>
                </a:lnTo>
                <a:cubicBezTo>
                  <a:pt x="104180" y="142905"/>
                  <a:pt x="109746" y="141625"/>
                  <a:pt x="114806" y="139244"/>
                </a:cubicBezTo>
                <a:lnTo>
                  <a:pt x="106859" y="131266"/>
                </a:lnTo>
                <a:cubicBezTo>
                  <a:pt x="104061" y="128468"/>
                  <a:pt x="104061" y="123944"/>
                  <a:pt x="106859" y="121176"/>
                </a:cubicBezTo>
                <a:cubicBezTo>
                  <a:pt x="109657" y="118408"/>
                  <a:pt x="114181" y="118378"/>
                  <a:pt x="116949" y="121176"/>
                </a:cubicBezTo>
                <a:lnTo>
                  <a:pt x="126474" y="130701"/>
                </a:lnTo>
                <a:lnTo>
                  <a:pt x="131683" y="125492"/>
                </a:lnTo>
                <a:cubicBezTo>
                  <a:pt x="134332" y="122843"/>
                  <a:pt x="135106" y="119003"/>
                  <a:pt x="133945" y="115639"/>
                </a:cubicBezTo>
                <a:lnTo>
                  <a:pt x="92899" y="74920"/>
                </a:lnTo>
                <a:lnTo>
                  <a:pt x="88463" y="79355"/>
                </a:lnTo>
                <a:cubicBezTo>
                  <a:pt x="73789" y="94030"/>
                  <a:pt x="50036" y="94030"/>
                  <a:pt x="35362" y="79355"/>
                </a:cubicBezTo>
                <a:cubicBezTo>
                  <a:pt x="28515" y="72509"/>
                  <a:pt x="28248" y="61526"/>
                  <a:pt x="34707" y="54352"/>
                </a:cubicBezTo>
                <a:close/>
              </a:path>
            </a:pathLst>
          </a:custGeom>
          <a:solidFill>
            <a:srgbClr val="8D99AE"/>
          </a:solidFill>
        </p:spPr>
      </p:sp>
      <p:sp>
        <p:nvSpPr>
          <p:cNvPr id="43" name="Text 41"/>
          <p:cNvSpPr/>
          <p:nvPr/>
        </p:nvSpPr>
        <p:spPr>
          <a:xfrm>
            <a:off x="4810125" y="3667125"/>
            <a:ext cx="838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0F0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资本化准备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4543425" y="3933825"/>
            <a:ext cx="3219450" cy="2095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启动Pre-REITs结构，对接险资LP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4410075" y="4333875"/>
            <a:ext cx="3390900" cy="704850"/>
          </a:xfrm>
          <a:custGeom>
            <a:avLst/>
            <a:gdLst/>
            <a:ahLst/>
            <a:cxnLst/>
            <a:rect l="l" t="t" r="r" b="b"/>
            <a:pathLst>
              <a:path w="3390900" h="704850">
                <a:moveTo>
                  <a:pt x="38100" y="0"/>
                </a:moveTo>
                <a:lnTo>
                  <a:pt x="3314699" y="0"/>
                </a:lnTo>
                <a:cubicBezTo>
                  <a:pt x="3356784" y="0"/>
                  <a:pt x="3390900" y="34116"/>
                  <a:pt x="3390900" y="76201"/>
                </a:cubicBezTo>
                <a:lnTo>
                  <a:pt x="3390900" y="628649"/>
                </a:lnTo>
                <a:cubicBezTo>
                  <a:pt x="3390900" y="670734"/>
                  <a:pt x="3356784" y="704850"/>
                  <a:pt x="3314699" y="704850"/>
                </a:cubicBezTo>
                <a:lnTo>
                  <a:pt x="38100" y="704850"/>
                </a:lnTo>
                <a:cubicBezTo>
                  <a:pt x="17072" y="704850"/>
                  <a:pt x="0" y="687778"/>
                  <a:pt x="0" y="6667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</p:spPr>
      </p:sp>
      <p:sp>
        <p:nvSpPr>
          <p:cNvPr id="46" name="Shape 44"/>
          <p:cNvSpPr/>
          <p:nvPr/>
        </p:nvSpPr>
        <p:spPr>
          <a:xfrm>
            <a:off x="4410075" y="4333875"/>
            <a:ext cx="38100" cy="704850"/>
          </a:xfrm>
          <a:custGeom>
            <a:avLst/>
            <a:gdLst/>
            <a:ahLst/>
            <a:cxnLst/>
            <a:rect l="l" t="t" r="r" b="b"/>
            <a:pathLst>
              <a:path w="38100" h="704850">
                <a:moveTo>
                  <a:pt x="38100" y="0"/>
                </a:moveTo>
                <a:lnTo>
                  <a:pt x="38100" y="0"/>
                </a:lnTo>
                <a:lnTo>
                  <a:pt x="38100" y="704850"/>
                </a:lnTo>
                <a:lnTo>
                  <a:pt x="38100" y="704850"/>
                </a:lnTo>
                <a:cubicBezTo>
                  <a:pt x="17072" y="704850"/>
                  <a:pt x="0" y="687778"/>
                  <a:pt x="0" y="6667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6C8C"/>
          </a:solidFill>
        </p:spPr>
      </p:sp>
      <p:sp>
        <p:nvSpPr>
          <p:cNvPr id="47" name="Shape 45"/>
          <p:cNvSpPr/>
          <p:nvPr/>
        </p:nvSpPr>
        <p:spPr>
          <a:xfrm>
            <a:off x="4562475" y="448627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4883" y="84773"/>
                </a:moveTo>
                <a:cubicBezTo>
                  <a:pt x="16133" y="85398"/>
                  <a:pt x="17562" y="85725"/>
                  <a:pt x="19050" y="85725"/>
                </a:cubicBezTo>
                <a:lnTo>
                  <a:pt x="34141" y="85725"/>
                </a:lnTo>
                <a:cubicBezTo>
                  <a:pt x="36671" y="85725"/>
                  <a:pt x="39082" y="86737"/>
                  <a:pt x="40868" y="88523"/>
                </a:cubicBezTo>
                <a:lnTo>
                  <a:pt x="44827" y="92482"/>
                </a:lnTo>
                <a:cubicBezTo>
                  <a:pt x="46613" y="94268"/>
                  <a:pt x="49024" y="95280"/>
                  <a:pt x="51554" y="95280"/>
                </a:cubicBezTo>
                <a:lnTo>
                  <a:pt x="57120" y="95280"/>
                </a:lnTo>
                <a:cubicBezTo>
                  <a:pt x="62389" y="95280"/>
                  <a:pt x="66645" y="91023"/>
                  <a:pt x="66645" y="85755"/>
                </a:cubicBezTo>
                <a:lnTo>
                  <a:pt x="66645" y="73849"/>
                </a:lnTo>
                <a:cubicBezTo>
                  <a:pt x="66645" y="69890"/>
                  <a:pt x="69830" y="66705"/>
                  <a:pt x="73789" y="66705"/>
                </a:cubicBezTo>
                <a:cubicBezTo>
                  <a:pt x="77748" y="66705"/>
                  <a:pt x="80933" y="63520"/>
                  <a:pt x="80933" y="59561"/>
                </a:cubicBezTo>
                <a:lnTo>
                  <a:pt x="80933" y="46851"/>
                </a:lnTo>
                <a:cubicBezTo>
                  <a:pt x="80933" y="44321"/>
                  <a:pt x="81945" y="41910"/>
                  <a:pt x="83731" y="40124"/>
                </a:cubicBezTo>
                <a:lnTo>
                  <a:pt x="87690" y="36165"/>
                </a:lnTo>
                <a:cubicBezTo>
                  <a:pt x="89475" y="34379"/>
                  <a:pt x="90487" y="31968"/>
                  <a:pt x="90487" y="29438"/>
                </a:cubicBezTo>
                <a:lnTo>
                  <a:pt x="90488" y="16966"/>
                </a:lnTo>
                <a:cubicBezTo>
                  <a:pt x="90488" y="16609"/>
                  <a:pt x="90458" y="16282"/>
                  <a:pt x="90428" y="15925"/>
                </a:cubicBezTo>
                <a:cubicBezTo>
                  <a:pt x="85844" y="14853"/>
                  <a:pt x="81082" y="14288"/>
                  <a:pt x="76200" y="14288"/>
                </a:cubicBezTo>
                <a:cubicBezTo>
                  <a:pt x="41999" y="14288"/>
                  <a:pt x="14288" y="41999"/>
                  <a:pt x="14288" y="76200"/>
                </a:cubicBezTo>
                <a:cubicBezTo>
                  <a:pt x="14288" y="79117"/>
                  <a:pt x="14496" y="81975"/>
                  <a:pt x="14883" y="84773"/>
                </a:cubicBezTo>
                <a:close/>
                <a:moveTo>
                  <a:pt x="134928" y="95875"/>
                </a:moveTo>
                <a:cubicBezTo>
                  <a:pt x="133975" y="95458"/>
                  <a:pt x="132933" y="95250"/>
                  <a:pt x="131802" y="95250"/>
                </a:cubicBezTo>
                <a:lnTo>
                  <a:pt x="128588" y="95250"/>
                </a:lnTo>
                <a:cubicBezTo>
                  <a:pt x="125968" y="95250"/>
                  <a:pt x="123825" y="93107"/>
                  <a:pt x="123825" y="90488"/>
                </a:cubicBezTo>
                <a:cubicBezTo>
                  <a:pt x="123825" y="87868"/>
                  <a:pt x="121682" y="85725"/>
                  <a:pt x="119062" y="85725"/>
                </a:cubicBezTo>
                <a:lnTo>
                  <a:pt x="108734" y="85725"/>
                </a:lnTo>
                <a:cubicBezTo>
                  <a:pt x="106204" y="85725"/>
                  <a:pt x="103793" y="86737"/>
                  <a:pt x="102007" y="88523"/>
                </a:cubicBezTo>
                <a:lnTo>
                  <a:pt x="88523" y="102007"/>
                </a:lnTo>
                <a:cubicBezTo>
                  <a:pt x="86737" y="103793"/>
                  <a:pt x="85725" y="106204"/>
                  <a:pt x="85725" y="108734"/>
                </a:cubicBezTo>
                <a:lnTo>
                  <a:pt x="85725" y="114300"/>
                </a:lnTo>
                <a:cubicBezTo>
                  <a:pt x="85725" y="119569"/>
                  <a:pt x="89981" y="123825"/>
                  <a:pt x="95250" y="123825"/>
                </a:cubicBezTo>
                <a:lnTo>
                  <a:pt x="100816" y="123825"/>
                </a:lnTo>
                <a:cubicBezTo>
                  <a:pt x="103346" y="123825"/>
                  <a:pt x="105757" y="124837"/>
                  <a:pt x="107543" y="126623"/>
                </a:cubicBezTo>
                <a:cubicBezTo>
                  <a:pt x="108198" y="127278"/>
                  <a:pt x="108942" y="127843"/>
                  <a:pt x="109716" y="128260"/>
                </a:cubicBezTo>
                <a:cubicBezTo>
                  <a:pt x="121414" y="120700"/>
                  <a:pt x="130403" y="109329"/>
                  <a:pt x="134898" y="95875"/>
                </a:cubicBezTo>
                <a:close/>
                <a:moveTo>
                  <a:pt x="0" y="76200"/>
                </a:moveTo>
                <a:cubicBezTo>
                  <a:pt x="0" y="34144"/>
                  <a:pt x="34144" y="0"/>
                  <a:pt x="76200" y="0"/>
                </a:cubicBezTo>
                <a:cubicBezTo>
                  <a:pt x="118256" y="0"/>
                  <a:pt x="152400" y="34144"/>
                  <a:pt x="152400" y="76200"/>
                </a:cubicBezTo>
                <a:cubicBezTo>
                  <a:pt x="152400" y="118256"/>
                  <a:pt x="118256" y="152400"/>
                  <a:pt x="76200" y="152400"/>
                </a:cubicBezTo>
                <a:cubicBezTo>
                  <a:pt x="34144" y="152400"/>
                  <a:pt x="0" y="118256"/>
                  <a:pt x="0" y="76200"/>
                </a:cubicBezTo>
                <a:close/>
                <a:moveTo>
                  <a:pt x="38100" y="109537"/>
                </a:moveTo>
                <a:cubicBezTo>
                  <a:pt x="38100" y="112157"/>
                  <a:pt x="40243" y="114300"/>
                  <a:pt x="42863" y="114300"/>
                </a:cubicBezTo>
                <a:lnTo>
                  <a:pt x="52388" y="114300"/>
                </a:lnTo>
                <a:cubicBezTo>
                  <a:pt x="55007" y="114300"/>
                  <a:pt x="57150" y="112157"/>
                  <a:pt x="57150" y="109537"/>
                </a:cubicBezTo>
                <a:cubicBezTo>
                  <a:pt x="57150" y="106918"/>
                  <a:pt x="55007" y="104775"/>
                  <a:pt x="52388" y="104775"/>
                </a:cubicBezTo>
                <a:lnTo>
                  <a:pt x="42863" y="104775"/>
                </a:lnTo>
                <a:cubicBezTo>
                  <a:pt x="40243" y="104775"/>
                  <a:pt x="38100" y="106918"/>
                  <a:pt x="38100" y="109537"/>
                </a:cubicBezTo>
                <a:close/>
                <a:moveTo>
                  <a:pt x="80962" y="76200"/>
                </a:moveTo>
                <a:cubicBezTo>
                  <a:pt x="78343" y="76200"/>
                  <a:pt x="76200" y="78343"/>
                  <a:pt x="76200" y="80962"/>
                </a:cubicBezTo>
                <a:lnTo>
                  <a:pt x="76200" y="90488"/>
                </a:lnTo>
                <a:cubicBezTo>
                  <a:pt x="76200" y="93107"/>
                  <a:pt x="78343" y="95250"/>
                  <a:pt x="80962" y="95250"/>
                </a:cubicBezTo>
                <a:cubicBezTo>
                  <a:pt x="83582" y="95250"/>
                  <a:pt x="85725" y="93107"/>
                  <a:pt x="85725" y="90488"/>
                </a:cubicBezTo>
                <a:lnTo>
                  <a:pt x="85725" y="80962"/>
                </a:lnTo>
                <a:cubicBezTo>
                  <a:pt x="85725" y="78343"/>
                  <a:pt x="83582" y="76200"/>
                  <a:pt x="80962" y="76200"/>
                </a:cubicBezTo>
                <a:close/>
                <a:moveTo>
                  <a:pt x="95250" y="42863"/>
                </a:moveTo>
                <a:lnTo>
                  <a:pt x="95250" y="52388"/>
                </a:lnTo>
                <a:cubicBezTo>
                  <a:pt x="95250" y="55007"/>
                  <a:pt x="97393" y="57150"/>
                  <a:pt x="100013" y="57150"/>
                </a:cubicBezTo>
                <a:cubicBezTo>
                  <a:pt x="102632" y="57150"/>
                  <a:pt x="104775" y="55007"/>
                  <a:pt x="104775" y="52388"/>
                </a:cubicBezTo>
                <a:lnTo>
                  <a:pt x="104775" y="42863"/>
                </a:lnTo>
                <a:cubicBezTo>
                  <a:pt x="104775" y="40243"/>
                  <a:pt x="102632" y="38100"/>
                  <a:pt x="100013" y="38100"/>
                </a:cubicBezTo>
                <a:cubicBezTo>
                  <a:pt x="97393" y="38100"/>
                  <a:pt x="95250" y="40243"/>
                  <a:pt x="95250" y="42863"/>
                </a:cubicBezTo>
                <a:close/>
              </a:path>
            </a:pathLst>
          </a:custGeom>
          <a:solidFill>
            <a:srgbClr val="4A6C8C"/>
          </a:solidFill>
        </p:spPr>
      </p:sp>
      <p:sp>
        <p:nvSpPr>
          <p:cNvPr id="48" name="Text 46"/>
          <p:cNvSpPr/>
          <p:nvPr/>
        </p:nvSpPr>
        <p:spPr>
          <a:xfrm>
            <a:off x="4810125" y="4448175"/>
            <a:ext cx="990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0F0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海外市场启动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4543425" y="4714875"/>
            <a:ext cx="3219450" cy="2095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日本首个项目验证，马来西亚MyBeST招标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8081962" y="1185863"/>
            <a:ext cx="3724275" cy="4010025"/>
          </a:xfrm>
          <a:custGeom>
            <a:avLst/>
            <a:gdLst/>
            <a:ahLst/>
            <a:cxnLst/>
            <a:rect l="l" t="t" r="r" b="b"/>
            <a:pathLst>
              <a:path w="3724275" h="4010025">
                <a:moveTo>
                  <a:pt x="76199" y="0"/>
                </a:moveTo>
                <a:lnTo>
                  <a:pt x="3648076" y="0"/>
                </a:lnTo>
                <a:cubicBezTo>
                  <a:pt x="3690160" y="0"/>
                  <a:pt x="3724275" y="34115"/>
                  <a:pt x="3724275" y="76199"/>
                </a:cubicBezTo>
                <a:lnTo>
                  <a:pt x="3724275" y="3933826"/>
                </a:lnTo>
                <a:cubicBezTo>
                  <a:pt x="3724275" y="3975910"/>
                  <a:pt x="3690160" y="4010025"/>
                  <a:pt x="3648076" y="4010025"/>
                </a:cubicBezTo>
                <a:lnTo>
                  <a:pt x="76199" y="4010025"/>
                </a:lnTo>
                <a:cubicBezTo>
                  <a:pt x="34115" y="4010025"/>
                  <a:pt x="0" y="3975910"/>
                  <a:pt x="0" y="3933826"/>
                </a:cubicBezTo>
                <a:lnTo>
                  <a:pt x="0" y="76199"/>
                </a:lnTo>
                <a:cubicBezTo>
                  <a:pt x="0" y="34143"/>
                  <a:pt x="34143" y="0"/>
                  <a:pt x="76199" y="0"/>
                </a:cubicBezTo>
                <a:close/>
              </a:path>
            </a:pathLst>
          </a:custGeom>
          <a:gradFill flip="none" rotWithShape="1">
            <a:gsLst>
              <a:gs pos="0">
                <a:srgbClr val="8D99AE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12700">
            <a:solidFill>
              <a:srgbClr val="8D99AE">
                <a:alpha val="4000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8239125" y="1343025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76202" y="0"/>
                </a:moveTo>
                <a:lnTo>
                  <a:pt x="457198" y="0"/>
                </a:lnTo>
                <a:cubicBezTo>
                  <a:pt x="499283" y="0"/>
                  <a:pt x="533400" y="34117"/>
                  <a:pt x="533400" y="76202"/>
                </a:cubicBezTo>
                <a:lnTo>
                  <a:pt x="533400" y="457198"/>
                </a:lnTo>
                <a:cubicBezTo>
                  <a:pt x="533400" y="499283"/>
                  <a:pt x="499283" y="533400"/>
                  <a:pt x="457198" y="533400"/>
                </a:cubicBezTo>
                <a:lnTo>
                  <a:pt x="76202" y="533400"/>
                </a:lnTo>
                <a:cubicBezTo>
                  <a:pt x="34117" y="533400"/>
                  <a:pt x="0" y="499283"/>
                  <a:pt x="0" y="4571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8D99AE"/>
          </a:solidFill>
        </p:spPr>
      </p:sp>
      <p:sp>
        <p:nvSpPr>
          <p:cNvPr id="52" name="Text 50"/>
          <p:cNvSpPr/>
          <p:nvPr/>
        </p:nvSpPr>
        <p:spPr>
          <a:xfrm>
            <a:off x="8370838" y="1457325"/>
            <a:ext cx="3810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03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8886825" y="1362075"/>
            <a:ext cx="8858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0F0F0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资本化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8886825" y="1628775"/>
            <a:ext cx="86677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2028-2029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8258175" y="1990725"/>
            <a:ext cx="3390900" cy="704850"/>
          </a:xfrm>
          <a:custGeom>
            <a:avLst/>
            <a:gdLst/>
            <a:ahLst/>
            <a:cxnLst/>
            <a:rect l="l" t="t" r="r" b="b"/>
            <a:pathLst>
              <a:path w="3390900" h="704850">
                <a:moveTo>
                  <a:pt x="38100" y="0"/>
                </a:moveTo>
                <a:lnTo>
                  <a:pt x="3314699" y="0"/>
                </a:lnTo>
                <a:cubicBezTo>
                  <a:pt x="3356784" y="0"/>
                  <a:pt x="3390900" y="34116"/>
                  <a:pt x="3390900" y="76201"/>
                </a:cubicBezTo>
                <a:lnTo>
                  <a:pt x="3390900" y="628649"/>
                </a:lnTo>
                <a:cubicBezTo>
                  <a:pt x="3390900" y="670734"/>
                  <a:pt x="3356784" y="704850"/>
                  <a:pt x="3314699" y="704850"/>
                </a:cubicBezTo>
                <a:lnTo>
                  <a:pt x="38100" y="704850"/>
                </a:lnTo>
                <a:cubicBezTo>
                  <a:pt x="17072" y="704850"/>
                  <a:pt x="0" y="687778"/>
                  <a:pt x="0" y="6667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</p:spPr>
      </p:sp>
      <p:sp>
        <p:nvSpPr>
          <p:cNvPr id="56" name="Shape 54"/>
          <p:cNvSpPr/>
          <p:nvPr/>
        </p:nvSpPr>
        <p:spPr>
          <a:xfrm>
            <a:off x="8258175" y="1990725"/>
            <a:ext cx="38100" cy="704850"/>
          </a:xfrm>
          <a:custGeom>
            <a:avLst/>
            <a:gdLst/>
            <a:ahLst/>
            <a:cxnLst/>
            <a:rect l="l" t="t" r="r" b="b"/>
            <a:pathLst>
              <a:path w="38100" h="704850">
                <a:moveTo>
                  <a:pt x="38100" y="0"/>
                </a:moveTo>
                <a:lnTo>
                  <a:pt x="38100" y="0"/>
                </a:lnTo>
                <a:lnTo>
                  <a:pt x="38100" y="704850"/>
                </a:lnTo>
                <a:lnTo>
                  <a:pt x="38100" y="704850"/>
                </a:lnTo>
                <a:cubicBezTo>
                  <a:pt x="17072" y="704850"/>
                  <a:pt x="0" y="687778"/>
                  <a:pt x="0" y="6667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6C8C"/>
          </a:solidFill>
        </p:spPr>
      </p:sp>
      <p:sp>
        <p:nvSpPr>
          <p:cNvPr id="57" name="Shape 55"/>
          <p:cNvSpPr/>
          <p:nvPr/>
        </p:nvSpPr>
        <p:spPr>
          <a:xfrm>
            <a:off x="8429625" y="2143125"/>
            <a:ext cx="114300" cy="152400"/>
          </a:xfrm>
          <a:custGeom>
            <a:avLst/>
            <a:gdLst/>
            <a:ahLst/>
            <a:cxnLst/>
            <a:rect l="l" t="t" r="r" b="b"/>
            <a:pathLst>
              <a:path w="114300" h="152400">
                <a:moveTo>
                  <a:pt x="19050" y="0"/>
                </a:moveTo>
                <a:cubicBezTo>
                  <a:pt x="8543" y="0"/>
                  <a:pt x="0" y="8543"/>
                  <a:pt x="0" y="19050"/>
                </a:cubicBezTo>
                <a:lnTo>
                  <a:pt x="0" y="133350"/>
                </a:lnTo>
                <a:cubicBezTo>
                  <a:pt x="0" y="143857"/>
                  <a:pt x="8543" y="152400"/>
                  <a:pt x="19050" y="152400"/>
                </a:cubicBezTo>
                <a:lnTo>
                  <a:pt x="95250" y="152400"/>
                </a:lnTo>
                <a:cubicBezTo>
                  <a:pt x="105757" y="152400"/>
                  <a:pt x="114300" y="143857"/>
                  <a:pt x="114300" y="133350"/>
                </a:cubicBezTo>
                <a:lnTo>
                  <a:pt x="114300" y="19050"/>
                </a:lnTo>
                <a:cubicBezTo>
                  <a:pt x="114300" y="8543"/>
                  <a:pt x="105757" y="0"/>
                  <a:pt x="95250" y="0"/>
                </a:cubicBezTo>
                <a:lnTo>
                  <a:pt x="19050" y="0"/>
                </a:lnTo>
                <a:close/>
                <a:moveTo>
                  <a:pt x="52388" y="104775"/>
                </a:moveTo>
                <a:lnTo>
                  <a:pt x="61912" y="104775"/>
                </a:lnTo>
                <a:cubicBezTo>
                  <a:pt x="67181" y="104775"/>
                  <a:pt x="71438" y="109031"/>
                  <a:pt x="71438" y="114300"/>
                </a:cubicBezTo>
                <a:lnTo>
                  <a:pt x="71438" y="138113"/>
                </a:lnTo>
                <a:lnTo>
                  <a:pt x="42863" y="138113"/>
                </a:lnTo>
                <a:lnTo>
                  <a:pt x="42863" y="114300"/>
                </a:lnTo>
                <a:cubicBezTo>
                  <a:pt x="42863" y="109031"/>
                  <a:pt x="47119" y="104775"/>
                  <a:pt x="52388" y="104775"/>
                </a:cubicBezTo>
                <a:close/>
                <a:moveTo>
                  <a:pt x="28575" y="33338"/>
                </a:moveTo>
                <a:cubicBezTo>
                  <a:pt x="28575" y="30718"/>
                  <a:pt x="30718" y="28575"/>
                  <a:pt x="33338" y="28575"/>
                </a:cubicBezTo>
                <a:lnTo>
                  <a:pt x="42863" y="28575"/>
                </a:lnTo>
                <a:cubicBezTo>
                  <a:pt x="45482" y="28575"/>
                  <a:pt x="47625" y="30718"/>
                  <a:pt x="47625" y="33338"/>
                </a:cubicBezTo>
                <a:lnTo>
                  <a:pt x="47625" y="42863"/>
                </a:lnTo>
                <a:cubicBezTo>
                  <a:pt x="47625" y="45482"/>
                  <a:pt x="45482" y="47625"/>
                  <a:pt x="42863" y="47625"/>
                </a:cubicBezTo>
                <a:lnTo>
                  <a:pt x="33338" y="47625"/>
                </a:lnTo>
                <a:cubicBezTo>
                  <a:pt x="30718" y="47625"/>
                  <a:pt x="28575" y="45482"/>
                  <a:pt x="28575" y="42863"/>
                </a:cubicBezTo>
                <a:lnTo>
                  <a:pt x="28575" y="33338"/>
                </a:lnTo>
                <a:close/>
                <a:moveTo>
                  <a:pt x="71438" y="28575"/>
                </a:moveTo>
                <a:lnTo>
                  <a:pt x="80962" y="28575"/>
                </a:lnTo>
                <a:cubicBezTo>
                  <a:pt x="83582" y="28575"/>
                  <a:pt x="85725" y="30718"/>
                  <a:pt x="85725" y="33338"/>
                </a:cubicBezTo>
                <a:lnTo>
                  <a:pt x="85725" y="42863"/>
                </a:lnTo>
                <a:cubicBezTo>
                  <a:pt x="85725" y="45482"/>
                  <a:pt x="83582" y="47625"/>
                  <a:pt x="80962" y="47625"/>
                </a:cubicBezTo>
                <a:lnTo>
                  <a:pt x="71438" y="47625"/>
                </a:lnTo>
                <a:cubicBezTo>
                  <a:pt x="68818" y="47625"/>
                  <a:pt x="66675" y="45482"/>
                  <a:pt x="66675" y="42863"/>
                </a:cubicBezTo>
                <a:lnTo>
                  <a:pt x="66675" y="33338"/>
                </a:lnTo>
                <a:cubicBezTo>
                  <a:pt x="66675" y="30718"/>
                  <a:pt x="68818" y="28575"/>
                  <a:pt x="71438" y="28575"/>
                </a:cubicBezTo>
                <a:close/>
                <a:moveTo>
                  <a:pt x="28575" y="71438"/>
                </a:moveTo>
                <a:cubicBezTo>
                  <a:pt x="28575" y="68818"/>
                  <a:pt x="30718" y="66675"/>
                  <a:pt x="33338" y="66675"/>
                </a:cubicBezTo>
                <a:lnTo>
                  <a:pt x="42863" y="66675"/>
                </a:lnTo>
                <a:cubicBezTo>
                  <a:pt x="45482" y="66675"/>
                  <a:pt x="47625" y="68818"/>
                  <a:pt x="47625" y="71438"/>
                </a:cubicBezTo>
                <a:lnTo>
                  <a:pt x="47625" y="80962"/>
                </a:lnTo>
                <a:cubicBezTo>
                  <a:pt x="47625" y="83582"/>
                  <a:pt x="45482" y="85725"/>
                  <a:pt x="42863" y="85725"/>
                </a:cubicBezTo>
                <a:lnTo>
                  <a:pt x="33338" y="85725"/>
                </a:lnTo>
                <a:cubicBezTo>
                  <a:pt x="30718" y="85725"/>
                  <a:pt x="28575" y="83582"/>
                  <a:pt x="28575" y="80962"/>
                </a:cubicBezTo>
                <a:lnTo>
                  <a:pt x="28575" y="71438"/>
                </a:lnTo>
                <a:close/>
                <a:moveTo>
                  <a:pt x="71438" y="66675"/>
                </a:moveTo>
                <a:lnTo>
                  <a:pt x="80962" y="66675"/>
                </a:lnTo>
                <a:cubicBezTo>
                  <a:pt x="83582" y="66675"/>
                  <a:pt x="85725" y="68818"/>
                  <a:pt x="85725" y="71438"/>
                </a:cubicBezTo>
                <a:lnTo>
                  <a:pt x="85725" y="80962"/>
                </a:lnTo>
                <a:cubicBezTo>
                  <a:pt x="85725" y="83582"/>
                  <a:pt x="83582" y="85725"/>
                  <a:pt x="80962" y="85725"/>
                </a:cubicBezTo>
                <a:lnTo>
                  <a:pt x="71438" y="85725"/>
                </a:lnTo>
                <a:cubicBezTo>
                  <a:pt x="68818" y="85725"/>
                  <a:pt x="66675" y="83582"/>
                  <a:pt x="66675" y="80962"/>
                </a:cubicBezTo>
                <a:lnTo>
                  <a:pt x="66675" y="71438"/>
                </a:lnTo>
                <a:cubicBezTo>
                  <a:pt x="66675" y="68818"/>
                  <a:pt x="68818" y="66675"/>
                  <a:pt x="71438" y="66675"/>
                </a:cubicBezTo>
                <a:close/>
              </a:path>
            </a:pathLst>
          </a:custGeom>
          <a:solidFill>
            <a:srgbClr val="4A6C8C"/>
          </a:solidFill>
        </p:spPr>
      </p:sp>
      <p:sp>
        <p:nvSpPr>
          <p:cNvPr id="58" name="Text 56"/>
          <p:cNvSpPr/>
          <p:nvPr/>
        </p:nvSpPr>
        <p:spPr>
          <a:xfrm>
            <a:off x="8658225" y="2105025"/>
            <a:ext cx="838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0F0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长三角退出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8391525" y="2371725"/>
            <a:ext cx="3219450" cy="2095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机构间REITs发行或险资收购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8258175" y="2771775"/>
            <a:ext cx="3390900" cy="704850"/>
          </a:xfrm>
          <a:custGeom>
            <a:avLst/>
            <a:gdLst/>
            <a:ahLst/>
            <a:cxnLst/>
            <a:rect l="l" t="t" r="r" b="b"/>
            <a:pathLst>
              <a:path w="3390900" h="704850">
                <a:moveTo>
                  <a:pt x="38100" y="0"/>
                </a:moveTo>
                <a:lnTo>
                  <a:pt x="3314699" y="0"/>
                </a:lnTo>
                <a:cubicBezTo>
                  <a:pt x="3356784" y="0"/>
                  <a:pt x="3390900" y="34116"/>
                  <a:pt x="3390900" y="76201"/>
                </a:cubicBezTo>
                <a:lnTo>
                  <a:pt x="3390900" y="628649"/>
                </a:lnTo>
                <a:cubicBezTo>
                  <a:pt x="3390900" y="670734"/>
                  <a:pt x="3356784" y="704850"/>
                  <a:pt x="3314699" y="704850"/>
                </a:cubicBezTo>
                <a:lnTo>
                  <a:pt x="38100" y="704850"/>
                </a:lnTo>
                <a:cubicBezTo>
                  <a:pt x="17072" y="704850"/>
                  <a:pt x="0" y="687778"/>
                  <a:pt x="0" y="6667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</p:spPr>
      </p:sp>
      <p:sp>
        <p:nvSpPr>
          <p:cNvPr id="61" name="Shape 59"/>
          <p:cNvSpPr/>
          <p:nvPr/>
        </p:nvSpPr>
        <p:spPr>
          <a:xfrm>
            <a:off x="8258175" y="2771775"/>
            <a:ext cx="38100" cy="704850"/>
          </a:xfrm>
          <a:custGeom>
            <a:avLst/>
            <a:gdLst/>
            <a:ahLst/>
            <a:cxnLst/>
            <a:rect l="l" t="t" r="r" b="b"/>
            <a:pathLst>
              <a:path w="38100" h="704850">
                <a:moveTo>
                  <a:pt x="38100" y="0"/>
                </a:moveTo>
                <a:lnTo>
                  <a:pt x="38100" y="0"/>
                </a:lnTo>
                <a:lnTo>
                  <a:pt x="38100" y="704850"/>
                </a:lnTo>
                <a:lnTo>
                  <a:pt x="38100" y="704850"/>
                </a:lnTo>
                <a:cubicBezTo>
                  <a:pt x="17072" y="704850"/>
                  <a:pt x="0" y="687778"/>
                  <a:pt x="0" y="6667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4A373"/>
          </a:solidFill>
        </p:spPr>
      </p:sp>
      <p:sp>
        <p:nvSpPr>
          <p:cNvPr id="62" name="Shape 60"/>
          <p:cNvSpPr/>
          <p:nvPr/>
        </p:nvSpPr>
        <p:spPr>
          <a:xfrm>
            <a:off x="8410575" y="292417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49602" y="44827"/>
                </a:moveTo>
                <a:lnTo>
                  <a:pt x="121027" y="73402"/>
                </a:lnTo>
                <a:cubicBezTo>
                  <a:pt x="118289" y="76140"/>
                  <a:pt x="114211" y="76944"/>
                  <a:pt x="110639" y="75456"/>
                </a:cubicBezTo>
                <a:cubicBezTo>
                  <a:pt x="107067" y="73968"/>
                  <a:pt x="104775" y="70515"/>
                  <a:pt x="104775" y="66675"/>
                </a:cubicBezTo>
                <a:lnTo>
                  <a:pt x="104775" y="47625"/>
                </a:lnTo>
                <a:lnTo>
                  <a:pt x="9525" y="47625"/>
                </a:lnTo>
                <a:cubicBezTo>
                  <a:pt x="4256" y="47625"/>
                  <a:pt x="0" y="43369"/>
                  <a:pt x="0" y="38100"/>
                </a:cubicBezTo>
                <a:cubicBezTo>
                  <a:pt x="0" y="32831"/>
                  <a:pt x="4256" y="28575"/>
                  <a:pt x="9525" y="28575"/>
                </a:cubicBezTo>
                <a:lnTo>
                  <a:pt x="104775" y="28575"/>
                </a:lnTo>
                <a:lnTo>
                  <a:pt x="104775" y="9525"/>
                </a:lnTo>
                <a:cubicBezTo>
                  <a:pt x="104775" y="5685"/>
                  <a:pt x="107097" y="2203"/>
                  <a:pt x="110669" y="714"/>
                </a:cubicBezTo>
                <a:cubicBezTo>
                  <a:pt x="114240" y="-774"/>
                  <a:pt x="118318" y="60"/>
                  <a:pt x="121057" y="2768"/>
                </a:cubicBezTo>
                <a:lnTo>
                  <a:pt x="149632" y="31343"/>
                </a:lnTo>
                <a:cubicBezTo>
                  <a:pt x="153353" y="35064"/>
                  <a:pt x="153353" y="41106"/>
                  <a:pt x="149632" y="44827"/>
                </a:cubicBezTo>
                <a:close/>
                <a:moveTo>
                  <a:pt x="31343" y="149602"/>
                </a:moveTo>
                <a:lnTo>
                  <a:pt x="2768" y="121027"/>
                </a:lnTo>
                <a:cubicBezTo>
                  <a:pt x="-952" y="117306"/>
                  <a:pt x="-952" y="111264"/>
                  <a:pt x="2768" y="107543"/>
                </a:cubicBezTo>
                <a:lnTo>
                  <a:pt x="31343" y="78968"/>
                </a:lnTo>
                <a:cubicBezTo>
                  <a:pt x="34082" y="76230"/>
                  <a:pt x="38160" y="75426"/>
                  <a:pt x="41731" y="76914"/>
                </a:cubicBezTo>
                <a:cubicBezTo>
                  <a:pt x="45303" y="78403"/>
                  <a:pt x="47625" y="81885"/>
                  <a:pt x="47625" y="85725"/>
                </a:cubicBezTo>
                <a:lnTo>
                  <a:pt x="47625" y="104775"/>
                </a:lnTo>
                <a:lnTo>
                  <a:pt x="142875" y="104775"/>
                </a:lnTo>
                <a:cubicBezTo>
                  <a:pt x="148144" y="104775"/>
                  <a:pt x="152400" y="109031"/>
                  <a:pt x="152400" y="114300"/>
                </a:cubicBezTo>
                <a:cubicBezTo>
                  <a:pt x="152400" y="119569"/>
                  <a:pt x="148144" y="123825"/>
                  <a:pt x="142875" y="123825"/>
                </a:cubicBezTo>
                <a:lnTo>
                  <a:pt x="47625" y="123825"/>
                </a:lnTo>
                <a:lnTo>
                  <a:pt x="47625" y="142875"/>
                </a:lnTo>
                <a:cubicBezTo>
                  <a:pt x="47625" y="146715"/>
                  <a:pt x="45303" y="150197"/>
                  <a:pt x="41731" y="151686"/>
                </a:cubicBezTo>
                <a:cubicBezTo>
                  <a:pt x="38160" y="153174"/>
                  <a:pt x="34082" y="152340"/>
                  <a:pt x="31343" y="149632"/>
                </a:cubicBezTo>
                <a:close/>
              </a:path>
            </a:pathLst>
          </a:custGeom>
          <a:solidFill>
            <a:srgbClr val="D4A373"/>
          </a:solidFill>
        </p:spPr>
      </p:sp>
      <p:sp>
        <p:nvSpPr>
          <p:cNvPr id="63" name="Text 61"/>
          <p:cNvSpPr/>
          <p:nvPr/>
        </p:nvSpPr>
        <p:spPr>
          <a:xfrm>
            <a:off x="8658225" y="2886075"/>
            <a:ext cx="838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0F0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珠三角退出</a:t>
            </a:r>
            <a:endParaRPr lang="en-US" sz="1600" dirty="0"/>
          </a:p>
        </p:txBody>
      </p:sp>
      <p:sp>
        <p:nvSpPr>
          <p:cNvPr id="64" name="Text 62"/>
          <p:cNvSpPr/>
          <p:nvPr/>
        </p:nvSpPr>
        <p:spPr>
          <a:xfrm>
            <a:off x="8391525" y="3152775"/>
            <a:ext cx="3219450" cy="2095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资产轮调退出，保留AI平台运营权</a:t>
            </a:r>
            <a:endParaRPr lang="en-US" sz="1600" dirty="0"/>
          </a:p>
        </p:txBody>
      </p:sp>
      <p:sp>
        <p:nvSpPr>
          <p:cNvPr id="65" name="Shape 63"/>
          <p:cNvSpPr/>
          <p:nvPr/>
        </p:nvSpPr>
        <p:spPr>
          <a:xfrm>
            <a:off x="8258175" y="3552825"/>
            <a:ext cx="3390900" cy="704850"/>
          </a:xfrm>
          <a:custGeom>
            <a:avLst/>
            <a:gdLst/>
            <a:ahLst/>
            <a:cxnLst/>
            <a:rect l="l" t="t" r="r" b="b"/>
            <a:pathLst>
              <a:path w="3390900" h="704850">
                <a:moveTo>
                  <a:pt x="38100" y="0"/>
                </a:moveTo>
                <a:lnTo>
                  <a:pt x="3314699" y="0"/>
                </a:lnTo>
                <a:cubicBezTo>
                  <a:pt x="3356784" y="0"/>
                  <a:pt x="3390900" y="34116"/>
                  <a:pt x="3390900" y="76201"/>
                </a:cubicBezTo>
                <a:lnTo>
                  <a:pt x="3390900" y="628649"/>
                </a:lnTo>
                <a:cubicBezTo>
                  <a:pt x="3390900" y="670734"/>
                  <a:pt x="3356784" y="704850"/>
                  <a:pt x="3314699" y="704850"/>
                </a:cubicBezTo>
                <a:lnTo>
                  <a:pt x="38100" y="704850"/>
                </a:lnTo>
                <a:cubicBezTo>
                  <a:pt x="17072" y="704850"/>
                  <a:pt x="0" y="687778"/>
                  <a:pt x="0" y="6667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</p:spPr>
      </p:sp>
      <p:sp>
        <p:nvSpPr>
          <p:cNvPr id="66" name="Shape 64"/>
          <p:cNvSpPr/>
          <p:nvPr/>
        </p:nvSpPr>
        <p:spPr>
          <a:xfrm>
            <a:off x="8258175" y="3552825"/>
            <a:ext cx="38100" cy="704850"/>
          </a:xfrm>
          <a:custGeom>
            <a:avLst/>
            <a:gdLst/>
            <a:ahLst/>
            <a:cxnLst/>
            <a:rect l="l" t="t" r="r" b="b"/>
            <a:pathLst>
              <a:path w="38100" h="704850">
                <a:moveTo>
                  <a:pt x="38100" y="0"/>
                </a:moveTo>
                <a:lnTo>
                  <a:pt x="38100" y="0"/>
                </a:lnTo>
                <a:lnTo>
                  <a:pt x="38100" y="704850"/>
                </a:lnTo>
                <a:lnTo>
                  <a:pt x="38100" y="704850"/>
                </a:lnTo>
                <a:cubicBezTo>
                  <a:pt x="17072" y="704850"/>
                  <a:pt x="0" y="687778"/>
                  <a:pt x="0" y="6667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D99AE"/>
          </a:solidFill>
        </p:spPr>
      </p:sp>
      <p:sp>
        <p:nvSpPr>
          <p:cNvPr id="67" name="Shape 65"/>
          <p:cNvSpPr/>
          <p:nvPr/>
        </p:nvSpPr>
        <p:spPr>
          <a:xfrm>
            <a:off x="8410575" y="370522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04745" y="83344"/>
                </a:moveTo>
                <a:lnTo>
                  <a:pt x="47923" y="83344"/>
                </a:lnTo>
                <a:cubicBezTo>
                  <a:pt x="48786" y="102543"/>
                  <a:pt x="53042" y="120223"/>
                  <a:pt x="59085" y="133171"/>
                </a:cubicBezTo>
                <a:cubicBezTo>
                  <a:pt x="62478" y="140464"/>
                  <a:pt x="66139" y="145613"/>
                  <a:pt x="69533" y="148769"/>
                </a:cubicBezTo>
                <a:cubicBezTo>
                  <a:pt x="72866" y="151894"/>
                  <a:pt x="75158" y="152400"/>
                  <a:pt x="76349" y="152400"/>
                </a:cubicBezTo>
                <a:cubicBezTo>
                  <a:pt x="77539" y="152400"/>
                  <a:pt x="79831" y="151894"/>
                  <a:pt x="83165" y="148769"/>
                </a:cubicBezTo>
                <a:cubicBezTo>
                  <a:pt x="86558" y="145613"/>
                  <a:pt x="90220" y="140434"/>
                  <a:pt x="93613" y="133171"/>
                </a:cubicBezTo>
                <a:cubicBezTo>
                  <a:pt x="99655" y="120223"/>
                  <a:pt x="103912" y="102543"/>
                  <a:pt x="104775" y="83344"/>
                </a:cubicBezTo>
                <a:close/>
                <a:moveTo>
                  <a:pt x="47893" y="69056"/>
                </a:moveTo>
                <a:lnTo>
                  <a:pt x="104715" y="69056"/>
                </a:lnTo>
                <a:cubicBezTo>
                  <a:pt x="103882" y="49857"/>
                  <a:pt x="99626" y="32177"/>
                  <a:pt x="93583" y="19229"/>
                </a:cubicBezTo>
                <a:cubicBezTo>
                  <a:pt x="90190" y="11966"/>
                  <a:pt x="86529" y="6787"/>
                  <a:pt x="83135" y="3631"/>
                </a:cubicBezTo>
                <a:cubicBezTo>
                  <a:pt x="79802" y="506"/>
                  <a:pt x="77510" y="0"/>
                  <a:pt x="76319" y="0"/>
                </a:cubicBezTo>
                <a:cubicBezTo>
                  <a:pt x="75128" y="0"/>
                  <a:pt x="72836" y="506"/>
                  <a:pt x="69503" y="3631"/>
                </a:cubicBezTo>
                <a:cubicBezTo>
                  <a:pt x="66109" y="6787"/>
                  <a:pt x="62448" y="11966"/>
                  <a:pt x="59055" y="19229"/>
                </a:cubicBezTo>
                <a:cubicBezTo>
                  <a:pt x="53013" y="32177"/>
                  <a:pt x="48756" y="49857"/>
                  <a:pt x="47893" y="69056"/>
                </a:cubicBezTo>
                <a:close/>
                <a:moveTo>
                  <a:pt x="33605" y="69056"/>
                </a:moveTo>
                <a:cubicBezTo>
                  <a:pt x="34647" y="43577"/>
                  <a:pt x="41225" y="19913"/>
                  <a:pt x="50840" y="4376"/>
                </a:cubicBezTo>
                <a:cubicBezTo>
                  <a:pt x="23426" y="14079"/>
                  <a:pt x="3244" y="39052"/>
                  <a:pt x="446" y="69056"/>
                </a:cubicBezTo>
                <a:lnTo>
                  <a:pt x="33605" y="69056"/>
                </a:lnTo>
                <a:close/>
                <a:moveTo>
                  <a:pt x="446" y="83344"/>
                </a:moveTo>
                <a:cubicBezTo>
                  <a:pt x="3244" y="113348"/>
                  <a:pt x="23426" y="138321"/>
                  <a:pt x="50840" y="148024"/>
                </a:cubicBezTo>
                <a:cubicBezTo>
                  <a:pt x="41225" y="132487"/>
                  <a:pt x="34647" y="108823"/>
                  <a:pt x="33605" y="83344"/>
                </a:cubicBezTo>
                <a:lnTo>
                  <a:pt x="446" y="83344"/>
                </a:lnTo>
                <a:close/>
                <a:moveTo>
                  <a:pt x="119033" y="83344"/>
                </a:moveTo>
                <a:cubicBezTo>
                  <a:pt x="117991" y="108823"/>
                  <a:pt x="111413" y="132487"/>
                  <a:pt x="101798" y="148024"/>
                </a:cubicBezTo>
                <a:cubicBezTo>
                  <a:pt x="129213" y="138291"/>
                  <a:pt x="149394" y="113348"/>
                  <a:pt x="152192" y="83344"/>
                </a:cubicBezTo>
                <a:lnTo>
                  <a:pt x="119033" y="83344"/>
                </a:lnTo>
                <a:close/>
                <a:moveTo>
                  <a:pt x="152192" y="69056"/>
                </a:moveTo>
                <a:cubicBezTo>
                  <a:pt x="149394" y="39052"/>
                  <a:pt x="129213" y="14079"/>
                  <a:pt x="101798" y="4376"/>
                </a:cubicBezTo>
                <a:cubicBezTo>
                  <a:pt x="111413" y="19913"/>
                  <a:pt x="117991" y="43577"/>
                  <a:pt x="119033" y="69056"/>
                </a:cubicBezTo>
                <a:lnTo>
                  <a:pt x="152192" y="69056"/>
                </a:lnTo>
                <a:close/>
              </a:path>
            </a:pathLst>
          </a:custGeom>
          <a:solidFill>
            <a:srgbClr val="8D99AE"/>
          </a:solidFill>
        </p:spPr>
      </p:sp>
      <p:sp>
        <p:nvSpPr>
          <p:cNvPr id="68" name="Text 66"/>
          <p:cNvSpPr/>
          <p:nvPr/>
        </p:nvSpPr>
        <p:spPr>
          <a:xfrm>
            <a:off x="8658225" y="3667125"/>
            <a:ext cx="838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0F0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海外规模化</a:t>
            </a:r>
            <a:endParaRPr lang="en-US" sz="1600" dirty="0"/>
          </a:p>
        </p:txBody>
      </p:sp>
      <p:sp>
        <p:nvSpPr>
          <p:cNvPr id="69" name="Text 67"/>
          <p:cNvSpPr/>
          <p:nvPr/>
        </p:nvSpPr>
        <p:spPr>
          <a:xfrm>
            <a:off x="8391525" y="3933825"/>
            <a:ext cx="3219450" cy="2095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日本LTDA拍卖参与，马来西亚规模化复制</a:t>
            </a:r>
            <a:endParaRPr lang="en-US" sz="1600" dirty="0"/>
          </a:p>
        </p:txBody>
      </p:sp>
      <p:sp>
        <p:nvSpPr>
          <p:cNvPr id="70" name="Shape 68"/>
          <p:cNvSpPr/>
          <p:nvPr/>
        </p:nvSpPr>
        <p:spPr>
          <a:xfrm>
            <a:off x="8258175" y="4333875"/>
            <a:ext cx="3390900" cy="704850"/>
          </a:xfrm>
          <a:custGeom>
            <a:avLst/>
            <a:gdLst/>
            <a:ahLst/>
            <a:cxnLst/>
            <a:rect l="l" t="t" r="r" b="b"/>
            <a:pathLst>
              <a:path w="3390900" h="704850">
                <a:moveTo>
                  <a:pt x="38100" y="0"/>
                </a:moveTo>
                <a:lnTo>
                  <a:pt x="3314699" y="0"/>
                </a:lnTo>
                <a:cubicBezTo>
                  <a:pt x="3356784" y="0"/>
                  <a:pt x="3390900" y="34116"/>
                  <a:pt x="3390900" y="76201"/>
                </a:cubicBezTo>
                <a:lnTo>
                  <a:pt x="3390900" y="628649"/>
                </a:lnTo>
                <a:cubicBezTo>
                  <a:pt x="3390900" y="670734"/>
                  <a:pt x="3356784" y="704850"/>
                  <a:pt x="3314699" y="704850"/>
                </a:cubicBezTo>
                <a:lnTo>
                  <a:pt x="38100" y="704850"/>
                </a:lnTo>
                <a:cubicBezTo>
                  <a:pt x="17072" y="704850"/>
                  <a:pt x="0" y="687778"/>
                  <a:pt x="0" y="6667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</p:spPr>
      </p:sp>
      <p:sp>
        <p:nvSpPr>
          <p:cNvPr id="71" name="Shape 69"/>
          <p:cNvSpPr/>
          <p:nvPr/>
        </p:nvSpPr>
        <p:spPr>
          <a:xfrm>
            <a:off x="8258175" y="4333875"/>
            <a:ext cx="38100" cy="704850"/>
          </a:xfrm>
          <a:custGeom>
            <a:avLst/>
            <a:gdLst/>
            <a:ahLst/>
            <a:cxnLst/>
            <a:rect l="l" t="t" r="r" b="b"/>
            <a:pathLst>
              <a:path w="38100" h="704850">
                <a:moveTo>
                  <a:pt x="38100" y="0"/>
                </a:moveTo>
                <a:lnTo>
                  <a:pt x="38100" y="0"/>
                </a:lnTo>
                <a:lnTo>
                  <a:pt x="38100" y="704850"/>
                </a:lnTo>
                <a:lnTo>
                  <a:pt x="38100" y="704850"/>
                </a:lnTo>
                <a:cubicBezTo>
                  <a:pt x="17072" y="704850"/>
                  <a:pt x="0" y="687778"/>
                  <a:pt x="0" y="6667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4A373"/>
          </a:solidFill>
        </p:spPr>
      </p:sp>
      <p:sp>
        <p:nvSpPr>
          <p:cNvPr id="72" name="Shape 70"/>
          <p:cNvSpPr/>
          <p:nvPr/>
        </p:nvSpPr>
        <p:spPr>
          <a:xfrm>
            <a:off x="8410575" y="448627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42952" y="0"/>
                </a:moveTo>
                <a:lnTo>
                  <a:pt x="109627" y="0"/>
                </a:lnTo>
                <a:cubicBezTo>
                  <a:pt x="117515" y="0"/>
                  <a:pt x="123944" y="6489"/>
                  <a:pt x="123646" y="14347"/>
                </a:cubicBezTo>
                <a:cubicBezTo>
                  <a:pt x="123587" y="15925"/>
                  <a:pt x="123527" y="17502"/>
                  <a:pt x="123438" y="19050"/>
                </a:cubicBezTo>
                <a:lnTo>
                  <a:pt x="138202" y="19050"/>
                </a:lnTo>
                <a:cubicBezTo>
                  <a:pt x="145971" y="19050"/>
                  <a:pt x="152817" y="25479"/>
                  <a:pt x="152221" y="33873"/>
                </a:cubicBezTo>
                <a:cubicBezTo>
                  <a:pt x="149989" y="64740"/>
                  <a:pt x="134213" y="81707"/>
                  <a:pt x="117098" y="90577"/>
                </a:cubicBezTo>
                <a:cubicBezTo>
                  <a:pt x="112395" y="93018"/>
                  <a:pt x="107603" y="94833"/>
                  <a:pt x="103049" y="96173"/>
                </a:cubicBezTo>
                <a:cubicBezTo>
                  <a:pt x="97036" y="104686"/>
                  <a:pt x="90785" y="109180"/>
                  <a:pt x="85814" y="111591"/>
                </a:cubicBezTo>
                <a:lnTo>
                  <a:pt x="85814" y="133350"/>
                </a:lnTo>
                <a:lnTo>
                  <a:pt x="104864" y="133350"/>
                </a:lnTo>
                <a:cubicBezTo>
                  <a:pt x="110133" y="133350"/>
                  <a:pt x="114389" y="137606"/>
                  <a:pt x="114389" y="142875"/>
                </a:cubicBezTo>
                <a:cubicBezTo>
                  <a:pt x="114389" y="148144"/>
                  <a:pt x="110133" y="152400"/>
                  <a:pt x="104864" y="152400"/>
                </a:cubicBezTo>
                <a:lnTo>
                  <a:pt x="47714" y="152400"/>
                </a:lnTo>
                <a:cubicBezTo>
                  <a:pt x="42446" y="152400"/>
                  <a:pt x="38189" y="148144"/>
                  <a:pt x="38189" y="142875"/>
                </a:cubicBezTo>
                <a:cubicBezTo>
                  <a:pt x="38189" y="137606"/>
                  <a:pt x="42446" y="133350"/>
                  <a:pt x="47714" y="133350"/>
                </a:cubicBezTo>
                <a:lnTo>
                  <a:pt x="66764" y="133350"/>
                </a:lnTo>
                <a:lnTo>
                  <a:pt x="66764" y="111591"/>
                </a:lnTo>
                <a:cubicBezTo>
                  <a:pt x="62002" y="109299"/>
                  <a:pt x="56078" y="105043"/>
                  <a:pt x="50304" y="97215"/>
                </a:cubicBezTo>
                <a:cubicBezTo>
                  <a:pt x="44827" y="95786"/>
                  <a:pt x="38874" y="93613"/>
                  <a:pt x="33070" y="90339"/>
                </a:cubicBezTo>
                <a:cubicBezTo>
                  <a:pt x="16966" y="81320"/>
                  <a:pt x="2441" y="64324"/>
                  <a:pt x="357" y="33814"/>
                </a:cubicBezTo>
                <a:cubicBezTo>
                  <a:pt x="-208" y="25450"/>
                  <a:pt x="6608" y="19020"/>
                  <a:pt x="14377" y="19020"/>
                </a:cubicBezTo>
                <a:lnTo>
                  <a:pt x="29141" y="19020"/>
                </a:lnTo>
                <a:cubicBezTo>
                  <a:pt x="29051" y="17472"/>
                  <a:pt x="28992" y="15925"/>
                  <a:pt x="28932" y="14317"/>
                </a:cubicBezTo>
                <a:cubicBezTo>
                  <a:pt x="28635" y="6429"/>
                  <a:pt x="35064" y="-30"/>
                  <a:pt x="42952" y="-30"/>
                </a:cubicBezTo>
                <a:close/>
                <a:moveTo>
                  <a:pt x="30212" y="33338"/>
                </a:moveTo>
                <a:lnTo>
                  <a:pt x="14615" y="33338"/>
                </a:lnTo>
                <a:cubicBezTo>
                  <a:pt x="16460" y="58549"/>
                  <a:pt x="28039" y="71170"/>
                  <a:pt x="39975" y="77867"/>
                </a:cubicBezTo>
                <a:cubicBezTo>
                  <a:pt x="35689" y="66764"/>
                  <a:pt x="32147" y="52268"/>
                  <a:pt x="30212" y="33338"/>
                </a:cubicBezTo>
                <a:close/>
                <a:moveTo>
                  <a:pt x="113109" y="76438"/>
                </a:moveTo>
                <a:cubicBezTo>
                  <a:pt x="125164" y="69354"/>
                  <a:pt x="136059" y="56763"/>
                  <a:pt x="137904" y="33338"/>
                </a:cubicBezTo>
                <a:lnTo>
                  <a:pt x="122337" y="33338"/>
                </a:lnTo>
                <a:cubicBezTo>
                  <a:pt x="120491" y="51465"/>
                  <a:pt x="117157" y="65544"/>
                  <a:pt x="113109" y="76438"/>
                </a:cubicBezTo>
                <a:close/>
              </a:path>
            </a:pathLst>
          </a:custGeom>
          <a:solidFill>
            <a:srgbClr val="D4A373"/>
          </a:solidFill>
        </p:spPr>
      </p:sp>
      <p:sp>
        <p:nvSpPr>
          <p:cNvPr id="73" name="Text 71"/>
          <p:cNvSpPr/>
          <p:nvPr/>
        </p:nvSpPr>
        <p:spPr>
          <a:xfrm>
            <a:off x="8658225" y="4448175"/>
            <a:ext cx="685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0F0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战略目标</a:t>
            </a:r>
            <a:endParaRPr lang="en-US" sz="1600" dirty="0"/>
          </a:p>
        </p:txBody>
      </p:sp>
      <p:sp>
        <p:nvSpPr>
          <p:cNvPr id="74" name="Text 72"/>
          <p:cNvSpPr/>
          <p:nvPr/>
        </p:nvSpPr>
        <p:spPr>
          <a:xfrm>
            <a:off x="8391525" y="4714875"/>
            <a:ext cx="3219450" cy="2095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形成可复制模板，建立品牌壁垒</a:t>
            </a:r>
            <a:endParaRPr lang="en-US" sz="1600" dirty="0"/>
          </a:p>
        </p:txBody>
      </p:sp>
      <p:sp>
        <p:nvSpPr>
          <p:cNvPr id="75" name="Shape 73"/>
          <p:cNvSpPr/>
          <p:nvPr/>
        </p:nvSpPr>
        <p:spPr>
          <a:xfrm>
            <a:off x="385763" y="5319713"/>
            <a:ext cx="11420475" cy="1533525"/>
          </a:xfrm>
          <a:custGeom>
            <a:avLst/>
            <a:gdLst/>
            <a:ahLst/>
            <a:cxnLst/>
            <a:rect l="l" t="t" r="r" b="b"/>
            <a:pathLst>
              <a:path w="11420475" h="1533525">
                <a:moveTo>
                  <a:pt x="76201" y="0"/>
                </a:moveTo>
                <a:lnTo>
                  <a:pt x="11344274" y="0"/>
                </a:lnTo>
                <a:cubicBezTo>
                  <a:pt x="11386331" y="0"/>
                  <a:pt x="11420475" y="34144"/>
                  <a:pt x="11420475" y="76201"/>
                </a:cubicBezTo>
                <a:lnTo>
                  <a:pt x="11420475" y="1457324"/>
                </a:lnTo>
                <a:cubicBezTo>
                  <a:pt x="11420475" y="1499381"/>
                  <a:pt x="11386331" y="1533525"/>
                  <a:pt x="11344274" y="1533525"/>
                </a:cubicBezTo>
                <a:lnTo>
                  <a:pt x="76201" y="1533525"/>
                </a:lnTo>
                <a:cubicBezTo>
                  <a:pt x="34144" y="1533525"/>
                  <a:pt x="0" y="1499381"/>
                  <a:pt x="0" y="1457324"/>
                </a:cubicBezTo>
                <a:lnTo>
                  <a:pt x="0" y="76201"/>
                </a:lnTo>
                <a:cubicBezTo>
                  <a:pt x="0" y="34144"/>
                  <a:pt x="34144" y="0"/>
                  <a:pt x="76201" y="0"/>
                </a:cubicBezTo>
                <a:close/>
              </a:path>
            </a:pathLst>
          </a:custGeom>
          <a:gradFill flip="none" rotWithShape="1">
            <a:gsLst>
              <a:gs pos="0">
                <a:srgbClr val="4A6C8C">
                  <a:alpha val="30000"/>
                </a:srgbClr>
              </a:gs>
              <a:gs pos="100000">
                <a:srgbClr val="D4A373">
                  <a:alpha val="30000"/>
                </a:srgbClr>
              </a:gs>
            </a:gsLst>
            <a:lin ang="0" scaled="1"/>
          </a:gradFill>
          <a:ln w="12700">
            <a:solidFill>
              <a:srgbClr val="D4A373">
                <a:alpha val="50196"/>
              </a:srgbClr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566738" y="551497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25016" y="130969"/>
                </a:moveTo>
                <a:cubicBezTo>
                  <a:pt x="161181" y="130969"/>
                  <a:pt x="190500" y="101650"/>
                  <a:pt x="190500" y="65484"/>
                </a:cubicBezTo>
                <a:cubicBezTo>
                  <a:pt x="190500" y="29319"/>
                  <a:pt x="161181" y="0"/>
                  <a:pt x="125016" y="0"/>
                </a:cubicBezTo>
                <a:cubicBezTo>
                  <a:pt x="88850" y="0"/>
                  <a:pt x="59531" y="29319"/>
                  <a:pt x="59531" y="65484"/>
                </a:cubicBezTo>
                <a:cubicBezTo>
                  <a:pt x="59531" y="72442"/>
                  <a:pt x="60610" y="79177"/>
                  <a:pt x="62619" y="85465"/>
                </a:cubicBezTo>
                <a:lnTo>
                  <a:pt x="2604" y="145479"/>
                </a:lnTo>
                <a:cubicBezTo>
                  <a:pt x="930" y="147154"/>
                  <a:pt x="0" y="149423"/>
                  <a:pt x="0" y="151805"/>
                </a:cubicBezTo>
                <a:lnTo>
                  <a:pt x="0" y="181570"/>
                </a:lnTo>
                <a:cubicBezTo>
                  <a:pt x="0" y="186519"/>
                  <a:pt x="3981" y="190500"/>
                  <a:pt x="8930" y="190500"/>
                </a:cubicBezTo>
                <a:lnTo>
                  <a:pt x="38695" y="190500"/>
                </a:lnTo>
                <a:cubicBezTo>
                  <a:pt x="43644" y="190500"/>
                  <a:pt x="47625" y="186519"/>
                  <a:pt x="47625" y="181570"/>
                </a:cubicBezTo>
                <a:lnTo>
                  <a:pt x="47625" y="166688"/>
                </a:lnTo>
                <a:lnTo>
                  <a:pt x="62508" y="166688"/>
                </a:lnTo>
                <a:cubicBezTo>
                  <a:pt x="67456" y="166688"/>
                  <a:pt x="71438" y="162706"/>
                  <a:pt x="71438" y="157758"/>
                </a:cubicBezTo>
                <a:lnTo>
                  <a:pt x="71438" y="142875"/>
                </a:lnTo>
                <a:lnTo>
                  <a:pt x="86320" y="142875"/>
                </a:lnTo>
                <a:cubicBezTo>
                  <a:pt x="88702" y="142875"/>
                  <a:pt x="90971" y="141945"/>
                  <a:pt x="92646" y="140271"/>
                </a:cubicBezTo>
                <a:lnTo>
                  <a:pt x="105035" y="127881"/>
                </a:lnTo>
                <a:cubicBezTo>
                  <a:pt x="111323" y="129890"/>
                  <a:pt x="118058" y="130969"/>
                  <a:pt x="125016" y="130969"/>
                </a:cubicBezTo>
                <a:close/>
                <a:moveTo>
                  <a:pt x="139898" y="35719"/>
                </a:moveTo>
                <a:cubicBezTo>
                  <a:pt x="148112" y="35719"/>
                  <a:pt x="154781" y="42388"/>
                  <a:pt x="154781" y="50602"/>
                </a:cubicBezTo>
                <a:cubicBezTo>
                  <a:pt x="154781" y="58816"/>
                  <a:pt x="148112" y="65484"/>
                  <a:pt x="139898" y="65484"/>
                </a:cubicBezTo>
                <a:cubicBezTo>
                  <a:pt x="131684" y="65484"/>
                  <a:pt x="125016" y="58816"/>
                  <a:pt x="125016" y="50602"/>
                </a:cubicBezTo>
                <a:cubicBezTo>
                  <a:pt x="125016" y="42388"/>
                  <a:pt x="131684" y="35719"/>
                  <a:pt x="139898" y="35719"/>
                </a:cubicBezTo>
                <a:close/>
              </a:path>
            </a:pathLst>
          </a:custGeom>
          <a:solidFill>
            <a:srgbClr val="D4A373"/>
          </a:solidFill>
        </p:spPr>
      </p:sp>
      <p:sp>
        <p:nvSpPr>
          <p:cNvPr id="77" name="Text 75"/>
          <p:cNvSpPr/>
          <p:nvPr/>
        </p:nvSpPr>
        <p:spPr>
          <a:xfrm>
            <a:off x="781050" y="5476875"/>
            <a:ext cx="1096327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0F0F0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关键成功因素</a:t>
            </a:r>
            <a:endParaRPr lang="en-US" sz="1600" dirty="0"/>
          </a:p>
        </p:txBody>
      </p:sp>
      <p:sp>
        <p:nvSpPr>
          <p:cNvPr id="78" name="Shape 76"/>
          <p:cNvSpPr/>
          <p:nvPr/>
        </p:nvSpPr>
        <p:spPr>
          <a:xfrm>
            <a:off x="561975" y="5857875"/>
            <a:ext cx="3581400" cy="838200"/>
          </a:xfrm>
          <a:custGeom>
            <a:avLst/>
            <a:gdLst/>
            <a:ahLst/>
            <a:cxnLst/>
            <a:rect l="l" t="t" r="r" b="b"/>
            <a:pathLst>
              <a:path w="3581400" h="838200">
                <a:moveTo>
                  <a:pt x="38100" y="0"/>
                </a:moveTo>
                <a:lnTo>
                  <a:pt x="3505199" y="0"/>
                </a:lnTo>
                <a:cubicBezTo>
                  <a:pt x="3547284" y="0"/>
                  <a:pt x="3581400" y="34116"/>
                  <a:pt x="3581400" y="76201"/>
                </a:cubicBezTo>
                <a:lnTo>
                  <a:pt x="3581400" y="761999"/>
                </a:lnTo>
                <a:cubicBezTo>
                  <a:pt x="3581400" y="804084"/>
                  <a:pt x="3547284" y="838200"/>
                  <a:pt x="3505199" y="838200"/>
                </a:cubicBezTo>
                <a:lnTo>
                  <a:pt x="38100" y="838200"/>
                </a:lnTo>
                <a:cubicBezTo>
                  <a:pt x="17058" y="838200"/>
                  <a:pt x="0" y="821142"/>
                  <a:pt x="0" y="800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</p:spPr>
      </p:sp>
      <p:sp>
        <p:nvSpPr>
          <p:cNvPr id="79" name="Shape 77"/>
          <p:cNvSpPr/>
          <p:nvPr/>
        </p:nvSpPr>
        <p:spPr>
          <a:xfrm>
            <a:off x="561975" y="5857875"/>
            <a:ext cx="38100" cy="838200"/>
          </a:xfrm>
          <a:custGeom>
            <a:avLst/>
            <a:gdLst/>
            <a:ahLst/>
            <a:cxnLst/>
            <a:rect l="l" t="t" r="r" b="b"/>
            <a:pathLst>
              <a:path w="38100" h="838200">
                <a:moveTo>
                  <a:pt x="38100" y="0"/>
                </a:moveTo>
                <a:lnTo>
                  <a:pt x="38100" y="0"/>
                </a:lnTo>
                <a:lnTo>
                  <a:pt x="38100" y="838200"/>
                </a:lnTo>
                <a:lnTo>
                  <a:pt x="38100" y="838200"/>
                </a:lnTo>
                <a:cubicBezTo>
                  <a:pt x="17072" y="838200"/>
                  <a:pt x="0" y="821128"/>
                  <a:pt x="0" y="800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4A373"/>
          </a:solidFill>
        </p:spPr>
      </p:sp>
      <p:sp>
        <p:nvSpPr>
          <p:cNvPr id="80" name="Text 78"/>
          <p:cNvSpPr/>
          <p:nvPr/>
        </p:nvSpPr>
        <p:spPr>
          <a:xfrm>
            <a:off x="623888" y="5972175"/>
            <a:ext cx="3476625" cy="342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D4A373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①</a:t>
            </a:r>
            <a:endParaRPr lang="en-US" sz="1600" dirty="0"/>
          </a:p>
        </p:txBody>
      </p:sp>
      <p:sp>
        <p:nvSpPr>
          <p:cNvPr id="81" name="Text 79"/>
          <p:cNvSpPr/>
          <p:nvPr/>
        </p:nvSpPr>
        <p:spPr>
          <a:xfrm>
            <a:off x="657225" y="6353175"/>
            <a:ext cx="34099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0F0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标杆项目实际IRR达标</a:t>
            </a:r>
            <a:endParaRPr lang="en-US" sz="1600" dirty="0"/>
          </a:p>
        </p:txBody>
      </p:sp>
      <p:sp>
        <p:nvSpPr>
          <p:cNvPr id="82" name="Shape 80"/>
          <p:cNvSpPr/>
          <p:nvPr/>
        </p:nvSpPr>
        <p:spPr>
          <a:xfrm>
            <a:off x="4314825" y="5857875"/>
            <a:ext cx="3581400" cy="838200"/>
          </a:xfrm>
          <a:custGeom>
            <a:avLst/>
            <a:gdLst/>
            <a:ahLst/>
            <a:cxnLst/>
            <a:rect l="l" t="t" r="r" b="b"/>
            <a:pathLst>
              <a:path w="3581400" h="838200">
                <a:moveTo>
                  <a:pt x="38100" y="0"/>
                </a:moveTo>
                <a:lnTo>
                  <a:pt x="3505199" y="0"/>
                </a:lnTo>
                <a:cubicBezTo>
                  <a:pt x="3547284" y="0"/>
                  <a:pt x="3581400" y="34116"/>
                  <a:pt x="3581400" y="76201"/>
                </a:cubicBezTo>
                <a:lnTo>
                  <a:pt x="3581400" y="761999"/>
                </a:lnTo>
                <a:cubicBezTo>
                  <a:pt x="3581400" y="804084"/>
                  <a:pt x="3547284" y="838200"/>
                  <a:pt x="3505199" y="838200"/>
                </a:cubicBezTo>
                <a:lnTo>
                  <a:pt x="38100" y="838200"/>
                </a:lnTo>
                <a:cubicBezTo>
                  <a:pt x="17058" y="838200"/>
                  <a:pt x="0" y="821142"/>
                  <a:pt x="0" y="800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</p:spPr>
      </p:sp>
      <p:sp>
        <p:nvSpPr>
          <p:cNvPr id="83" name="Shape 81"/>
          <p:cNvSpPr/>
          <p:nvPr/>
        </p:nvSpPr>
        <p:spPr>
          <a:xfrm>
            <a:off x="4314825" y="5857875"/>
            <a:ext cx="38100" cy="838200"/>
          </a:xfrm>
          <a:custGeom>
            <a:avLst/>
            <a:gdLst/>
            <a:ahLst/>
            <a:cxnLst/>
            <a:rect l="l" t="t" r="r" b="b"/>
            <a:pathLst>
              <a:path w="38100" h="838200">
                <a:moveTo>
                  <a:pt x="38100" y="0"/>
                </a:moveTo>
                <a:lnTo>
                  <a:pt x="38100" y="0"/>
                </a:lnTo>
                <a:lnTo>
                  <a:pt x="38100" y="838200"/>
                </a:lnTo>
                <a:lnTo>
                  <a:pt x="38100" y="838200"/>
                </a:lnTo>
                <a:cubicBezTo>
                  <a:pt x="17072" y="838200"/>
                  <a:pt x="0" y="821128"/>
                  <a:pt x="0" y="800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6C8C"/>
          </a:solidFill>
        </p:spPr>
      </p:sp>
      <p:sp>
        <p:nvSpPr>
          <p:cNvPr id="84" name="Text 82"/>
          <p:cNvSpPr/>
          <p:nvPr/>
        </p:nvSpPr>
        <p:spPr>
          <a:xfrm>
            <a:off x="4376738" y="5972175"/>
            <a:ext cx="3476625" cy="342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4A6C8C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②</a:t>
            </a:r>
            <a:endParaRPr lang="en-US" sz="1600" dirty="0"/>
          </a:p>
        </p:txBody>
      </p:sp>
      <p:sp>
        <p:nvSpPr>
          <p:cNvPr id="85" name="Text 83"/>
          <p:cNvSpPr/>
          <p:nvPr/>
        </p:nvSpPr>
        <p:spPr>
          <a:xfrm>
            <a:off x="4410075" y="6353175"/>
            <a:ext cx="34099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0F0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LP募资锁定</a:t>
            </a:r>
            <a:endParaRPr lang="en-US" sz="1600" dirty="0"/>
          </a:p>
        </p:txBody>
      </p:sp>
      <p:sp>
        <p:nvSpPr>
          <p:cNvPr id="86" name="Shape 84"/>
          <p:cNvSpPr/>
          <p:nvPr/>
        </p:nvSpPr>
        <p:spPr>
          <a:xfrm>
            <a:off x="8067675" y="5857875"/>
            <a:ext cx="3581400" cy="838200"/>
          </a:xfrm>
          <a:custGeom>
            <a:avLst/>
            <a:gdLst/>
            <a:ahLst/>
            <a:cxnLst/>
            <a:rect l="l" t="t" r="r" b="b"/>
            <a:pathLst>
              <a:path w="3581400" h="838200">
                <a:moveTo>
                  <a:pt x="38100" y="0"/>
                </a:moveTo>
                <a:lnTo>
                  <a:pt x="3505199" y="0"/>
                </a:lnTo>
                <a:cubicBezTo>
                  <a:pt x="3547284" y="0"/>
                  <a:pt x="3581400" y="34116"/>
                  <a:pt x="3581400" y="76201"/>
                </a:cubicBezTo>
                <a:lnTo>
                  <a:pt x="3581400" y="761999"/>
                </a:lnTo>
                <a:cubicBezTo>
                  <a:pt x="3581400" y="804084"/>
                  <a:pt x="3547284" y="838200"/>
                  <a:pt x="3505199" y="838200"/>
                </a:cubicBezTo>
                <a:lnTo>
                  <a:pt x="38100" y="838200"/>
                </a:lnTo>
                <a:cubicBezTo>
                  <a:pt x="17058" y="838200"/>
                  <a:pt x="0" y="821142"/>
                  <a:pt x="0" y="800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</p:spPr>
      </p:sp>
      <p:sp>
        <p:nvSpPr>
          <p:cNvPr id="87" name="Shape 85"/>
          <p:cNvSpPr/>
          <p:nvPr/>
        </p:nvSpPr>
        <p:spPr>
          <a:xfrm>
            <a:off x="8067675" y="5857875"/>
            <a:ext cx="38100" cy="838200"/>
          </a:xfrm>
          <a:custGeom>
            <a:avLst/>
            <a:gdLst/>
            <a:ahLst/>
            <a:cxnLst/>
            <a:rect l="l" t="t" r="r" b="b"/>
            <a:pathLst>
              <a:path w="38100" h="838200">
                <a:moveTo>
                  <a:pt x="38100" y="0"/>
                </a:moveTo>
                <a:lnTo>
                  <a:pt x="38100" y="0"/>
                </a:lnTo>
                <a:lnTo>
                  <a:pt x="38100" y="838200"/>
                </a:lnTo>
                <a:lnTo>
                  <a:pt x="38100" y="838200"/>
                </a:lnTo>
                <a:cubicBezTo>
                  <a:pt x="17072" y="838200"/>
                  <a:pt x="0" y="821128"/>
                  <a:pt x="0" y="800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D99AE"/>
          </a:solidFill>
        </p:spPr>
      </p:sp>
      <p:sp>
        <p:nvSpPr>
          <p:cNvPr id="88" name="Text 86"/>
          <p:cNvSpPr/>
          <p:nvPr/>
        </p:nvSpPr>
        <p:spPr>
          <a:xfrm>
            <a:off x="8129588" y="5972175"/>
            <a:ext cx="3476625" cy="342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8D99AE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③</a:t>
            </a:r>
            <a:endParaRPr lang="en-US" sz="1600" dirty="0"/>
          </a:p>
        </p:txBody>
      </p:sp>
      <p:sp>
        <p:nvSpPr>
          <p:cNvPr id="89" name="Text 87"/>
          <p:cNvSpPr/>
          <p:nvPr/>
        </p:nvSpPr>
        <p:spPr>
          <a:xfrm>
            <a:off x="8162925" y="6353175"/>
            <a:ext cx="34099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0F0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技术验证通过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daidung.com/e5a6792329ee82a9a303168ef39aa117527674c0.jpg"/>
          <p:cNvPicPr>
            <a:picLocks noChangeAspect="1"/>
          </p:cNvPicPr>
          <p:nvPr/>
        </p:nvPicPr>
        <p:blipFill>
          <a:blip r:embed="rId1">
            <a:alphaModFix amt="20000"/>
          </a:blip>
          <a:srcRect t="32" b="32"/>
          <a:stretch>
            <a:fillRect/>
          </a:stretch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A1D21">
                  <a:alpha val="95000"/>
                </a:srgbClr>
              </a:gs>
              <a:gs pos="50000">
                <a:srgbClr val="1A1D21">
                  <a:alpha val="90000"/>
                </a:srgbClr>
              </a:gs>
              <a:gs pos="100000">
                <a:srgbClr val="4A6C8C">
                  <a:alpha val="30000"/>
                </a:srgbClr>
              </a:gs>
            </a:gsLst>
            <a:lin ang="2700000" scaled="1"/>
          </a:gradFill>
        </p:spPr>
      </p:sp>
      <p:sp>
        <p:nvSpPr>
          <p:cNvPr id="4" name="Shape 1"/>
          <p:cNvSpPr/>
          <p:nvPr/>
        </p:nvSpPr>
        <p:spPr>
          <a:xfrm>
            <a:off x="385763" y="504825"/>
            <a:ext cx="1619250" cy="400050"/>
          </a:xfrm>
          <a:custGeom>
            <a:avLst/>
            <a:gdLst/>
            <a:ahLst/>
            <a:cxnLst/>
            <a:rect l="l" t="t" r="r" b="b"/>
            <a:pathLst>
              <a:path w="1619250" h="400050">
                <a:moveTo>
                  <a:pt x="38101" y="0"/>
                </a:moveTo>
                <a:lnTo>
                  <a:pt x="1581149" y="0"/>
                </a:lnTo>
                <a:cubicBezTo>
                  <a:pt x="1602192" y="0"/>
                  <a:pt x="1619250" y="17058"/>
                  <a:pt x="1619250" y="38101"/>
                </a:cubicBezTo>
                <a:lnTo>
                  <a:pt x="1619250" y="361949"/>
                </a:lnTo>
                <a:cubicBezTo>
                  <a:pt x="1619250" y="382992"/>
                  <a:pt x="1602192" y="400050"/>
                  <a:pt x="1581149" y="400050"/>
                </a:cubicBezTo>
                <a:lnTo>
                  <a:pt x="38101" y="400050"/>
                </a:lnTo>
                <a:cubicBezTo>
                  <a:pt x="17058" y="400050"/>
                  <a:pt x="0" y="382992"/>
                  <a:pt x="0" y="36194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D4A373">
              <a:alpha val="20000"/>
            </a:srgbClr>
          </a:solidFill>
          <a:ln w="12700">
            <a:solidFill>
              <a:srgbClr val="D4A373">
                <a:alpha val="4000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42925" y="604838"/>
            <a:ext cx="1384995" cy="2095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60" dirty="0">
                <a:solidFill>
                  <a:srgbClr val="D4A373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CALL TO ACTION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1000" y="1062038"/>
            <a:ext cx="11658600" cy="1143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F0F0F0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136号文终结了光伏的政策套利时代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D4A373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开启了运营的AI变现时代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81000" y="2357438"/>
            <a:ext cx="1219200" cy="38100"/>
          </a:xfrm>
          <a:custGeom>
            <a:avLst/>
            <a:gdLst/>
            <a:ahLst/>
            <a:cxnLst/>
            <a:rect l="l" t="t" r="r" b="b"/>
            <a:pathLst>
              <a:path w="1219200" h="38100">
                <a:moveTo>
                  <a:pt x="0" y="0"/>
                </a:moveTo>
                <a:lnTo>
                  <a:pt x="1219200" y="0"/>
                </a:lnTo>
                <a:lnTo>
                  <a:pt x="12192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D4A373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</p:spPr>
      </p:sp>
      <p:sp>
        <p:nvSpPr>
          <p:cNvPr id="8" name="Shape 5"/>
          <p:cNvSpPr/>
          <p:nvPr/>
        </p:nvSpPr>
        <p:spPr>
          <a:xfrm>
            <a:off x="385763" y="2628900"/>
            <a:ext cx="11420475" cy="3190875"/>
          </a:xfrm>
          <a:custGeom>
            <a:avLst/>
            <a:gdLst/>
            <a:ahLst/>
            <a:cxnLst/>
            <a:rect l="l" t="t" r="r" b="b"/>
            <a:pathLst>
              <a:path w="11420475" h="3190875">
                <a:moveTo>
                  <a:pt x="76198" y="0"/>
                </a:moveTo>
                <a:lnTo>
                  <a:pt x="11344277" y="0"/>
                </a:lnTo>
                <a:cubicBezTo>
                  <a:pt x="11386360" y="0"/>
                  <a:pt x="11420475" y="34115"/>
                  <a:pt x="11420475" y="76198"/>
                </a:cubicBezTo>
                <a:lnTo>
                  <a:pt x="11420475" y="3114677"/>
                </a:lnTo>
                <a:cubicBezTo>
                  <a:pt x="11420475" y="3156760"/>
                  <a:pt x="11386360" y="3190875"/>
                  <a:pt x="11344277" y="3190875"/>
                </a:cubicBezTo>
                <a:lnTo>
                  <a:pt x="76198" y="3190875"/>
                </a:lnTo>
                <a:cubicBezTo>
                  <a:pt x="34115" y="3190875"/>
                  <a:pt x="0" y="3156760"/>
                  <a:pt x="0" y="3114677"/>
                </a:cubicBezTo>
                <a:lnTo>
                  <a:pt x="0" y="76198"/>
                </a:lnTo>
                <a:cubicBezTo>
                  <a:pt x="0" y="34115"/>
                  <a:pt x="34115" y="0"/>
                  <a:pt x="76198" y="0"/>
                </a:cubicBezTo>
                <a:close/>
              </a:path>
            </a:pathLst>
          </a:custGeom>
          <a:gradFill flip="none" rotWithShape="1">
            <a:gsLst>
              <a:gs pos="0">
                <a:srgbClr val="4A6C8C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12700">
            <a:solidFill>
              <a:srgbClr val="4A6C8C">
                <a:alpha val="4000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09600" y="2862263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57150" y="142875"/>
                </a:moveTo>
                <a:lnTo>
                  <a:pt x="10939" y="142875"/>
                </a:lnTo>
                <a:cubicBezTo>
                  <a:pt x="-179" y="142875"/>
                  <a:pt x="-7010" y="130775"/>
                  <a:pt x="-1295" y="121221"/>
                </a:cubicBezTo>
                <a:lnTo>
                  <a:pt x="22324" y="81841"/>
                </a:lnTo>
                <a:cubicBezTo>
                  <a:pt x="26209" y="75367"/>
                  <a:pt x="33174" y="71438"/>
                  <a:pt x="40719" y="71438"/>
                </a:cubicBezTo>
                <a:lnTo>
                  <a:pt x="83135" y="71438"/>
                </a:lnTo>
                <a:cubicBezTo>
                  <a:pt x="117113" y="13886"/>
                  <a:pt x="167789" y="10984"/>
                  <a:pt x="201677" y="15939"/>
                </a:cubicBezTo>
                <a:cubicBezTo>
                  <a:pt x="207392" y="16788"/>
                  <a:pt x="211857" y="21253"/>
                  <a:pt x="212661" y="26923"/>
                </a:cubicBezTo>
                <a:cubicBezTo>
                  <a:pt x="217616" y="60811"/>
                  <a:pt x="214714" y="111487"/>
                  <a:pt x="157163" y="145465"/>
                </a:cubicBezTo>
                <a:lnTo>
                  <a:pt x="157163" y="187881"/>
                </a:lnTo>
                <a:cubicBezTo>
                  <a:pt x="157163" y="195426"/>
                  <a:pt x="153233" y="202391"/>
                  <a:pt x="146759" y="206276"/>
                </a:cubicBezTo>
                <a:lnTo>
                  <a:pt x="107379" y="229895"/>
                </a:lnTo>
                <a:cubicBezTo>
                  <a:pt x="97869" y="235610"/>
                  <a:pt x="85725" y="228734"/>
                  <a:pt x="85725" y="217661"/>
                </a:cubicBezTo>
                <a:lnTo>
                  <a:pt x="85725" y="171450"/>
                </a:lnTo>
                <a:cubicBezTo>
                  <a:pt x="85725" y="155689"/>
                  <a:pt x="72911" y="142875"/>
                  <a:pt x="57150" y="142875"/>
                </a:cubicBezTo>
                <a:lnTo>
                  <a:pt x="57105" y="142875"/>
                </a:lnTo>
                <a:close/>
                <a:moveTo>
                  <a:pt x="178594" y="71438"/>
                </a:moveTo>
                <a:cubicBezTo>
                  <a:pt x="178594" y="59609"/>
                  <a:pt x="168991" y="50006"/>
                  <a:pt x="157163" y="50006"/>
                </a:cubicBezTo>
                <a:cubicBezTo>
                  <a:pt x="145334" y="50006"/>
                  <a:pt x="135731" y="59609"/>
                  <a:pt x="135731" y="71438"/>
                </a:cubicBezTo>
                <a:cubicBezTo>
                  <a:pt x="135731" y="83266"/>
                  <a:pt x="145334" y="92869"/>
                  <a:pt x="157163" y="92869"/>
                </a:cubicBezTo>
                <a:cubicBezTo>
                  <a:pt x="168991" y="92869"/>
                  <a:pt x="178594" y="83266"/>
                  <a:pt x="178594" y="71438"/>
                </a:cubicBezTo>
                <a:close/>
              </a:path>
            </a:pathLst>
          </a:custGeom>
          <a:solidFill>
            <a:srgbClr val="D4A373"/>
          </a:solidFill>
        </p:spPr>
      </p:sp>
      <p:sp>
        <p:nvSpPr>
          <p:cNvPr id="10" name="Text 7"/>
          <p:cNvSpPr/>
          <p:nvPr/>
        </p:nvSpPr>
        <p:spPr>
          <a:xfrm>
            <a:off x="866775" y="2824163"/>
            <a:ext cx="108585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0F0F0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立即行动清单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600075" y="3281363"/>
            <a:ext cx="5419725" cy="704850"/>
          </a:xfrm>
          <a:custGeom>
            <a:avLst/>
            <a:gdLst/>
            <a:ahLst/>
            <a:cxnLst/>
            <a:rect l="l" t="t" r="r" b="b"/>
            <a:pathLst>
              <a:path w="5419725" h="704850">
                <a:moveTo>
                  <a:pt x="38100" y="0"/>
                </a:moveTo>
                <a:lnTo>
                  <a:pt x="5343524" y="0"/>
                </a:lnTo>
                <a:cubicBezTo>
                  <a:pt x="5385609" y="0"/>
                  <a:pt x="5419725" y="34116"/>
                  <a:pt x="5419725" y="76201"/>
                </a:cubicBezTo>
                <a:lnTo>
                  <a:pt x="5419725" y="628649"/>
                </a:lnTo>
                <a:cubicBezTo>
                  <a:pt x="5419725" y="670734"/>
                  <a:pt x="5385609" y="704850"/>
                  <a:pt x="5343524" y="704850"/>
                </a:cubicBezTo>
                <a:lnTo>
                  <a:pt x="38100" y="704850"/>
                </a:lnTo>
                <a:cubicBezTo>
                  <a:pt x="17072" y="704850"/>
                  <a:pt x="0" y="687778"/>
                  <a:pt x="0" y="6667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</p:spPr>
      </p:sp>
      <p:sp>
        <p:nvSpPr>
          <p:cNvPr id="12" name="Shape 9"/>
          <p:cNvSpPr/>
          <p:nvPr/>
        </p:nvSpPr>
        <p:spPr>
          <a:xfrm>
            <a:off x="600075" y="3281363"/>
            <a:ext cx="38100" cy="704850"/>
          </a:xfrm>
          <a:custGeom>
            <a:avLst/>
            <a:gdLst/>
            <a:ahLst/>
            <a:cxnLst/>
            <a:rect l="l" t="t" r="r" b="b"/>
            <a:pathLst>
              <a:path w="38100" h="704850">
                <a:moveTo>
                  <a:pt x="38100" y="0"/>
                </a:moveTo>
                <a:lnTo>
                  <a:pt x="38100" y="0"/>
                </a:lnTo>
                <a:lnTo>
                  <a:pt x="38100" y="704850"/>
                </a:lnTo>
                <a:lnTo>
                  <a:pt x="38100" y="704850"/>
                </a:lnTo>
                <a:cubicBezTo>
                  <a:pt x="17072" y="704850"/>
                  <a:pt x="0" y="687778"/>
                  <a:pt x="0" y="6667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4A373"/>
          </a:solidFill>
        </p:spPr>
      </p:sp>
      <p:sp>
        <p:nvSpPr>
          <p:cNvPr id="13" name="Shape 10"/>
          <p:cNvSpPr/>
          <p:nvPr/>
        </p:nvSpPr>
        <p:spPr>
          <a:xfrm>
            <a:off x="733425" y="3395663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D4A373"/>
          </a:solidFill>
        </p:spPr>
      </p:sp>
      <p:sp>
        <p:nvSpPr>
          <p:cNvPr id="14" name="Text 11"/>
          <p:cNvSpPr/>
          <p:nvPr/>
        </p:nvSpPr>
        <p:spPr>
          <a:xfrm>
            <a:off x="695325" y="3395663"/>
            <a:ext cx="3810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1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1152525" y="3395663"/>
            <a:ext cx="28670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0F0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标杆项目验证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1152525" y="3662362"/>
            <a:ext cx="2867025" cy="2095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上海浦东项目Q2投运，获取真实运营数据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600075" y="4100513"/>
            <a:ext cx="5419725" cy="704850"/>
          </a:xfrm>
          <a:custGeom>
            <a:avLst/>
            <a:gdLst/>
            <a:ahLst/>
            <a:cxnLst/>
            <a:rect l="l" t="t" r="r" b="b"/>
            <a:pathLst>
              <a:path w="5419725" h="704850">
                <a:moveTo>
                  <a:pt x="38100" y="0"/>
                </a:moveTo>
                <a:lnTo>
                  <a:pt x="5343524" y="0"/>
                </a:lnTo>
                <a:cubicBezTo>
                  <a:pt x="5385609" y="0"/>
                  <a:pt x="5419725" y="34116"/>
                  <a:pt x="5419725" y="76201"/>
                </a:cubicBezTo>
                <a:lnTo>
                  <a:pt x="5419725" y="628649"/>
                </a:lnTo>
                <a:cubicBezTo>
                  <a:pt x="5419725" y="670734"/>
                  <a:pt x="5385609" y="704850"/>
                  <a:pt x="5343524" y="704850"/>
                </a:cubicBezTo>
                <a:lnTo>
                  <a:pt x="38100" y="704850"/>
                </a:lnTo>
                <a:cubicBezTo>
                  <a:pt x="17072" y="704850"/>
                  <a:pt x="0" y="687778"/>
                  <a:pt x="0" y="6667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</p:spPr>
      </p:sp>
      <p:sp>
        <p:nvSpPr>
          <p:cNvPr id="18" name="Shape 15"/>
          <p:cNvSpPr/>
          <p:nvPr/>
        </p:nvSpPr>
        <p:spPr>
          <a:xfrm>
            <a:off x="600075" y="4100513"/>
            <a:ext cx="38100" cy="704850"/>
          </a:xfrm>
          <a:custGeom>
            <a:avLst/>
            <a:gdLst/>
            <a:ahLst/>
            <a:cxnLst/>
            <a:rect l="l" t="t" r="r" b="b"/>
            <a:pathLst>
              <a:path w="38100" h="704850">
                <a:moveTo>
                  <a:pt x="38100" y="0"/>
                </a:moveTo>
                <a:lnTo>
                  <a:pt x="38100" y="0"/>
                </a:lnTo>
                <a:lnTo>
                  <a:pt x="38100" y="704850"/>
                </a:lnTo>
                <a:lnTo>
                  <a:pt x="38100" y="704850"/>
                </a:lnTo>
                <a:cubicBezTo>
                  <a:pt x="17072" y="704850"/>
                  <a:pt x="0" y="687778"/>
                  <a:pt x="0" y="6667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6C8C"/>
          </a:solidFill>
        </p:spPr>
      </p:sp>
      <p:sp>
        <p:nvSpPr>
          <p:cNvPr id="19" name="Shape 16"/>
          <p:cNvSpPr/>
          <p:nvPr/>
        </p:nvSpPr>
        <p:spPr>
          <a:xfrm>
            <a:off x="733425" y="4214813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4A6C8C"/>
          </a:solidFill>
        </p:spPr>
      </p:sp>
      <p:sp>
        <p:nvSpPr>
          <p:cNvPr id="20" name="Text 17"/>
          <p:cNvSpPr/>
          <p:nvPr/>
        </p:nvSpPr>
        <p:spPr>
          <a:xfrm>
            <a:off x="695325" y="4214813"/>
            <a:ext cx="3810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2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1152525" y="4214813"/>
            <a:ext cx="29337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0F0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险资LP对接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1152525" y="4481513"/>
            <a:ext cx="2933700" cy="2095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签署2亿元TS（意向书），锁定优先级募资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600075" y="4919663"/>
            <a:ext cx="5419725" cy="704850"/>
          </a:xfrm>
          <a:custGeom>
            <a:avLst/>
            <a:gdLst/>
            <a:ahLst/>
            <a:cxnLst/>
            <a:rect l="l" t="t" r="r" b="b"/>
            <a:pathLst>
              <a:path w="5419725" h="704850">
                <a:moveTo>
                  <a:pt x="38100" y="0"/>
                </a:moveTo>
                <a:lnTo>
                  <a:pt x="5343524" y="0"/>
                </a:lnTo>
                <a:cubicBezTo>
                  <a:pt x="5385609" y="0"/>
                  <a:pt x="5419725" y="34116"/>
                  <a:pt x="5419725" y="76201"/>
                </a:cubicBezTo>
                <a:lnTo>
                  <a:pt x="5419725" y="628649"/>
                </a:lnTo>
                <a:cubicBezTo>
                  <a:pt x="5419725" y="670734"/>
                  <a:pt x="5385609" y="704850"/>
                  <a:pt x="5343524" y="704850"/>
                </a:cubicBezTo>
                <a:lnTo>
                  <a:pt x="38100" y="704850"/>
                </a:lnTo>
                <a:cubicBezTo>
                  <a:pt x="17072" y="704850"/>
                  <a:pt x="0" y="687778"/>
                  <a:pt x="0" y="6667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</p:spPr>
      </p:sp>
      <p:sp>
        <p:nvSpPr>
          <p:cNvPr id="24" name="Shape 21"/>
          <p:cNvSpPr/>
          <p:nvPr/>
        </p:nvSpPr>
        <p:spPr>
          <a:xfrm>
            <a:off x="600075" y="4919663"/>
            <a:ext cx="38100" cy="704850"/>
          </a:xfrm>
          <a:custGeom>
            <a:avLst/>
            <a:gdLst/>
            <a:ahLst/>
            <a:cxnLst/>
            <a:rect l="l" t="t" r="r" b="b"/>
            <a:pathLst>
              <a:path w="38100" h="704850">
                <a:moveTo>
                  <a:pt x="38100" y="0"/>
                </a:moveTo>
                <a:lnTo>
                  <a:pt x="38100" y="0"/>
                </a:lnTo>
                <a:lnTo>
                  <a:pt x="38100" y="704850"/>
                </a:lnTo>
                <a:lnTo>
                  <a:pt x="38100" y="704850"/>
                </a:lnTo>
                <a:cubicBezTo>
                  <a:pt x="17072" y="704850"/>
                  <a:pt x="0" y="687778"/>
                  <a:pt x="0" y="6667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D99AE"/>
          </a:solidFill>
        </p:spPr>
      </p:sp>
      <p:sp>
        <p:nvSpPr>
          <p:cNvPr id="25" name="Shape 22"/>
          <p:cNvSpPr/>
          <p:nvPr/>
        </p:nvSpPr>
        <p:spPr>
          <a:xfrm>
            <a:off x="733425" y="5033963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8D99AE"/>
          </a:solidFill>
        </p:spPr>
      </p:sp>
      <p:sp>
        <p:nvSpPr>
          <p:cNvPr id="26" name="Text 23"/>
          <p:cNvSpPr/>
          <p:nvPr/>
        </p:nvSpPr>
        <p:spPr>
          <a:xfrm>
            <a:off x="695325" y="5033963"/>
            <a:ext cx="3810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3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1152525" y="5033963"/>
            <a:ext cx="28670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0F0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技术供应商确认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1152525" y="5300663"/>
            <a:ext cx="2867025" cy="2095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SiC高压级联设备选型（四方/金盘/西电）</a:t>
            </a:r>
            <a:endParaRPr lang="en-US" sz="1600" dirty="0"/>
          </a:p>
        </p:txBody>
      </p:sp>
      <p:sp>
        <p:nvSpPr>
          <p:cNvPr id="29" name="Shape 26"/>
          <p:cNvSpPr/>
          <p:nvPr/>
        </p:nvSpPr>
        <p:spPr>
          <a:xfrm>
            <a:off x="6191250" y="3281363"/>
            <a:ext cx="5419725" cy="1333500"/>
          </a:xfrm>
          <a:custGeom>
            <a:avLst/>
            <a:gdLst/>
            <a:ahLst/>
            <a:cxnLst/>
            <a:rect l="l" t="t" r="r" b="b"/>
            <a:pathLst>
              <a:path w="5419725" h="1333500">
                <a:moveTo>
                  <a:pt x="38100" y="0"/>
                </a:moveTo>
                <a:lnTo>
                  <a:pt x="5343529" y="0"/>
                </a:lnTo>
                <a:cubicBezTo>
                  <a:pt x="5385611" y="0"/>
                  <a:pt x="5419725" y="34114"/>
                  <a:pt x="5419725" y="76196"/>
                </a:cubicBezTo>
                <a:lnTo>
                  <a:pt x="5419725" y="1257304"/>
                </a:lnTo>
                <a:cubicBezTo>
                  <a:pt x="5419725" y="1299386"/>
                  <a:pt x="5385611" y="1333500"/>
                  <a:pt x="5343529" y="1333500"/>
                </a:cubicBezTo>
                <a:lnTo>
                  <a:pt x="38100" y="1333500"/>
                </a:lnTo>
                <a:cubicBezTo>
                  <a:pt x="17072" y="1333500"/>
                  <a:pt x="0" y="1316428"/>
                  <a:pt x="0" y="1295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</p:spPr>
      </p:sp>
      <p:sp>
        <p:nvSpPr>
          <p:cNvPr id="30" name="Shape 27"/>
          <p:cNvSpPr/>
          <p:nvPr/>
        </p:nvSpPr>
        <p:spPr>
          <a:xfrm>
            <a:off x="6191250" y="3281363"/>
            <a:ext cx="38100" cy="1333500"/>
          </a:xfrm>
          <a:custGeom>
            <a:avLst/>
            <a:gdLst/>
            <a:ahLst/>
            <a:cxnLst/>
            <a:rect l="l" t="t" r="r" b="b"/>
            <a:pathLst>
              <a:path w="38100" h="1333500">
                <a:moveTo>
                  <a:pt x="38100" y="0"/>
                </a:moveTo>
                <a:lnTo>
                  <a:pt x="38100" y="0"/>
                </a:lnTo>
                <a:lnTo>
                  <a:pt x="38100" y="1333500"/>
                </a:lnTo>
                <a:lnTo>
                  <a:pt x="38100" y="1333500"/>
                </a:lnTo>
                <a:cubicBezTo>
                  <a:pt x="17072" y="1333500"/>
                  <a:pt x="0" y="1316428"/>
                  <a:pt x="0" y="1295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4A373"/>
          </a:solidFill>
        </p:spPr>
      </p:sp>
      <p:sp>
        <p:nvSpPr>
          <p:cNvPr id="31" name="Shape 28"/>
          <p:cNvSpPr/>
          <p:nvPr/>
        </p:nvSpPr>
        <p:spPr>
          <a:xfrm>
            <a:off x="6324600" y="3395663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D4A373"/>
          </a:solidFill>
        </p:spPr>
      </p:sp>
      <p:sp>
        <p:nvSpPr>
          <p:cNvPr id="32" name="Text 29"/>
          <p:cNvSpPr/>
          <p:nvPr/>
        </p:nvSpPr>
        <p:spPr>
          <a:xfrm>
            <a:off x="6286500" y="3395663"/>
            <a:ext cx="3810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4</a:t>
            </a:r>
            <a:endParaRPr lang="en-US" sz="1600" dirty="0"/>
          </a:p>
        </p:txBody>
      </p:sp>
      <p:sp>
        <p:nvSpPr>
          <p:cNvPr id="33" name="Text 30"/>
          <p:cNvSpPr/>
          <p:nvPr/>
        </p:nvSpPr>
        <p:spPr>
          <a:xfrm>
            <a:off x="6743700" y="3395663"/>
            <a:ext cx="24955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0F0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政策跟进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6743700" y="3662362"/>
            <a:ext cx="2495550" cy="2095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对接广东电力交易中心申请VPP准入</a:t>
            </a:r>
            <a:endParaRPr lang="en-US" sz="1600" dirty="0"/>
          </a:p>
        </p:txBody>
      </p:sp>
      <p:sp>
        <p:nvSpPr>
          <p:cNvPr id="35" name="Text 32"/>
          <p:cNvSpPr/>
          <p:nvPr/>
        </p:nvSpPr>
        <p:spPr>
          <a:xfrm>
            <a:off x="6743700" y="3871913"/>
            <a:ext cx="2495550" cy="2095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跟踪上海/浙江机制电价竞价规则</a:t>
            </a:r>
            <a:endParaRPr lang="en-US" sz="1600" dirty="0"/>
          </a:p>
        </p:txBody>
      </p:sp>
      <p:sp>
        <p:nvSpPr>
          <p:cNvPr id="36" name="Text 33"/>
          <p:cNvSpPr/>
          <p:nvPr/>
        </p:nvSpPr>
        <p:spPr>
          <a:xfrm>
            <a:off x="6743700" y="4081463"/>
            <a:ext cx="2495550" cy="2095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关注日本LTDA拍卖时间表</a:t>
            </a:r>
            <a:endParaRPr lang="en-US" sz="1600" dirty="0"/>
          </a:p>
        </p:txBody>
      </p:sp>
      <p:sp>
        <p:nvSpPr>
          <p:cNvPr id="37" name="Text 34"/>
          <p:cNvSpPr/>
          <p:nvPr/>
        </p:nvSpPr>
        <p:spPr>
          <a:xfrm>
            <a:off x="6743700" y="4291013"/>
            <a:ext cx="2495550" cy="2095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参与马来西亚MyBeST招标</a:t>
            </a:r>
            <a:endParaRPr lang="en-US" sz="1600" dirty="0"/>
          </a:p>
        </p:txBody>
      </p:sp>
      <p:sp>
        <p:nvSpPr>
          <p:cNvPr id="38" name="Shape 35"/>
          <p:cNvSpPr/>
          <p:nvPr/>
        </p:nvSpPr>
        <p:spPr>
          <a:xfrm>
            <a:off x="6191250" y="4729163"/>
            <a:ext cx="5419725" cy="704850"/>
          </a:xfrm>
          <a:custGeom>
            <a:avLst/>
            <a:gdLst/>
            <a:ahLst/>
            <a:cxnLst/>
            <a:rect l="l" t="t" r="r" b="b"/>
            <a:pathLst>
              <a:path w="5419725" h="704850">
                <a:moveTo>
                  <a:pt x="38100" y="0"/>
                </a:moveTo>
                <a:lnTo>
                  <a:pt x="5343524" y="0"/>
                </a:lnTo>
                <a:cubicBezTo>
                  <a:pt x="5385609" y="0"/>
                  <a:pt x="5419725" y="34116"/>
                  <a:pt x="5419725" y="76201"/>
                </a:cubicBezTo>
                <a:lnTo>
                  <a:pt x="5419725" y="628649"/>
                </a:lnTo>
                <a:cubicBezTo>
                  <a:pt x="5419725" y="670734"/>
                  <a:pt x="5385609" y="704850"/>
                  <a:pt x="5343524" y="704850"/>
                </a:cubicBezTo>
                <a:lnTo>
                  <a:pt x="38100" y="704850"/>
                </a:lnTo>
                <a:cubicBezTo>
                  <a:pt x="17072" y="704850"/>
                  <a:pt x="0" y="687778"/>
                  <a:pt x="0" y="6667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</p:spPr>
      </p:sp>
      <p:sp>
        <p:nvSpPr>
          <p:cNvPr id="39" name="Shape 36"/>
          <p:cNvSpPr/>
          <p:nvPr/>
        </p:nvSpPr>
        <p:spPr>
          <a:xfrm>
            <a:off x="6191250" y="4729163"/>
            <a:ext cx="38100" cy="704850"/>
          </a:xfrm>
          <a:custGeom>
            <a:avLst/>
            <a:gdLst/>
            <a:ahLst/>
            <a:cxnLst/>
            <a:rect l="l" t="t" r="r" b="b"/>
            <a:pathLst>
              <a:path w="38100" h="704850">
                <a:moveTo>
                  <a:pt x="38100" y="0"/>
                </a:moveTo>
                <a:lnTo>
                  <a:pt x="38100" y="0"/>
                </a:lnTo>
                <a:lnTo>
                  <a:pt x="38100" y="704850"/>
                </a:lnTo>
                <a:lnTo>
                  <a:pt x="38100" y="704850"/>
                </a:lnTo>
                <a:cubicBezTo>
                  <a:pt x="17072" y="704850"/>
                  <a:pt x="0" y="687778"/>
                  <a:pt x="0" y="6667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6C8C"/>
          </a:solidFill>
        </p:spPr>
      </p:sp>
      <p:sp>
        <p:nvSpPr>
          <p:cNvPr id="40" name="Shape 37"/>
          <p:cNvSpPr/>
          <p:nvPr/>
        </p:nvSpPr>
        <p:spPr>
          <a:xfrm>
            <a:off x="6324600" y="4843463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4A6C8C"/>
          </a:solidFill>
        </p:spPr>
      </p:sp>
      <p:sp>
        <p:nvSpPr>
          <p:cNvPr id="41" name="Text 38"/>
          <p:cNvSpPr/>
          <p:nvPr/>
        </p:nvSpPr>
        <p:spPr>
          <a:xfrm>
            <a:off x="6286500" y="4843463"/>
            <a:ext cx="3810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5</a:t>
            </a:r>
            <a:endParaRPr lang="en-US" sz="1600" dirty="0"/>
          </a:p>
        </p:txBody>
      </p:sp>
      <p:sp>
        <p:nvSpPr>
          <p:cNvPr id="42" name="Text 39"/>
          <p:cNvSpPr/>
          <p:nvPr/>
        </p:nvSpPr>
        <p:spPr>
          <a:xfrm>
            <a:off x="6743700" y="4843463"/>
            <a:ext cx="26670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0F0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风险预案</a:t>
            </a:r>
            <a:endParaRPr lang="en-US" sz="1600" dirty="0"/>
          </a:p>
        </p:txBody>
      </p:sp>
      <p:sp>
        <p:nvSpPr>
          <p:cNvPr id="43" name="Text 40"/>
          <p:cNvSpPr/>
          <p:nvPr/>
        </p:nvSpPr>
        <p:spPr>
          <a:xfrm>
            <a:off x="6743700" y="5110163"/>
            <a:ext cx="2667000" cy="2095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制定悲观情景下的止损机制和退出策略</a:t>
            </a:r>
            <a:endParaRPr lang="en-US" sz="1600" dirty="0"/>
          </a:p>
        </p:txBody>
      </p:sp>
      <p:sp>
        <p:nvSpPr>
          <p:cNvPr id="44" name="Shape 41"/>
          <p:cNvSpPr/>
          <p:nvPr/>
        </p:nvSpPr>
        <p:spPr>
          <a:xfrm>
            <a:off x="3280767" y="6191250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0" y="96441"/>
                </a:moveTo>
                <a:cubicBezTo>
                  <a:pt x="0" y="66839"/>
                  <a:pt x="23976" y="42863"/>
                  <a:pt x="53578" y="42863"/>
                </a:cubicBezTo>
                <a:lnTo>
                  <a:pt x="57150" y="42863"/>
                </a:lnTo>
                <a:cubicBezTo>
                  <a:pt x="65053" y="42863"/>
                  <a:pt x="71438" y="49247"/>
                  <a:pt x="71438" y="57150"/>
                </a:cubicBezTo>
                <a:cubicBezTo>
                  <a:pt x="71438" y="65053"/>
                  <a:pt x="65053" y="71438"/>
                  <a:pt x="57150" y="71438"/>
                </a:cubicBezTo>
                <a:lnTo>
                  <a:pt x="53578" y="71438"/>
                </a:lnTo>
                <a:cubicBezTo>
                  <a:pt x="39782" y="71438"/>
                  <a:pt x="28575" y="82644"/>
                  <a:pt x="28575" y="96441"/>
                </a:cubicBezTo>
                <a:lnTo>
                  <a:pt x="28575" y="100013"/>
                </a:lnTo>
                <a:lnTo>
                  <a:pt x="57150" y="100013"/>
                </a:lnTo>
                <a:cubicBezTo>
                  <a:pt x="72911" y="100013"/>
                  <a:pt x="85725" y="112827"/>
                  <a:pt x="85725" y="128588"/>
                </a:cubicBezTo>
                <a:lnTo>
                  <a:pt x="85725" y="157163"/>
                </a:lnTo>
                <a:cubicBezTo>
                  <a:pt x="85725" y="172923"/>
                  <a:pt x="72911" y="185738"/>
                  <a:pt x="57150" y="185738"/>
                </a:cubicBezTo>
                <a:lnTo>
                  <a:pt x="28575" y="185738"/>
                </a:lnTo>
                <a:cubicBezTo>
                  <a:pt x="12814" y="185738"/>
                  <a:pt x="0" y="172923"/>
                  <a:pt x="0" y="157163"/>
                </a:cubicBezTo>
                <a:lnTo>
                  <a:pt x="0" y="96441"/>
                </a:lnTo>
                <a:close/>
                <a:moveTo>
                  <a:pt x="114300" y="96441"/>
                </a:moveTo>
                <a:cubicBezTo>
                  <a:pt x="114300" y="66839"/>
                  <a:pt x="138276" y="42863"/>
                  <a:pt x="167878" y="42863"/>
                </a:cubicBezTo>
                <a:lnTo>
                  <a:pt x="171450" y="42863"/>
                </a:lnTo>
                <a:cubicBezTo>
                  <a:pt x="179353" y="42863"/>
                  <a:pt x="185738" y="49247"/>
                  <a:pt x="185738" y="57150"/>
                </a:cubicBezTo>
                <a:cubicBezTo>
                  <a:pt x="185738" y="65053"/>
                  <a:pt x="179353" y="71438"/>
                  <a:pt x="171450" y="71438"/>
                </a:cubicBezTo>
                <a:lnTo>
                  <a:pt x="167878" y="71438"/>
                </a:lnTo>
                <a:cubicBezTo>
                  <a:pt x="154082" y="71438"/>
                  <a:pt x="142875" y="82644"/>
                  <a:pt x="142875" y="96441"/>
                </a:cubicBezTo>
                <a:lnTo>
                  <a:pt x="142875" y="100013"/>
                </a:lnTo>
                <a:lnTo>
                  <a:pt x="171450" y="100013"/>
                </a:lnTo>
                <a:cubicBezTo>
                  <a:pt x="187211" y="100013"/>
                  <a:pt x="200025" y="112827"/>
                  <a:pt x="200025" y="128588"/>
                </a:cubicBezTo>
                <a:lnTo>
                  <a:pt x="200025" y="157163"/>
                </a:lnTo>
                <a:cubicBezTo>
                  <a:pt x="200025" y="172923"/>
                  <a:pt x="187211" y="185738"/>
                  <a:pt x="171450" y="185738"/>
                </a:cubicBezTo>
                <a:lnTo>
                  <a:pt x="142875" y="185738"/>
                </a:lnTo>
                <a:cubicBezTo>
                  <a:pt x="127114" y="185738"/>
                  <a:pt x="114300" y="172923"/>
                  <a:pt x="114300" y="157163"/>
                </a:cubicBezTo>
                <a:lnTo>
                  <a:pt x="114300" y="96441"/>
                </a:lnTo>
                <a:close/>
              </a:path>
            </a:pathLst>
          </a:custGeom>
          <a:solidFill>
            <a:srgbClr val="4A6C8C"/>
          </a:solidFill>
        </p:spPr>
      </p:sp>
      <p:sp>
        <p:nvSpPr>
          <p:cNvPr id="45" name="Text 42"/>
          <p:cNvSpPr/>
          <p:nvPr/>
        </p:nvSpPr>
        <p:spPr>
          <a:xfrm>
            <a:off x="695325" y="6172200"/>
            <a:ext cx="11172825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D4A373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在不确定性中寻找确定性，用技术壁垒穿越周期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3900</Words>
  <Application>WPS 演示</Application>
  <PresentationFormat>On-screen Show (16:9)</PresentationFormat>
  <Paragraphs>854</Paragraphs>
  <Slides>12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8" baseType="lpstr">
      <vt:lpstr>Arial</vt:lpstr>
      <vt:lpstr>宋体</vt:lpstr>
      <vt:lpstr>Wingdings</vt:lpstr>
      <vt:lpstr>Liter</vt:lpstr>
      <vt:lpstr>Liter</vt:lpstr>
      <vt:lpstr>Liter</vt:lpstr>
      <vt:lpstr>Alimama ShuHeiTi</vt:lpstr>
      <vt:lpstr>Alimama ShuHeiTi</vt:lpstr>
      <vt:lpstr>MiSans</vt:lpstr>
      <vt:lpstr>MiSans</vt:lpstr>
      <vt:lpstr>微软雅黑</vt:lpstr>
      <vt:lpstr>微软雅黑</vt:lpstr>
      <vt:lpstr>Calibri</vt:lpstr>
      <vt:lpstr>Arial Unicode MS</vt:lpstr>
      <vt:lpstr>等线</vt:lpstr>
      <vt:lpstr>Custom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Moonshot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工商业光储一体化投资开发方案</dc:title>
  <dc:creator>Kimi</dc:creator>
  <dc:subject>工商业光储一体化投资开发方案</dc:subject>
  <cp:lastModifiedBy>wuxuegang</cp:lastModifiedBy>
  <cp:revision>4</cp:revision>
  <dcterms:created xsi:type="dcterms:W3CDTF">2026-03-26T06:25:00Z</dcterms:created>
  <dcterms:modified xsi:type="dcterms:W3CDTF">2026-03-30T02:47:49Z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工商业光储一体化投资开发方案","ContentProducer":"001191110108MACG2KBH8F10000","ProduceID":"19d28c11-f6b2-8064-8000-0000fbcd9753","ReservedCode1":"","ContentPropagator":"001191110108MACG2KBH8F20000","PropagateID":"19d28c11-f6b2-8064-8000-0000fbcd9753","ReservedCode2":""}</vt:lpwstr>
  </property>
  <property fmtid="{D5CDD505-2E9C-101B-9397-08002B2CF9AE}" pid="3" name="ICV">
    <vt:lpwstr>59D7EE7909D746AE91F65D6BF134FCEB_13</vt:lpwstr>
  </property>
  <property fmtid="{D5CDD505-2E9C-101B-9397-08002B2CF9AE}" pid="4" name="KSOProductBuildVer">
    <vt:lpwstr>2052-12.1.0.25225</vt:lpwstr>
  </property>
</Properties>
</file>